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94"/>
  </p:notesMasterIdLst>
  <p:sldIdLst>
    <p:sldId id="256" r:id="rId3"/>
    <p:sldId id="257" r:id="rId4"/>
    <p:sldId id="513" r:id="rId5"/>
    <p:sldId id="466" r:id="rId6"/>
    <p:sldId id="467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76" r:id="rId16"/>
    <p:sldId id="477" r:id="rId17"/>
    <p:sldId id="478" r:id="rId18"/>
    <p:sldId id="479" r:id="rId19"/>
    <p:sldId id="480" r:id="rId20"/>
    <p:sldId id="481" r:id="rId21"/>
    <p:sldId id="486" r:id="rId22"/>
    <p:sldId id="487" r:id="rId23"/>
    <p:sldId id="488" r:id="rId24"/>
    <p:sldId id="489" r:id="rId25"/>
    <p:sldId id="490" r:id="rId26"/>
    <p:sldId id="514" r:id="rId27"/>
    <p:sldId id="491" r:id="rId28"/>
    <p:sldId id="492" r:id="rId29"/>
    <p:sldId id="493" r:id="rId30"/>
    <p:sldId id="494" r:id="rId31"/>
    <p:sldId id="511" r:id="rId32"/>
    <p:sldId id="495" r:id="rId33"/>
    <p:sldId id="496" r:id="rId34"/>
    <p:sldId id="497" r:id="rId35"/>
    <p:sldId id="498" r:id="rId36"/>
    <p:sldId id="512" r:id="rId37"/>
    <p:sldId id="503" r:id="rId38"/>
    <p:sldId id="502" r:id="rId39"/>
    <p:sldId id="499" r:id="rId40"/>
    <p:sldId id="500" r:id="rId41"/>
    <p:sldId id="501" r:id="rId42"/>
    <p:sldId id="505" r:id="rId43"/>
    <p:sldId id="506" r:id="rId44"/>
    <p:sldId id="508" r:id="rId45"/>
    <p:sldId id="507" r:id="rId46"/>
    <p:sldId id="509" r:id="rId47"/>
    <p:sldId id="510" r:id="rId48"/>
    <p:sldId id="515" r:id="rId49"/>
    <p:sldId id="518" r:id="rId50"/>
    <p:sldId id="521" r:id="rId51"/>
    <p:sldId id="523" r:id="rId52"/>
    <p:sldId id="524" r:id="rId53"/>
    <p:sldId id="530" r:id="rId54"/>
    <p:sldId id="531" r:id="rId55"/>
    <p:sldId id="522" r:id="rId56"/>
    <p:sldId id="525" r:id="rId57"/>
    <p:sldId id="526" r:id="rId58"/>
    <p:sldId id="527" r:id="rId59"/>
    <p:sldId id="532" r:id="rId60"/>
    <p:sldId id="533" r:id="rId61"/>
    <p:sldId id="534" r:id="rId62"/>
    <p:sldId id="529" r:id="rId63"/>
    <p:sldId id="516" r:id="rId64"/>
    <p:sldId id="519" r:id="rId65"/>
    <p:sldId id="520" r:id="rId66"/>
    <p:sldId id="535" r:id="rId67"/>
    <p:sldId id="536" r:id="rId68"/>
    <p:sldId id="537" r:id="rId69"/>
    <p:sldId id="538" r:id="rId70"/>
    <p:sldId id="539" r:id="rId71"/>
    <p:sldId id="540" r:id="rId72"/>
    <p:sldId id="542" r:id="rId73"/>
    <p:sldId id="543" r:id="rId74"/>
    <p:sldId id="544" r:id="rId75"/>
    <p:sldId id="545" r:id="rId76"/>
    <p:sldId id="546" r:id="rId77"/>
    <p:sldId id="547" r:id="rId78"/>
    <p:sldId id="548" r:id="rId79"/>
    <p:sldId id="549" r:id="rId80"/>
    <p:sldId id="550" r:id="rId81"/>
    <p:sldId id="551" r:id="rId82"/>
    <p:sldId id="552" r:id="rId83"/>
    <p:sldId id="541" r:id="rId84"/>
    <p:sldId id="553" r:id="rId85"/>
    <p:sldId id="554" r:id="rId86"/>
    <p:sldId id="555" r:id="rId87"/>
    <p:sldId id="556" r:id="rId88"/>
    <p:sldId id="557" r:id="rId89"/>
    <p:sldId id="558" r:id="rId90"/>
    <p:sldId id="559" r:id="rId91"/>
    <p:sldId id="560" r:id="rId92"/>
    <p:sldId id="465" r:id="rId9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09"/>
  </p:normalViewPr>
  <p:slideViewPr>
    <p:cSldViewPr snapToGrid="0">
      <p:cViewPr varScale="1">
        <p:scale>
          <a:sx n="111" d="100"/>
          <a:sy n="111" d="100"/>
        </p:scale>
        <p:origin x="1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F3941-2378-E545-99E8-DBEF94318011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171DC-6075-1E40-B1DC-A7F55DE55F5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793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异或运算适用：主要是</a:t>
            </a:r>
            <a:r>
              <a:rPr kumimoji="1" lang="en-US" altLang="zh-CN" dirty="0" err="1"/>
              <a:t>a^a</a:t>
            </a:r>
            <a:r>
              <a:rPr kumimoji="1" lang="en-US" altLang="zh-CN" dirty="0"/>
              <a:t>=0</a:t>
            </a:r>
            <a:r>
              <a:rPr kumimoji="1" lang="zh-CN" altLang="en-US" dirty="0"/>
              <a:t>的利用 无论是交换还是这里的查重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2196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求第</a:t>
            </a:r>
            <a:r>
              <a:rPr kumimoji="1" lang="en-US" altLang="zh-CN" dirty="0"/>
              <a:t>k</a:t>
            </a:r>
            <a:r>
              <a:rPr kumimoji="1" lang="zh-CN" altLang="en-US" dirty="0"/>
              <a:t>位：把这一位和对应是</a:t>
            </a:r>
            <a:r>
              <a:rPr kumimoji="1" lang="en-US" altLang="zh-CN" dirty="0"/>
              <a:t>1</a:t>
            </a:r>
            <a:r>
              <a:rPr kumimoji="1" lang="zh-CN" altLang="en-US" dirty="0"/>
              <a:t>其他是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的整数做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运算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5771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每次循环刚好消掉一个</a:t>
            </a:r>
            <a:r>
              <a:rPr kumimoji="1" lang="en-US" altLang="zh-CN" dirty="0"/>
              <a:t>1</a:t>
            </a:r>
            <a:r>
              <a:rPr kumimoji="1" lang="zh-CN" altLang="en-US" dirty="0"/>
              <a:t> 可以自己举例子试一下（减一借位 从那个借的一到结尾 刚好是原数的反）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0926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总而言之：看到有二进制表示 </a:t>
            </a:r>
            <a:r>
              <a:rPr kumimoji="1" lang="en-US" altLang="zh-CN" dirty="0"/>
              <a:t>bit</a:t>
            </a:r>
            <a:r>
              <a:rPr kumimoji="1" lang="zh-CN" altLang="en-US" dirty="0"/>
              <a:t>为单位 首先考虑位运算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9773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可以通过</a:t>
            </a:r>
            <a:r>
              <a:rPr kumimoji="1" lang="en-US" altLang="zh-CN" dirty="0"/>
              <a:t>-E</a:t>
            </a:r>
            <a:r>
              <a:rPr kumimoji="1" lang="zh-CN" altLang="en-US" dirty="0"/>
              <a:t> </a:t>
            </a:r>
            <a:r>
              <a:rPr kumimoji="1" lang="en-US" altLang="zh-CN" dirty="0"/>
              <a:t>vi</a:t>
            </a:r>
            <a:r>
              <a:rPr kumimoji="1" lang="zh-CN" altLang="en-US" dirty="0"/>
              <a:t>打开</a:t>
            </a:r>
            <a:r>
              <a:rPr kumimoji="1" lang="en-US" altLang="zh-CN" dirty="0"/>
              <a:t>.</a:t>
            </a:r>
            <a:r>
              <a:rPr kumimoji="1" lang="en-US" altLang="zh-CN" dirty="0" err="1"/>
              <a:t>i</a:t>
            </a:r>
            <a:r>
              <a:rPr kumimoji="1" lang="zh-CN" altLang="en-US" dirty="0"/>
              <a:t>文件查看宏展开后的结果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242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这个宏定义出来是啥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4855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意思好像是 如果</a:t>
            </a:r>
            <a:r>
              <a:rPr kumimoji="1" lang="en-US" altLang="zh-CN" dirty="0"/>
              <a:t>define</a:t>
            </a:r>
            <a:r>
              <a:rPr kumimoji="1" lang="zh-CN" altLang="en-US" dirty="0"/>
              <a:t>了这个东西 就会有什么程序进行运行</a:t>
            </a:r>
            <a:endParaRPr kumimoji="1" lang="en-US" altLang="zh-CN" dirty="0"/>
          </a:p>
          <a:p>
            <a:r>
              <a:rPr kumimoji="1" lang="zh-CN" altLang="en-US" dirty="0"/>
              <a:t>注意 这里的</a:t>
            </a:r>
            <a:r>
              <a:rPr kumimoji="1" lang="en-US" altLang="zh-CN" dirty="0"/>
              <a:t>#if</a:t>
            </a:r>
            <a:r>
              <a:rPr kumimoji="1" lang="zh-CN" altLang="en-US" dirty="0"/>
              <a:t>是在程序里面而不是在前面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172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是为什么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“</a:t>
            </a:r>
            <a:r>
              <a:rPr kumimoji="1" lang="en-US" altLang="zh-CN" dirty="0"/>
              <a:t>/</a:t>
            </a:r>
            <a:r>
              <a:rPr kumimoji="1" lang="zh-CN" altLang="en-US" dirty="0"/>
              <a:t>*“会找第一个”*</a:t>
            </a:r>
            <a:r>
              <a:rPr kumimoji="1" lang="en-US" altLang="zh-CN" dirty="0"/>
              <a:t>/</a:t>
            </a:r>
            <a:r>
              <a:rPr kumimoji="1" lang="zh-CN" altLang="en-US" dirty="0"/>
              <a:t>” 也就是说不能</a:t>
            </a:r>
            <a:r>
              <a:rPr kumimoji="1" lang="en-US" altLang="zh-CN" dirty="0"/>
              <a:t>/</a:t>
            </a:r>
            <a:r>
              <a:rPr kumimoji="1" lang="zh-CN" altLang="en-US" dirty="0"/>
              <a:t>*</a:t>
            </a:r>
            <a:r>
              <a:rPr kumimoji="1" lang="en-US" altLang="zh-CN" dirty="0"/>
              <a:t>…/</a:t>
            </a:r>
            <a:r>
              <a:rPr kumimoji="1" lang="zh-CN" altLang="en-US" dirty="0"/>
              <a:t>*</a:t>
            </a:r>
            <a:r>
              <a:rPr kumimoji="1" lang="en-US" altLang="zh-CN" dirty="0"/>
              <a:t>…</a:t>
            </a:r>
            <a:r>
              <a:rPr kumimoji="1" lang="zh-CN" altLang="en-US" dirty="0"/>
              <a:t>*</a:t>
            </a:r>
            <a:r>
              <a:rPr kumimoji="1" lang="en-US" altLang="zh-CN" dirty="0"/>
              <a:t>/…</a:t>
            </a:r>
            <a:r>
              <a:rPr kumimoji="1" lang="zh-CN" altLang="en-US" dirty="0"/>
              <a:t>*</a:t>
            </a:r>
            <a:r>
              <a:rPr kumimoji="1" lang="en-US" altLang="zh-CN" dirty="0"/>
              <a:t>/ </a:t>
            </a:r>
            <a:r>
              <a:rPr kumimoji="1" lang="zh-CN" altLang="en-US" dirty="0"/>
              <a:t>但是是怎么做到临时屏蔽的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1314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3808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最后一行：宏定义</a:t>
            </a:r>
            <a:r>
              <a:rPr kumimoji="1" lang="en-US" altLang="zh-CN" dirty="0"/>
              <a:t>DEBUG</a:t>
            </a:r>
            <a:r>
              <a:rPr kumimoji="1" lang="zh-CN" altLang="en-US" dirty="0"/>
              <a:t> 不用在程序里面手写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2551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这个可以搞一下 就是多个函数或者说模块 看下是不是每一块都正常运行了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2772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条件编译</a:t>
            </a:r>
            <a:r>
              <a:rPr kumimoji="1" lang="en-US" altLang="zh-CN" dirty="0"/>
              <a:t>+</a:t>
            </a:r>
            <a:r>
              <a:rPr kumimoji="1" lang="zh-CN" altLang="en-US" dirty="0"/>
              <a:t>断言？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087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左边宏干啥的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52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5066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数据结构优化！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4540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不会有压栈弹栈的开销 所以是不是</a:t>
            </a:r>
            <a:r>
              <a:rPr kumimoji="1" lang="en-US" altLang="zh-CN" dirty="0" err="1"/>
              <a:t>my_cmp</a:t>
            </a:r>
            <a:r>
              <a:rPr kumimoji="1" lang="zh-CN" altLang="en-US" dirty="0"/>
              <a:t>比较适合？ 真的会有效果吗 还是说编译器已经做了内连了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65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1632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反转链表那个是不是也是尾递归 原理：不需要保存上一次的参数 编译器优化 栈上面不保留上一次函数的内存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66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5300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缓存内的内容 不会被意外的东西（指针）修改</a:t>
            </a:r>
            <a:endParaRPr kumimoji="1" lang="en-US" altLang="zh-CN" dirty="0"/>
          </a:p>
          <a:p>
            <a:r>
              <a:rPr kumimoji="1" lang="zh-CN" altLang="en-US" dirty="0"/>
              <a:t>总结一下：</a:t>
            </a:r>
            <a:r>
              <a:rPr kumimoji="1" lang="en-US" altLang="zh-CN" dirty="0"/>
              <a:t>const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zh-CN" altLang="en-US" dirty="0"/>
              <a:t>*～只读     </a:t>
            </a:r>
            <a:r>
              <a:rPr kumimoji="1" lang="en-US" altLang="zh-CN" dirty="0"/>
              <a:t>T</a:t>
            </a:r>
            <a:r>
              <a:rPr kumimoji="1" lang="zh-CN" altLang="en-US" dirty="0"/>
              <a:t>*</a:t>
            </a:r>
            <a:r>
              <a:rPr kumimoji="1" lang="en-US" altLang="zh-CN" dirty="0" err="1"/>
              <a:t>restric</a:t>
            </a:r>
            <a:r>
              <a:rPr kumimoji="1" lang="zh-CN" altLang="en-US" dirty="0"/>
              <a:t> 消除指针别名优化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68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7382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啥意思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74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5122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76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6785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第二个有点像我之前的饼干 但是那个更恐怖 是循环嵌套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77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5313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根本：如果循环需要调用 且每次调用都是一样的 就可以在循环开始之前先调用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78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7241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和</a:t>
            </a:r>
            <a:r>
              <a:rPr kumimoji="1" lang="en-US" altLang="zh-CN" dirty="0"/>
              <a:t>0</a:t>
            </a:r>
            <a:r>
              <a:rPr kumimoji="1" lang="zh-CN" altLang="en-US" dirty="0"/>
              <a:t>比较效率高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80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79467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可以试试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87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20466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Og</a:t>
            </a:r>
            <a:r>
              <a:rPr kumimoji="1" lang="zh-CN" altLang="en-US" dirty="0"/>
              <a:t>是什么 怎么理解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71DC-6075-1E40-B1DC-A7F55DE55F5C}" type="slidenum">
              <a:rPr kumimoji="1" lang="zh-CN" altLang="en-US" smtClean="0"/>
              <a:t>89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01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b="0" baseline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0" baseline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96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659160"/>
          </a:xfrm>
        </p:spPr>
        <p:txBody>
          <a:bodyPr/>
          <a:lstStyle>
            <a:lvl1pPr>
              <a:defRPr sz="3600" baseline="0"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556792"/>
            <a:ext cx="8540750" cy="4542383"/>
          </a:xfrm>
        </p:spPr>
        <p:txBody>
          <a:bodyPr/>
          <a:lstStyle>
            <a:lvl1pPr>
              <a:defRPr sz="2400" baseline="0">
                <a:solidFill>
                  <a:srgbClr val="000000"/>
                </a:solidFill>
                <a:latin typeface="微软雅黑" panose="020B0503020204020204" pitchFamily="34" charset="-122"/>
              </a:defRPr>
            </a:lvl1pPr>
            <a:lvl2pPr>
              <a:defRPr sz="2400" baseline="0">
                <a:solidFill>
                  <a:srgbClr val="000000"/>
                </a:solidFill>
                <a:latin typeface="微软雅黑" panose="020B0503020204020204" pitchFamily="34" charset="-122"/>
              </a:defRPr>
            </a:lvl2pPr>
            <a:lvl3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3pPr>
            <a:lvl4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4pPr>
            <a:lvl5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B2979F-5A86-448F-8EEA-2A5523B49A0D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93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22331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437113"/>
            <a:ext cx="7886700" cy="16525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CFB400-C9DC-49E3-989A-8794DD0EA267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10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28800"/>
            <a:ext cx="4194175" cy="44703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800"/>
            <a:ext cx="4194175" cy="44703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AFBC70-50F1-47DE-A132-358C34147BA1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23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68CE3E-B63B-435F-8DFD-6F47D90E59A9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623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A8BDFD-08A6-4AB4-AFD0-B0543BBC878E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75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E71EB9-FAD2-4FF4-B06F-78D86D9EFD37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11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AFAAA0-6F14-4E85-ABBD-67AA108F4B7B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026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5F2F76-E7A3-4182-BF78-8AF7DE57E46D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01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FBDFA-9B95-450C-9B75-7FE7D2CA6B49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708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1E4275-4135-4D92-9DB1-AE79C58478F1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038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9144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49382" y="-3175"/>
            <a:ext cx="6924502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91440" y="-3175"/>
            <a:ext cx="6924502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1531610"/>
            <a:ext cx="850397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  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5" name="任意多边形 34"/>
          <p:cNvSpPr/>
          <p:nvPr userDrawn="1"/>
        </p:nvSpPr>
        <p:spPr>
          <a:xfrm>
            <a:off x="1" y="1426996"/>
            <a:ext cx="748145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  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1" name="任意多边形 40"/>
          <p:cNvSpPr/>
          <p:nvPr userDrawn="1"/>
        </p:nvSpPr>
        <p:spPr>
          <a:xfrm>
            <a:off x="5561208" y="5505964"/>
            <a:ext cx="3582793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    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9" name="任意多边形 38"/>
          <p:cNvSpPr/>
          <p:nvPr userDrawn="1"/>
        </p:nvSpPr>
        <p:spPr>
          <a:xfrm>
            <a:off x="5715849" y="5393905"/>
            <a:ext cx="3428152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    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426996"/>
            <a:ext cx="5397500" cy="1738535"/>
          </a:xfrm>
        </p:spPr>
        <p:txBody>
          <a:bodyPr anchor="b"/>
          <a:lstStyle>
            <a:lvl1pPr algn="l">
              <a:defRPr sz="45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多行标题 </a:t>
            </a:r>
            <a:r>
              <a:rPr lang="en-US" altLang="zh-CN" dirty="0"/>
              <a:t>- </a:t>
            </a:r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165530"/>
            <a:ext cx="5397500" cy="9577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单击以编辑副标题</a:t>
            </a:r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6276856" y="5633721"/>
            <a:ext cx="2495217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6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1"/>
            <p:cNvSpPr>
              <a:spLocks/>
            </p:cNvSpPr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Freeform 42"/>
            <p:cNvSpPr>
              <a:spLocks/>
            </p:cNvSpPr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Freeform 43"/>
            <p:cNvSpPr>
              <a:spLocks/>
            </p:cNvSpPr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7A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68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ADD0F-AD24-4557-BEE9-EF7984F4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44C087-0BA9-4F74-8073-039E9A480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C8D677-F923-44A1-9454-B5F30368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04E9C-C539-4343-A574-C5840074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9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b="0" baseline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0" baseline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516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659160"/>
          </a:xfrm>
        </p:spPr>
        <p:txBody>
          <a:bodyPr/>
          <a:lstStyle>
            <a:lvl1pPr>
              <a:defRPr sz="3600" baseline="0"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556792"/>
            <a:ext cx="8540750" cy="4542383"/>
          </a:xfrm>
        </p:spPr>
        <p:txBody>
          <a:bodyPr/>
          <a:lstStyle>
            <a:lvl1pPr>
              <a:defRPr sz="2400" baseline="0">
                <a:solidFill>
                  <a:srgbClr val="000000"/>
                </a:solidFill>
                <a:latin typeface="微软雅黑" panose="020B0503020204020204" pitchFamily="34" charset="-122"/>
              </a:defRPr>
            </a:lvl1pPr>
            <a:lvl2pPr>
              <a:defRPr sz="2400" baseline="0">
                <a:solidFill>
                  <a:srgbClr val="000000"/>
                </a:solidFill>
                <a:latin typeface="微软雅黑" panose="020B0503020204020204" pitchFamily="34" charset="-122"/>
              </a:defRPr>
            </a:lvl2pPr>
            <a:lvl3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3pPr>
            <a:lvl4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4pPr>
            <a:lvl5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8B2979F-5A86-448F-8EEA-2A5523B49A0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67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22331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437113"/>
            <a:ext cx="7886700" cy="16525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FCFB400-C9DC-49E3-989A-8794DD0EA2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82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28800"/>
            <a:ext cx="4194175" cy="44703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800"/>
            <a:ext cx="4194175" cy="44703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CAFBC70-50F1-47DE-A132-358C34147BA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69138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368CE3E-B63B-435F-8DFD-6F47D90E59A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8135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EA8BDFD-08A6-4AB4-AFD0-B0543BBC878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67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BE71EB9-FAD2-4FF4-B06F-78D86D9EFD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0865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2AFAAA0-6F14-4E85-ABBD-67AA108F4B7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97767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95F2F76-E7A3-4182-BF78-8AF7DE57E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6991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EDFBDFA-9B95-450C-9B75-7FE7D2CA6B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888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C1E4275-4135-4D92-9DB1-AE79C58478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64054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9144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5" name="平行四边形 14"/>
          <p:cNvSpPr/>
          <p:nvPr userDrawn="1"/>
        </p:nvSpPr>
        <p:spPr>
          <a:xfrm>
            <a:off x="249382" y="-3175"/>
            <a:ext cx="6924502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2" name="平行四边形 11"/>
          <p:cNvSpPr/>
          <p:nvPr userDrawn="1"/>
        </p:nvSpPr>
        <p:spPr>
          <a:xfrm>
            <a:off x="91440" y="-3175"/>
            <a:ext cx="6924502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1531610"/>
            <a:ext cx="850397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        </a:t>
            </a:r>
            <a:endParaRPr lang="zh-CN" altLang="en-US" sz="2100" dirty="0"/>
          </a:p>
        </p:txBody>
      </p:sp>
      <p:sp>
        <p:nvSpPr>
          <p:cNvPr id="35" name="任意多边形 34"/>
          <p:cNvSpPr/>
          <p:nvPr userDrawn="1"/>
        </p:nvSpPr>
        <p:spPr>
          <a:xfrm>
            <a:off x="1" y="1426996"/>
            <a:ext cx="748145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        </a:t>
            </a:r>
            <a:endParaRPr lang="zh-CN" altLang="en-US" sz="2100" dirty="0"/>
          </a:p>
        </p:txBody>
      </p:sp>
      <p:sp>
        <p:nvSpPr>
          <p:cNvPr id="41" name="任意多边形 40"/>
          <p:cNvSpPr/>
          <p:nvPr userDrawn="1"/>
        </p:nvSpPr>
        <p:spPr>
          <a:xfrm>
            <a:off x="5561208" y="5505964"/>
            <a:ext cx="3582793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          </a:t>
            </a:r>
            <a:endParaRPr lang="zh-CN" altLang="en-US" sz="2100" dirty="0"/>
          </a:p>
        </p:txBody>
      </p:sp>
      <p:sp>
        <p:nvSpPr>
          <p:cNvPr id="39" name="任意多边形 38"/>
          <p:cNvSpPr/>
          <p:nvPr userDrawn="1"/>
        </p:nvSpPr>
        <p:spPr>
          <a:xfrm>
            <a:off x="5715849" y="5393905"/>
            <a:ext cx="3428152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          </a:t>
            </a:r>
            <a:endParaRPr lang="zh-CN" altLang="en-US" sz="2100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426996"/>
            <a:ext cx="5397500" cy="1738535"/>
          </a:xfrm>
        </p:spPr>
        <p:txBody>
          <a:bodyPr anchor="b"/>
          <a:lstStyle>
            <a:lvl1pPr algn="l">
              <a:defRPr sz="45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多行标题 </a:t>
            </a:r>
            <a:r>
              <a:rPr lang="en-US" altLang="zh-CN" dirty="0"/>
              <a:t>- </a:t>
            </a:r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165530"/>
            <a:ext cx="5397500" cy="9577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单击以编辑副标题</a:t>
            </a:r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6276856" y="5633721"/>
            <a:ext cx="2495217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6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3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6" name="Freeform 41"/>
            <p:cNvSpPr>
              <a:spLocks/>
            </p:cNvSpPr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0" name="Freeform 42"/>
            <p:cNvSpPr>
              <a:spLocks/>
            </p:cNvSpPr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2" name="Freeform 43"/>
            <p:cNvSpPr>
              <a:spLocks/>
            </p:cNvSpPr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3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4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5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6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7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8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9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80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81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</p:grpSp>
    </p:spTree>
    <p:extLst>
      <p:ext uri="{BB962C8B-B14F-4D97-AF65-F5344CB8AC3E}">
        <p14:creationId xmlns:p14="http://schemas.microsoft.com/office/powerpoint/2010/main" val="438513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ADD0F-AD24-4557-BEE9-EF7984F4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44C087-0BA9-4F74-8073-039E9A480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C8D677-F923-44A1-9454-B5F30368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04E9C-C539-4343-A574-C5840074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322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744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587260"/>
            <a:ext cx="8540750" cy="4511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7A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1" name="Picture 7" descr="ustcnameblue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1494"/>
            <a:ext cx="229235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ustcblue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93" y="166813"/>
            <a:ext cx="369917" cy="378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562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3600" b="0" i="0" kern="1200" baseline="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4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4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2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744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587260"/>
            <a:ext cx="8540750" cy="4511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zh-CN"/>
          </a:p>
        </p:txBody>
      </p:sp>
      <p:pic>
        <p:nvPicPr>
          <p:cNvPr id="1031" name="Picture 7" descr="ustcnameblue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1494"/>
            <a:ext cx="229235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ustcblue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93" y="166813"/>
            <a:ext cx="369917" cy="378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129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3600" b="0" i="0" kern="1200" baseline="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4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4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2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03FD5-823B-4FA9-B6C7-A00BB38FA8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高级编程与性能优化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688925-6F27-4C0E-B9E3-DCB33CCC1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800" dirty="0"/>
              <a:t>吴锋</a:t>
            </a:r>
            <a:endParaRPr lang="en-US" altLang="zh-CN" sz="2800" dirty="0"/>
          </a:p>
          <a:p>
            <a:endParaRPr lang="en-US" altLang="zh-CN" dirty="0"/>
          </a:p>
          <a:p>
            <a:r>
              <a:rPr lang="en-US" altLang="zh-CN" sz="2000" dirty="0"/>
              <a:t>Email:</a:t>
            </a:r>
            <a:r>
              <a:rPr lang="zh-CN" altLang="en-US" sz="2000" dirty="0"/>
              <a:t> </a:t>
            </a:r>
            <a:r>
              <a:rPr lang="en-US" altLang="zh-CN" sz="2000" dirty="0"/>
              <a:t>wufeng02@ustc.edu.cn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3460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3A8B8-CA5A-429B-9EF0-4C2D192D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9327B-0E72-49E8-94BF-612DED7E0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位运算</a:t>
            </a:r>
            <a:endParaRPr lang="en-US" altLang="zh-CN" dirty="0"/>
          </a:p>
          <a:p>
            <a:r>
              <a:rPr lang="zh-CN" altLang="en-US" dirty="0"/>
              <a:t>宏操作（带参数、系统宏）</a:t>
            </a:r>
            <a:endParaRPr lang="en-US" altLang="zh-CN" dirty="0"/>
          </a:p>
          <a:p>
            <a:r>
              <a:rPr lang="zh-CN" altLang="en-US" dirty="0"/>
              <a:t>静态与动态库</a:t>
            </a:r>
            <a:endParaRPr lang="en-US" altLang="zh-CN" dirty="0"/>
          </a:p>
          <a:p>
            <a:r>
              <a:rPr lang="zh-CN" altLang="en-US" dirty="0"/>
              <a:t>编程优化方法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366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3A8B8-CA5A-429B-9EF0-4C2D192D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9327B-0E72-49E8-94BF-612DED7E0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位运算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宏操作（带参数、系统宏）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静态与动态库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编程优化方法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28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CE63D-73FB-42D2-94E8-6BB8F25E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134B3F-E6EE-47E4-BA55-6E2063D21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很多算法是按二进制位进行运算的</a:t>
            </a:r>
          </a:p>
          <a:p>
            <a:r>
              <a:rPr lang="zh-CN" altLang="en-US" sz="2400" dirty="0"/>
              <a:t>位运算速度快，效率高</a:t>
            </a:r>
          </a:p>
          <a:p>
            <a:endParaRPr lang="en-US" altLang="zh-CN" sz="2400" dirty="0"/>
          </a:p>
          <a:p>
            <a:r>
              <a:rPr lang="zh-CN" altLang="en-US" sz="2400" dirty="0"/>
              <a:t>位运算的运算对象是</a:t>
            </a:r>
            <a:r>
              <a:rPr lang="zh-CN" altLang="en-US" sz="2400" dirty="0">
                <a:solidFill>
                  <a:srgbClr val="C00000"/>
                </a:solidFill>
              </a:rPr>
              <a:t>二进制</a:t>
            </a:r>
            <a:r>
              <a:rPr lang="zh-CN" altLang="en-US" sz="2400" dirty="0"/>
              <a:t>的位</a:t>
            </a:r>
          </a:p>
          <a:p>
            <a:r>
              <a:rPr lang="zh-CN" altLang="en-US" sz="2400" dirty="0"/>
              <a:t>只能对</a:t>
            </a:r>
            <a:r>
              <a:rPr lang="zh-CN" altLang="en-US" sz="2400" dirty="0">
                <a:solidFill>
                  <a:srgbClr val="C00000"/>
                </a:solidFill>
              </a:rPr>
              <a:t>整型</a:t>
            </a:r>
            <a:r>
              <a:rPr lang="zh-CN" altLang="en-US" dirty="0">
                <a:solidFill>
                  <a:srgbClr val="C00000"/>
                </a:solidFill>
              </a:rPr>
              <a:t>数据</a:t>
            </a:r>
            <a:r>
              <a:rPr lang="zh-CN" altLang="en-US" dirty="0"/>
              <a:t>（包括字符型）</a:t>
            </a:r>
            <a:r>
              <a:rPr lang="zh-CN" altLang="en-US" sz="2400" dirty="0"/>
              <a:t>进行位运算</a:t>
            </a:r>
          </a:p>
          <a:p>
            <a:r>
              <a:rPr lang="zh-CN" altLang="en-US" sz="2400" dirty="0"/>
              <a:t>负数以补码形式参与运算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074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DA201-7608-430A-AF68-3B085AE7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59B1C-0A49-415B-AF84-5430E601D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268760"/>
            <a:ext cx="8540750" cy="4830415"/>
          </a:xfrm>
        </p:spPr>
        <p:txBody>
          <a:bodyPr/>
          <a:lstStyle/>
          <a:p>
            <a:r>
              <a:rPr lang="zh-CN" altLang="en-US" sz="2400" dirty="0"/>
              <a:t>注意位运算符与逻辑运算区别</a:t>
            </a:r>
            <a:endParaRPr lang="en-US" altLang="zh-CN" sz="2400" dirty="0"/>
          </a:p>
          <a:p>
            <a:endParaRPr lang="zh-CN" altLang="en-US" dirty="0"/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D6D09044-5580-4940-99B3-4909A5E4F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40338"/>
              </p:ext>
            </p:extLst>
          </p:nvPr>
        </p:nvGraphicFramePr>
        <p:xfrm>
          <a:off x="710285" y="1995854"/>
          <a:ext cx="7993062" cy="4684097"/>
        </p:xfrm>
        <a:graphic>
          <a:graphicData uri="http://schemas.openxmlformats.org/drawingml/2006/table">
            <a:tbl>
              <a:tblPr firstRow="1" bandRow="1"/>
              <a:tblGrid>
                <a:gridCol w="1209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4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运算符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70C0"/>
                      </a:solidFill>
                    </a:lnT>
                    <a:lnB w="12700" cmpd="sng">
                      <a:solidFill>
                        <a:srgbClr val="0070C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运算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70C0"/>
                      </a:solidFill>
                    </a:lnT>
                    <a:lnB w="12700" cmpd="sng">
                      <a:solidFill>
                        <a:srgbClr val="0070C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举例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70C0"/>
                      </a:solidFill>
                    </a:lnT>
                    <a:lnB w="12700" cmpd="sng">
                      <a:solidFill>
                        <a:srgbClr val="0070C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优先级从高到低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70C0"/>
                      </a:solidFill>
                    </a:lnT>
                    <a:lnB w="12700" cmpd="sng">
                      <a:solidFill>
                        <a:srgbClr val="0070C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70C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70C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70C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逻辑非运算符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70C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445240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~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按位取反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~flag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算术运算符 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&lt;&lt;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左移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 &lt;&lt; 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&gt;&gt;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右移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 &gt;&gt; 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关系运算符 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&amp;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按位与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flag &amp; 0x37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^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按位异或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flag ^ 0xC4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|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按位或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flag | 0x5A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70C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70C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70C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zh-CN" alt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赋值运算符 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70C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15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15B3B-8B3E-4DD6-8BE4-46B880DE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按位与 </a:t>
            </a:r>
            <a:r>
              <a:rPr lang="en-US" altLang="zh-CN" dirty="0"/>
              <a:t>(Bitwise AND) &amp;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D766D-DAF0-483B-9135-831DD6C93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运算规则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0 &amp; 0 = 0;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0 &amp; 1 = 0;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1 &amp; 0 = 0;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1 &amp; 1 = 1;</a:t>
            </a:r>
          </a:p>
          <a:p>
            <a:r>
              <a:rPr lang="zh-CN" altLang="en-US" sz="2800" dirty="0"/>
              <a:t>特殊用法</a:t>
            </a:r>
          </a:p>
          <a:p>
            <a:pPr lvl="1"/>
            <a:r>
              <a:rPr lang="zh-CN" altLang="en-US" dirty="0"/>
              <a:t>特定位清零</a:t>
            </a:r>
          </a:p>
          <a:p>
            <a:pPr lvl="1"/>
            <a:r>
              <a:rPr lang="zh-CN" altLang="en-US" dirty="0"/>
              <a:t>保留其它位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669D8A-71C8-4751-A553-27B9E2E65192}"/>
              </a:ext>
            </a:extLst>
          </p:cNvPr>
          <p:cNvGrpSpPr/>
          <p:nvPr/>
        </p:nvGrpSpPr>
        <p:grpSpPr>
          <a:xfrm>
            <a:off x="4126619" y="2067930"/>
            <a:ext cx="3817017" cy="1200329"/>
            <a:chOff x="4571407" y="3212976"/>
            <a:chExt cx="3817017" cy="120032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5385CC3-A180-4639-A982-9A060EA190E8}"/>
                </a:ext>
              </a:extLst>
            </p:cNvPr>
            <p:cNvSpPr/>
            <p:nvPr/>
          </p:nvSpPr>
          <p:spPr>
            <a:xfrm>
              <a:off x="4571407" y="3212976"/>
              <a:ext cx="3817017" cy="1200329"/>
            </a:xfrm>
            <a:prstGeom prst="rect">
              <a:avLst/>
            </a:prstGeom>
            <a:solidFill>
              <a:srgbClr val="92D050">
                <a:lumMod val="20000"/>
                <a:lumOff val="80000"/>
              </a:srgbClr>
            </a:solidFill>
            <a:ln>
              <a:solidFill>
                <a:srgbClr val="92D050">
                  <a:lumMod val="75000"/>
                </a:srgbClr>
              </a:solidFill>
            </a:ln>
          </p:spPr>
          <p:txBody>
            <a:bodyPr wrap="square" lIns="36000" rIns="36000">
              <a:spAutoFit/>
            </a:bodyPr>
            <a:lstStyle/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1010,1101 (0xAD)</a:t>
              </a:r>
            </a:p>
            <a:p>
              <a:pPr marL="176213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&amp; 0110,1001 (0x69)</a:t>
              </a:r>
            </a:p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0010,1001 (0x29)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3" name="Line 4">
              <a:extLst>
                <a:ext uri="{FF2B5EF4-FFF2-40B4-BE49-F238E27FC236}">
                  <a16:creationId xmlns:a16="http://schemas.microsoft.com/office/drawing/2014/main" id="{8BF1A648-D45B-4880-9E0F-7B9DF75E4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414" y="4005064"/>
              <a:ext cx="3600993" cy="0"/>
            </a:xfrm>
            <a:prstGeom prst="line">
              <a:avLst/>
            </a:prstGeom>
            <a:noFill/>
            <a:ln w="381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D6D34E-3663-45AE-99BC-E86E0822FB14}"/>
              </a:ext>
            </a:extLst>
          </p:cNvPr>
          <p:cNvGrpSpPr/>
          <p:nvPr/>
        </p:nvGrpSpPr>
        <p:grpSpPr>
          <a:xfrm>
            <a:off x="4126619" y="4310711"/>
            <a:ext cx="3817017" cy="1200329"/>
            <a:chOff x="4571407" y="3212976"/>
            <a:chExt cx="3817017" cy="120032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BE8B050-8CD6-4E54-8591-A01525BE0B4E}"/>
                </a:ext>
              </a:extLst>
            </p:cNvPr>
            <p:cNvSpPr/>
            <p:nvPr/>
          </p:nvSpPr>
          <p:spPr>
            <a:xfrm>
              <a:off x="4571407" y="3212976"/>
              <a:ext cx="3817017" cy="1200329"/>
            </a:xfrm>
            <a:prstGeom prst="rect">
              <a:avLst/>
            </a:prstGeom>
            <a:solidFill>
              <a:srgbClr val="92D050">
                <a:lumMod val="20000"/>
                <a:lumOff val="80000"/>
              </a:srgbClr>
            </a:solidFill>
            <a:ln>
              <a:solidFill>
                <a:srgbClr val="92D050">
                  <a:lumMod val="75000"/>
                </a:srgbClr>
              </a:solidFill>
            </a:ln>
          </p:spPr>
          <p:txBody>
            <a:bodyPr wrap="square" lIns="36000" rIns="36000">
              <a:spAutoFit/>
            </a:bodyPr>
            <a:lstStyle/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41338" algn="l"/>
                </a:tabLst>
                <a:defRPr/>
              </a:pP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xxxx,xxxx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_____</a:t>
              </a:r>
            </a:p>
            <a:p>
              <a:pPr marL="176213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&amp; 0110,0010 (0x62)</a:t>
              </a:r>
            </a:p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0xx0,00x0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_____</a:t>
              </a:r>
            </a:p>
          </p:txBody>
        </p:sp>
        <p:sp>
          <p:nvSpPr>
            <p:cNvPr id="16" name="Line 4">
              <a:extLst>
                <a:ext uri="{FF2B5EF4-FFF2-40B4-BE49-F238E27FC236}">
                  <a16:creationId xmlns:a16="http://schemas.microsoft.com/office/drawing/2014/main" id="{3529049D-C4E6-44CE-8A66-29EF685C8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414" y="4005064"/>
              <a:ext cx="3600993" cy="0"/>
            </a:xfrm>
            <a:prstGeom prst="line">
              <a:avLst/>
            </a:prstGeom>
            <a:noFill/>
            <a:ln w="381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297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1DEE9-93E3-40B0-9FAA-E512AB9D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按位或 </a:t>
            </a:r>
            <a:r>
              <a:rPr lang="en-US" altLang="zh-CN" dirty="0"/>
              <a:t>(Bitwise Inclusive OR) |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E3694D-6EC9-4C27-880F-5F13BBEE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运算规则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0 | 0 = 0;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0 | 1 = 1;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1 | 0 = 1;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1 | 1 = 1;</a:t>
            </a:r>
          </a:p>
          <a:p>
            <a:r>
              <a:rPr lang="zh-CN" altLang="en-US" sz="2800" dirty="0"/>
              <a:t>特殊用法</a:t>
            </a:r>
          </a:p>
          <a:p>
            <a:pPr lvl="1"/>
            <a:r>
              <a:rPr lang="zh-CN" altLang="en-US" dirty="0"/>
              <a:t>特定位置一</a:t>
            </a:r>
            <a:endParaRPr lang="en-US" altLang="zh-CN" dirty="0"/>
          </a:p>
          <a:p>
            <a:pPr lvl="1"/>
            <a:r>
              <a:rPr lang="zh-CN" altLang="en-US" dirty="0"/>
              <a:t>保留其它位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53258FA-797F-4C07-86A7-FCD62AB03346}"/>
              </a:ext>
            </a:extLst>
          </p:cNvPr>
          <p:cNvGrpSpPr/>
          <p:nvPr/>
        </p:nvGrpSpPr>
        <p:grpSpPr>
          <a:xfrm>
            <a:off x="4261562" y="2228671"/>
            <a:ext cx="3817017" cy="1200329"/>
            <a:chOff x="4571407" y="3212976"/>
            <a:chExt cx="3817017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27C093B-5E2F-43DE-BAA5-7D62A6732393}"/>
                </a:ext>
              </a:extLst>
            </p:cNvPr>
            <p:cNvSpPr/>
            <p:nvPr/>
          </p:nvSpPr>
          <p:spPr>
            <a:xfrm>
              <a:off x="4571407" y="3212976"/>
              <a:ext cx="3817017" cy="1200329"/>
            </a:xfrm>
            <a:prstGeom prst="rect">
              <a:avLst/>
            </a:prstGeom>
            <a:solidFill>
              <a:srgbClr val="92D050">
                <a:lumMod val="20000"/>
                <a:lumOff val="80000"/>
              </a:srgbClr>
            </a:solidFill>
            <a:ln>
              <a:solidFill>
                <a:srgbClr val="92D050">
                  <a:lumMod val="75000"/>
                </a:srgbClr>
              </a:solidFill>
            </a:ln>
          </p:spPr>
          <p:txBody>
            <a:bodyPr wrap="square" lIns="36000" rIns="36000">
              <a:spAutoFit/>
            </a:bodyPr>
            <a:lstStyle/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1010,1101 (0xAD)</a:t>
              </a:r>
            </a:p>
            <a:p>
              <a:pPr marL="176213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| 0110,1001 (0x69)</a:t>
              </a:r>
            </a:p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1110,1101 (0xED)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D1C9E168-9995-4BE4-A115-C6CCE05B3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414" y="4005064"/>
              <a:ext cx="3600993" cy="0"/>
            </a:xfrm>
            <a:prstGeom prst="line">
              <a:avLst/>
            </a:prstGeom>
            <a:noFill/>
            <a:ln w="381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D287EE2-AE30-4C03-9637-7C1703A8119A}"/>
              </a:ext>
            </a:extLst>
          </p:cNvPr>
          <p:cNvGrpSpPr/>
          <p:nvPr/>
        </p:nvGrpSpPr>
        <p:grpSpPr>
          <a:xfrm>
            <a:off x="4261562" y="4353078"/>
            <a:ext cx="3817017" cy="1200329"/>
            <a:chOff x="4571407" y="3212976"/>
            <a:chExt cx="3817017" cy="120032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7F6A16C-8A4F-4E94-BAD3-8B4999AFE0D7}"/>
                </a:ext>
              </a:extLst>
            </p:cNvPr>
            <p:cNvSpPr/>
            <p:nvPr/>
          </p:nvSpPr>
          <p:spPr>
            <a:xfrm>
              <a:off x="4571407" y="3212976"/>
              <a:ext cx="3817017" cy="1200329"/>
            </a:xfrm>
            <a:prstGeom prst="rect">
              <a:avLst/>
            </a:prstGeom>
            <a:solidFill>
              <a:srgbClr val="92D050">
                <a:lumMod val="20000"/>
                <a:lumOff val="80000"/>
              </a:srgbClr>
            </a:solidFill>
            <a:ln>
              <a:solidFill>
                <a:srgbClr val="92D050">
                  <a:lumMod val="75000"/>
                </a:srgbClr>
              </a:solidFill>
            </a:ln>
          </p:spPr>
          <p:txBody>
            <a:bodyPr wrap="square" lIns="36000" rIns="36000">
              <a:spAutoFit/>
            </a:bodyPr>
            <a:lstStyle/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41338" algn="l"/>
                </a:tabLst>
                <a:defRPr/>
              </a:pP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xxxx,xxxx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_____</a:t>
              </a:r>
            </a:p>
            <a:p>
              <a:pPr marL="176213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| 0110,0010 (0x62)</a:t>
              </a:r>
            </a:p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x11x,xx1x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_____</a:t>
              </a:r>
            </a:p>
          </p:txBody>
        </p:sp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3909F092-97A4-4DA3-96BB-F2E64FC1D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414" y="4005064"/>
              <a:ext cx="3600993" cy="0"/>
            </a:xfrm>
            <a:prstGeom prst="line">
              <a:avLst/>
            </a:prstGeom>
            <a:noFill/>
            <a:ln w="381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496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59C0B-E565-4639-A159-6B57D6B4F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按位异或 </a:t>
            </a:r>
            <a:r>
              <a:rPr lang="en-US" altLang="zh-CN" dirty="0"/>
              <a:t>(Bitwise Exclusive OR) ^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19B43B-C33E-48C3-BCED-234B621A8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运算规则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0 ^ 0 = 0;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0 ^ 1 = 1;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1 ^ 0 = 1;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1 ^ 1 = 0;</a:t>
            </a:r>
          </a:p>
          <a:p>
            <a:r>
              <a:rPr lang="zh-CN" altLang="en-US" sz="2800" dirty="0"/>
              <a:t>特殊用法</a:t>
            </a:r>
          </a:p>
          <a:p>
            <a:pPr lvl="1"/>
            <a:r>
              <a:rPr lang="zh-CN" altLang="en-US" dirty="0"/>
              <a:t>特定位取反</a:t>
            </a:r>
            <a:endParaRPr lang="en-US" altLang="zh-CN" dirty="0"/>
          </a:p>
          <a:p>
            <a:pPr lvl="1"/>
            <a:r>
              <a:rPr lang="zh-CN" altLang="en-US" dirty="0"/>
              <a:t>保留其它位</a:t>
            </a:r>
            <a:endParaRPr lang="zh-CN" altLang="en-US" sz="2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56A915F-1CCD-43DF-B970-B6E1A552D868}"/>
              </a:ext>
            </a:extLst>
          </p:cNvPr>
          <p:cNvGrpSpPr/>
          <p:nvPr/>
        </p:nvGrpSpPr>
        <p:grpSpPr>
          <a:xfrm>
            <a:off x="4122141" y="2229287"/>
            <a:ext cx="3817017" cy="1200329"/>
            <a:chOff x="4571407" y="3212976"/>
            <a:chExt cx="3817017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6139F37-AF28-4AC7-82E9-E650C51F5E7D}"/>
                </a:ext>
              </a:extLst>
            </p:cNvPr>
            <p:cNvSpPr/>
            <p:nvPr/>
          </p:nvSpPr>
          <p:spPr>
            <a:xfrm>
              <a:off x="4571407" y="3212976"/>
              <a:ext cx="3817017" cy="1200329"/>
            </a:xfrm>
            <a:prstGeom prst="rect">
              <a:avLst/>
            </a:prstGeom>
            <a:solidFill>
              <a:srgbClr val="92D050">
                <a:lumMod val="20000"/>
                <a:lumOff val="80000"/>
              </a:srgbClr>
            </a:solidFill>
            <a:ln>
              <a:solidFill>
                <a:srgbClr val="92D050">
                  <a:lumMod val="75000"/>
                </a:srgbClr>
              </a:solidFill>
            </a:ln>
          </p:spPr>
          <p:txBody>
            <a:bodyPr wrap="square" lIns="36000" rIns="36000">
              <a:spAutoFit/>
            </a:bodyPr>
            <a:lstStyle/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1010,1101 (0xAD)</a:t>
              </a:r>
            </a:p>
            <a:p>
              <a:pPr marL="176213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^ 0110,1001 (0x69)</a:t>
              </a:r>
            </a:p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1100,0100 (0xC4)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56E7A8CB-4BF6-43D1-9284-3BE8EDB4F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414" y="4005064"/>
              <a:ext cx="3600993" cy="0"/>
            </a:xfrm>
            <a:prstGeom prst="line">
              <a:avLst/>
            </a:prstGeom>
            <a:noFill/>
            <a:ln w="381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49749F8-DB16-43AF-A739-64AFC04A396B}"/>
              </a:ext>
            </a:extLst>
          </p:cNvPr>
          <p:cNvGrpSpPr/>
          <p:nvPr/>
        </p:nvGrpSpPr>
        <p:grpSpPr>
          <a:xfrm>
            <a:off x="4122141" y="4473179"/>
            <a:ext cx="3817017" cy="1200329"/>
            <a:chOff x="4571407" y="3212976"/>
            <a:chExt cx="3817017" cy="120032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813C11C-387A-464A-947C-71477407A4F5}"/>
                </a:ext>
              </a:extLst>
            </p:cNvPr>
            <p:cNvSpPr/>
            <p:nvPr/>
          </p:nvSpPr>
          <p:spPr>
            <a:xfrm>
              <a:off x="4571407" y="3212976"/>
              <a:ext cx="3817017" cy="1200329"/>
            </a:xfrm>
            <a:prstGeom prst="rect">
              <a:avLst/>
            </a:prstGeom>
            <a:solidFill>
              <a:srgbClr val="92D050">
                <a:lumMod val="20000"/>
                <a:lumOff val="80000"/>
              </a:srgbClr>
            </a:solidFill>
            <a:ln>
              <a:solidFill>
                <a:srgbClr val="92D050">
                  <a:lumMod val="75000"/>
                </a:srgbClr>
              </a:solidFill>
            </a:ln>
          </p:spPr>
          <p:txBody>
            <a:bodyPr wrap="square" lIns="36000" rIns="36000">
              <a:spAutoFit/>
            </a:bodyPr>
            <a:lstStyle/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41338" algn="l"/>
                </a:tabLst>
                <a:defRPr/>
              </a:pP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xxxx,xxxx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_____</a:t>
              </a:r>
            </a:p>
            <a:p>
              <a:pPr marL="176213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^ 0110,0010 (0x62)</a:t>
              </a:r>
            </a:p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xxxx,xxxx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_____</a:t>
              </a:r>
            </a:p>
          </p:txBody>
        </p:sp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2EA2FB95-EF96-4945-81FC-BBAF17DAC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414" y="4005064"/>
              <a:ext cx="3600993" cy="0"/>
            </a:xfrm>
            <a:prstGeom prst="line">
              <a:avLst/>
            </a:prstGeom>
            <a:noFill/>
            <a:ln w="381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  <p:sp>
          <p:nvSpPr>
            <p:cNvPr id="10" name="Line 4">
              <a:extLst>
                <a:ext uri="{FF2B5EF4-FFF2-40B4-BE49-F238E27FC236}">
                  <a16:creationId xmlns:a16="http://schemas.microsoft.com/office/drawing/2014/main" id="{45C99FA2-CA71-42A9-A635-14AB3238F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3910" y="4090823"/>
              <a:ext cx="144000" cy="0"/>
            </a:xfrm>
            <a:prstGeom prst="line">
              <a:avLst/>
            </a:prstGeom>
            <a:noFill/>
            <a:ln w="127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  <p:sp>
          <p:nvSpPr>
            <p:cNvPr id="11" name="Line 4">
              <a:extLst>
                <a:ext uri="{FF2B5EF4-FFF2-40B4-BE49-F238E27FC236}">
                  <a16:creationId xmlns:a16="http://schemas.microsoft.com/office/drawing/2014/main" id="{B08348E0-3F91-4B71-A178-0AED13933E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47034" y="4090823"/>
              <a:ext cx="144000" cy="0"/>
            </a:xfrm>
            <a:prstGeom prst="line">
              <a:avLst/>
            </a:prstGeom>
            <a:noFill/>
            <a:ln w="127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  <p:sp>
          <p:nvSpPr>
            <p:cNvPr id="12" name="Line 4">
              <a:extLst>
                <a:ext uri="{FF2B5EF4-FFF2-40B4-BE49-F238E27FC236}">
                  <a16:creationId xmlns:a16="http://schemas.microsoft.com/office/drawing/2014/main" id="{CCE340FE-04AD-4E8A-A51F-45555167C0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27034" y="4090823"/>
              <a:ext cx="144000" cy="0"/>
            </a:xfrm>
            <a:prstGeom prst="line">
              <a:avLst/>
            </a:prstGeom>
            <a:noFill/>
            <a:ln w="127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959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11B59-01F3-4633-A7DE-7FC1E96D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按位取反 </a:t>
            </a:r>
            <a:r>
              <a:rPr lang="en-US" altLang="zh-CN" dirty="0"/>
              <a:t>(Bitwise NOT) ~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C43C0-CFC2-49BF-90D0-3AC5534D1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运算规则</a:t>
            </a: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~0 = 1;</a:t>
            </a: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~1= 0;</a:t>
            </a:r>
          </a:p>
          <a:p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CABB7BD-7965-4FE2-9810-BCE9704A3FBA}"/>
              </a:ext>
            </a:extLst>
          </p:cNvPr>
          <p:cNvGrpSpPr/>
          <p:nvPr/>
        </p:nvGrpSpPr>
        <p:grpSpPr>
          <a:xfrm>
            <a:off x="4163702" y="2197212"/>
            <a:ext cx="3817017" cy="830997"/>
            <a:chOff x="4571407" y="3585347"/>
            <a:chExt cx="3817017" cy="83099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9929EB9-431B-4F22-B26D-1BB1280F7948}"/>
                </a:ext>
              </a:extLst>
            </p:cNvPr>
            <p:cNvSpPr/>
            <p:nvPr/>
          </p:nvSpPr>
          <p:spPr>
            <a:xfrm>
              <a:off x="4571407" y="3585347"/>
              <a:ext cx="3817017" cy="830997"/>
            </a:xfrm>
            <a:prstGeom prst="rect">
              <a:avLst/>
            </a:prstGeom>
            <a:solidFill>
              <a:srgbClr val="92D050">
                <a:lumMod val="20000"/>
                <a:lumOff val="80000"/>
              </a:srgbClr>
            </a:solidFill>
            <a:ln>
              <a:solidFill>
                <a:srgbClr val="92D050">
                  <a:lumMod val="75000"/>
                </a:srgbClr>
              </a:solidFill>
            </a:ln>
          </p:spPr>
          <p:txBody>
            <a:bodyPr wrap="square" lIns="36000" rIns="36000">
              <a:spAutoFit/>
            </a:bodyPr>
            <a:lstStyle/>
            <a:p>
              <a:pPr marL="176213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~ 0110,1001 (0x69)</a:t>
              </a:r>
            </a:p>
            <a:p>
              <a:pPr marL="541338" marR="0" lvl="1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微软雅黑" pitchFamily="34" charset="-122"/>
                </a:rPr>
                <a:t>1001,0110 (0x96)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84710657-6397-49C9-8036-D4002966B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414" y="4005064"/>
              <a:ext cx="3600993" cy="0"/>
            </a:xfrm>
            <a:prstGeom prst="line">
              <a:avLst/>
            </a:prstGeom>
            <a:noFill/>
            <a:ln w="38100">
              <a:solidFill>
                <a:srgbClr val="4454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541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882CF-AB19-4CE2-A924-2FAED632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左移 </a:t>
            </a:r>
            <a:r>
              <a:rPr lang="en-US" altLang="zh-CN" dirty="0"/>
              <a:t>(Left Shift) &lt;&lt;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D39E4F-18B7-4F56-907C-429A94AC9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运算规则</a:t>
            </a:r>
          </a:p>
          <a:p>
            <a:pPr lvl="1"/>
            <a:r>
              <a:rPr lang="en-US" altLang="zh-CN" dirty="0" err="1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&lt;&lt; n</a:t>
            </a:r>
          </a:p>
          <a:p>
            <a:pPr lvl="1"/>
            <a:r>
              <a:rPr lang="zh-CN" altLang="en-US" dirty="0"/>
              <a:t>把 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/>
              <a:t>各位全部向左移动 </a:t>
            </a:r>
            <a:r>
              <a:rPr lang="en-US" altLang="zh-CN" dirty="0">
                <a:solidFill>
                  <a:srgbClr val="000000"/>
                </a:solidFill>
              </a:rPr>
              <a:t>n </a:t>
            </a:r>
            <a:r>
              <a:rPr lang="zh-CN" altLang="en-US" dirty="0"/>
              <a:t>位，</a:t>
            </a:r>
            <a:r>
              <a:rPr lang="zh-CN" altLang="en-US" dirty="0">
                <a:solidFill>
                  <a:srgbClr val="FF0000"/>
                </a:solidFill>
              </a:rPr>
              <a:t>不会改变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的值</a:t>
            </a:r>
          </a:p>
          <a:p>
            <a:pPr lvl="1"/>
            <a:r>
              <a:rPr lang="zh-CN" altLang="en-US" dirty="0"/>
              <a:t>最左端的 </a:t>
            </a:r>
            <a:r>
              <a:rPr lang="en-US" altLang="zh-CN" dirty="0">
                <a:solidFill>
                  <a:srgbClr val="000000"/>
                </a:solidFill>
              </a:rPr>
              <a:t>n </a:t>
            </a:r>
            <a:r>
              <a:rPr lang="zh-CN" altLang="en-US" dirty="0"/>
              <a:t>位被移出丢弃</a:t>
            </a:r>
          </a:p>
          <a:p>
            <a:pPr lvl="1"/>
            <a:r>
              <a:rPr lang="zh-CN" altLang="en-US" dirty="0"/>
              <a:t>最右端的 </a:t>
            </a:r>
            <a:r>
              <a:rPr lang="en-US" altLang="zh-CN" dirty="0">
                <a:solidFill>
                  <a:srgbClr val="000000"/>
                </a:solidFill>
              </a:rPr>
              <a:t>n </a:t>
            </a:r>
            <a:r>
              <a:rPr lang="zh-CN" altLang="en-US" dirty="0"/>
              <a:t>位用 </a:t>
            </a:r>
            <a:r>
              <a:rPr lang="en-US" altLang="zh-CN" dirty="0">
                <a:solidFill>
                  <a:srgbClr val="000000"/>
                </a:solidFill>
              </a:rPr>
              <a:t>0 </a:t>
            </a:r>
            <a:r>
              <a:rPr lang="zh-CN" altLang="en-US" dirty="0"/>
              <a:t>补齐</a:t>
            </a:r>
          </a:p>
          <a:p>
            <a:pPr marL="0" indent="0">
              <a:buNone/>
            </a:pPr>
            <a:endParaRPr lang="en-US" altLang="zh-CN" sz="2800" dirty="0"/>
          </a:p>
          <a:p>
            <a:r>
              <a:rPr lang="zh-CN" altLang="en-US" sz="2800" dirty="0"/>
              <a:t>用法</a:t>
            </a:r>
          </a:p>
          <a:p>
            <a:pPr lvl="1"/>
            <a:r>
              <a:rPr lang="zh-CN" altLang="en-US" dirty="0"/>
              <a:t>若没有溢出，则左移 </a:t>
            </a:r>
            <a:r>
              <a:rPr lang="en-US" altLang="zh-CN" dirty="0"/>
              <a:t>n </a:t>
            </a:r>
            <a:r>
              <a:rPr lang="zh-CN" altLang="en-US" dirty="0"/>
              <a:t>位相当于乘上 </a:t>
            </a:r>
            <a:r>
              <a:rPr lang="en-US" altLang="zh-CN" dirty="0"/>
              <a:t>2</a:t>
            </a:r>
            <a:r>
              <a:rPr lang="en-US" altLang="zh-CN" baseline="30000" dirty="0"/>
              <a:t>n</a:t>
            </a:r>
          </a:p>
          <a:p>
            <a:pPr lvl="1"/>
            <a:r>
              <a:rPr lang="zh-CN" altLang="en-US" dirty="0"/>
              <a:t>运算速度比真正的乘法和幂运算快得多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644088-0467-4BA9-A8D7-EA6585A8183D}"/>
              </a:ext>
            </a:extLst>
          </p:cNvPr>
          <p:cNvSpPr/>
          <p:nvPr/>
        </p:nvSpPr>
        <p:spPr>
          <a:xfrm>
            <a:off x="1499896" y="4237893"/>
            <a:ext cx="7491073" cy="830997"/>
          </a:xfrm>
          <a:prstGeom prst="rect">
            <a:avLst/>
          </a:prstGeom>
          <a:solidFill>
            <a:srgbClr val="92D050">
              <a:lumMod val="20000"/>
              <a:lumOff val="80000"/>
            </a:srgbClr>
          </a:solidFill>
          <a:ln>
            <a:solidFill>
              <a:srgbClr val="92D050">
                <a:lumMod val="75000"/>
              </a:srgbClr>
            </a:solidFill>
          </a:ln>
        </p:spPr>
        <p:txBody>
          <a:bodyPr wrap="square" lIns="36000" rIns="36000">
            <a:spAutoFit/>
          </a:bodyPr>
          <a:lstStyle/>
          <a:p>
            <a:pPr marL="176213" marR="0" lvl="1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</a:rPr>
              <a:t>5 &lt;&lt; 3 = 40</a:t>
            </a:r>
          </a:p>
          <a:p>
            <a:pPr marL="176213" marR="0" lvl="1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</a:rPr>
              <a:t>00000101 (0x05) &lt;&lt; 3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  <a:sym typeface="Wingdings" panose="05000000000000000000" pitchFamily="2" charset="2"/>
              </a:rPr>
              <a:t> 00101000 (0x28)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018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4DB82-6FE7-40D2-B150-B5BF7439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右移 </a:t>
            </a:r>
            <a:r>
              <a:rPr lang="en-US" altLang="zh-CN" dirty="0"/>
              <a:t>(Right Shift) &gt;&gt;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EE047B-B196-4357-A995-DD16CCDCD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运算规则</a:t>
            </a:r>
          </a:p>
          <a:p>
            <a:pPr lvl="1"/>
            <a:r>
              <a:rPr lang="en-US" altLang="zh-CN" sz="2000" dirty="0" err="1">
                <a:solidFill>
                  <a:srgbClr val="0070C0"/>
                </a:solidFill>
              </a:rPr>
              <a:t>i</a:t>
            </a:r>
            <a:r>
              <a:rPr lang="en-US" altLang="zh-CN" sz="2000" dirty="0">
                <a:solidFill>
                  <a:srgbClr val="0070C0"/>
                </a:solidFill>
              </a:rPr>
              <a:t> &gt;&gt; n</a:t>
            </a:r>
          </a:p>
          <a:p>
            <a:pPr lvl="1"/>
            <a:r>
              <a:rPr lang="zh-CN" altLang="en-US" sz="2000" dirty="0"/>
              <a:t>把 </a:t>
            </a:r>
            <a:r>
              <a:rPr lang="en-US" altLang="zh-CN" sz="2000" dirty="0" err="1">
                <a:solidFill>
                  <a:srgbClr val="000000"/>
                </a:solidFill>
              </a:rPr>
              <a:t>i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/>
              <a:t>各位全部向右移动 </a:t>
            </a:r>
            <a:r>
              <a:rPr lang="en-US" altLang="zh-CN" sz="2000" dirty="0">
                <a:solidFill>
                  <a:srgbClr val="000000"/>
                </a:solidFill>
              </a:rPr>
              <a:t>n </a:t>
            </a:r>
            <a:r>
              <a:rPr lang="zh-CN" altLang="en-US" sz="2000" dirty="0"/>
              <a:t>位，</a:t>
            </a:r>
            <a:r>
              <a:rPr lang="zh-CN" altLang="en-US" sz="2000" dirty="0">
                <a:solidFill>
                  <a:srgbClr val="FF0000"/>
                </a:solidFill>
              </a:rPr>
              <a:t>不会改变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的值</a:t>
            </a:r>
          </a:p>
          <a:p>
            <a:pPr lvl="1"/>
            <a:r>
              <a:rPr lang="zh-CN" altLang="en-US" sz="2000" dirty="0"/>
              <a:t>最右端的 </a:t>
            </a:r>
            <a:r>
              <a:rPr lang="en-US" altLang="zh-CN" sz="2000" dirty="0">
                <a:solidFill>
                  <a:srgbClr val="000000"/>
                </a:solidFill>
              </a:rPr>
              <a:t>n </a:t>
            </a:r>
            <a:r>
              <a:rPr lang="zh-CN" altLang="en-US" sz="2000" dirty="0"/>
              <a:t>位被移出丢弃</a:t>
            </a:r>
          </a:p>
          <a:p>
            <a:pPr lvl="1"/>
            <a:r>
              <a:rPr lang="zh-CN" altLang="en-US" sz="2000" dirty="0"/>
              <a:t>最左端的 </a:t>
            </a:r>
            <a:r>
              <a:rPr lang="en-US" altLang="zh-CN" sz="2000" dirty="0">
                <a:solidFill>
                  <a:srgbClr val="000000"/>
                </a:solidFill>
              </a:rPr>
              <a:t>n </a:t>
            </a:r>
            <a:r>
              <a:rPr lang="zh-CN" altLang="en-US" sz="2000" dirty="0"/>
              <a:t>位用 </a:t>
            </a:r>
            <a:r>
              <a:rPr lang="en-US" altLang="zh-CN" sz="2000" dirty="0">
                <a:solidFill>
                  <a:srgbClr val="000000"/>
                </a:solidFill>
              </a:rPr>
              <a:t>0 </a:t>
            </a:r>
            <a:r>
              <a:rPr lang="zh-CN" altLang="en-US" sz="2000" dirty="0"/>
              <a:t>补齐</a:t>
            </a:r>
            <a:r>
              <a:rPr lang="en-US" altLang="zh-CN" sz="2000" dirty="0"/>
              <a:t>(</a:t>
            </a:r>
            <a:r>
              <a:rPr lang="zh-CN" altLang="en-US" sz="2000" dirty="0"/>
              <a:t>逻辑右移</a:t>
            </a:r>
            <a:r>
              <a:rPr lang="en-US" altLang="zh-CN" sz="2000" dirty="0"/>
              <a:t>)</a:t>
            </a:r>
          </a:p>
          <a:p>
            <a:pPr lvl="1"/>
            <a:r>
              <a:rPr lang="zh-CN" altLang="en-US" sz="2000" dirty="0"/>
              <a:t>或最左端的 </a:t>
            </a:r>
            <a:r>
              <a:rPr lang="en-US" altLang="zh-CN" sz="2000" dirty="0">
                <a:solidFill>
                  <a:srgbClr val="000000"/>
                </a:solidFill>
              </a:rPr>
              <a:t>n </a:t>
            </a:r>
            <a:r>
              <a:rPr lang="zh-CN" altLang="en-US" sz="2000" dirty="0"/>
              <a:t>位</a:t>
            </a:r>
            <a:r>
              <a:rPr lang="zh-CN" altLang="en-US" sz="2000" dirty="0">
                <a:highlight>
                  <a:srgbClr val="FFFF00"/>
                </a:highlight>
              </a:rPr>
              <a:t>用符号位补齐</a:t>
            </a:r>
            <a:r>
              <a:rPr lang="en-US" altLang="zh-CN" sz="2000" dirty="0"/>
              <a:t>(</a:t>
            </a:r>
            <a:r>
              <a:rPr lang="zh-CN" altLang="en-US" sz="2000" dirty="0"/>
              <a:t>算术右移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用法</a:t>
            </a:r>
          </a:p>
          <a:p>
            <a:pPr lvl="1"/>
            <a:r>
              <a:rPr lang="zh-CN" altLang="en-US" sz="2000" dirty="0"/>
              <a:t>右移 </a:t>
            </a:r>
            <a:r>
              <a:rPr lang="en-US" altLang="zh-CN" sz="2000" dirty="0">
                <a:solidFill>
                  <a:srgbClr val="000000"/>
                </a:solidFill>
              </a:rPr>
              <a:t>n </a:t>
            </a:r>
            <a:r>
              <a:rPr lang="zh-CN" altLang="en-US" sz="2000" dirty="0"/>
              <a:t>位相当于除以 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en-US" altLang="zh-CN" sz="2000" baseline="30000" dirty="0">
                <a:solidFill>
                  <a:srgbClr val="000000"/>
                </a:solidFill>
              </a:rPr>
              <a:t>n</a:t>
            </a:r>
            <a:r>
              <a:rPr lang="zh-CN" altLang="en-US" sz="2000" dirty="0"/>
              <a:t>，并舍去小数部分</a:t>
            </a:r>
          </a:p>
          <a:p>
            <a:pPr lvl="1"/>
            <a:r>
              <a:rPr lang="zh-CN" altLang="en-US" sz="2000" dirty="0"/>
              <a:t>运算速度比真正的除法和幂运算快得多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BE4AC0-C893-4322-ABFE-1DAA20C027E3}"/>
              </a:ext>
            </a:extLst>
          </p:cNvPr>
          <p:cNvSpPr/>
          <p:nvPr/>
        </p:nvSpPr>
        <p:spPr>
          <a:xfrm>
            <a:off x="1421640" y="4360997"/>
            <a:ext cx="7420735" cy="830997"/>
          </a:xfrm>
          <a:prstGeom prst="rect">
            <a:avLst/>
          </a:prstGeom>
          <a:solidFill>
            <a:srgbClr val="92D050">
              <a:lumMod val="20000"/>
              <a:lumOff val="80000"/>
            </a:srgbClr>
          </a:solidFill>
          <a:ln>
            <a:solidFill>
              <a:srgbClr val="92D050">
                <a:lumMod val="75000"/>
              </a:srgbClr>
            </a:solidFill>
          </a:ln>
        </p:spPr>
        <p:txBody>
          <a:bodyPr wrap="square" lIns="36000" rIns="36000">
            <a:spAutoFit/>
          </a:bodyPr>
          <a:lstStyle/>
          <a:p>
            <a:pPr marL="176213" marR="0" lvl="1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</a:rPr>
              <a:t>5 &gt;&gt; 2 = 1</a:t>
            </a:r>
          </a:p>
          <a:p>
            <a:pPr marL="176213" marR="0" lvl="1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</a:rPr>
              <a:t>00000101 (0x05) &gt;&gt; 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itchFamily="34" charset="-122"/>
                <a:sym typeface="Wingdings" panose="05000000000000000000" pitchFamily="2" charset="2"/>
              </a:rPr>
              <a:t> 00000001 (0x01)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微软雅黑" pitchFamily="34" charset="-122"/>
            </a:endParaRP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0AFAFFCA-135D-4DD6-9F6D-CA6A9286E36F}"/>
              </a:ext>
            </a:extLst>
          </p:cNvPr>
          <p:cNvSpPr/>
          <p:nvPr/>
        </p:nvSpPr>
        <p:spPr bwMode="auto">
          <a:xfrm>
            <a:off x="5132007" y="3053798"/>
            <a:ext cx="288032" cy="800037"/>
          </a:xfrm>
          <a:prstGeom prst="rightBrace">
            <a:avLst>
              <a:gd name="adj1" fmla="val 37023"/>
              <a:gd name="adj2" fmla="val 50000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8BD377-991E-4FCC-8E5E-54826FBB7129}"/>
              </a:ext>
            </a:extLst>
          </p:cNvPr>
          <p:cNvSpPr/>
          <p:nvPr/>
        </p:nvSpPr>
        <p:spPr>
          <a:xfrm>
            <a:off x="5420039" y="2945984"/>
            <a:ext cx="32932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由编译系统的实现者决定。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为了可移植性，最好仅对无符号数进行移位运算</a:t>
            </a:r>
          </a:p>
        </p:txBody>
      </p:sp>
    </p:spTree>
    <p:extLst>
      <p:ext uri="{BB962C8B-B14F-4D97-AF65-F5344CB8AC3E}">
        <p14:creationId xmlns:p14="http://schemas.microsoft.com/office/powerpoint/2010/main" val="407856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A38C0-79B5-40DC-942E-765857FE5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位运算的规则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139E71-0DA3-4FDD-80B4-26DDC1F26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按位运算时，两个操作数长度应相等，</a:t>
            </a:r>
            <a:endParaRPr lang="en-US" altLang="zh-CN" sz="2800" dirty="0"/>
          </a:p>
          <a:p>
            <a:r>
              <a:rPr lang="zh-CN" altLang="en-US" sz="2800" dirty="0"/>
              <a:t>否则先扩展，再运算</a:t>
            </a:r>
            <a:endParaRPr lang="en-US" altLang="zh-CN" sz="2800" dirty="0"/>
          </a:p>
          <a:p>
            <a:pPr lvl="1"/>
            <a:r>
              <a:rPr lang="zh-CN" altLang="en-US" dirty="0"/>
              <a:t>两个操作数右端对齐</a:t>
            </a:r>
          </a:p>
          <a:p>
            <a:pPr lvl="1"/>
            <a:r>
              <a:rPr lang="zh-CN" altLang="en-US" dirty="0"/>
              <a:t>短的数据左端用符号位补齐</a:t>
            </a:r>
          </a:p>
          <a:p>
            <a:pPr lvl="2"/>
            <a:r>
              <a:rPr lang="zh-CN" altLang="en-US" sz="2400" dirty="0"/>
              <a:t>正数或无符号数左端用 </a:t>
            </a:r>
            <a:r>
              <a:rPr lang="en-US" altLang="zh-CN" sz="2400" dirty="0">
                <a:solidFill>
                  <a:srgbClr val="FF0000"/>
                </a:solidFill>
              </a:rPr>
              <a:t>0 </a:t>
            </a:r>
            <a:r>
              <a:rPr lang="zh-CN" altLang="en-US" sz="2400" dirty="0"/>
              <a:t>补满</a:t>
            </a:r>
          </a:p>
          <a:p>
            <a:pPr lvl="2"/>
            <a:r>
              <a:rPr lang="zh-CN" altLang="en-US" sz="2400" dirty="0"/>
              <a:t>负数左端用 </a:t>
            </a:r>
            <a:r>
              <a:rPr lang="en-US" altLang="zh-CN" sz="2400" dirty="0">
                <a:solidFill>
                  <a:srgbClr val="FF0000"/>
                </a:solidFill>
              </a:rPr>
              <a:t>1 </a:t>
            </a:r>
            <a:r>
              <a:rPr lang="zh-CN" altLang="en-US" sz="2400" dirty="0"/>
              <a:t>补满</a:t>
            </a:r>
          </a:p>
          <a:p>
            <a:r>
              <a:rPr lang="zh-CN" altLang="en-US" sz="2800" dirty="0"/>
              <a:t>位运算符都</a:t>
            </a:r>
            <a:r>
              <a:rPr lang="zh-CN" altLang="en-US" sz="2800" dirty="0">
                <a:solidFill>
                  <a:srgbClr val="FF0000"/>
                </a:solidFill>
              </a:rPr>
              <a:t>不会改变</a:t>
            </a:r>
            <a:r>
              <a:rPr lang="zh-CN" altLang="en-US" sz="2800" dirty="0"/>
              <a:t>参与运算变量的值</a:t>
            </a:r>
            <a:endParaRPr lang="en-US" altLang="zh-CN" sz="2800" dirty="0"/>
          </a:p>
          <a:p>
            <a:r>
              <a:rPr lang="zh-CN" altLang="en-US" sz="2800" dirty="0"/>
              <a:t>复合赋值运算符（改变参与预算变量的值）</a:t>
            </a:r>
            <a:endParaRPr lang="en-US" altLang="zh-CN" sz="2800" dirty="0"/>
          </a:p>
          <a:p>
            <a:pPr marL="457200" lvl="1" indent="0">
              <a:buNone/>
            </a:pPr>
            <a:r>
              <a:rPr lang="en-US" altLang="zh-CN" dirty="0"/>
              <a:t>&amp;= ,  ^= , |= , ~=</a:t>
            </a:r>
            <a:r>
              <a:rPr lang="zh-CN" altLang="en-US" dirty="0"/>
              <a:t>，</a:t>
            </a:r>
            <a:r>
              <a:rPr lang="en-US" altLang="zh-CN" dirty="0"/>
              <a:t>&lt;&lt;= , &gt;&gt;=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253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FD1BA-39E8-4E73-9295-4DD83B16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位运算（例一）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853BF-45D5-4AD8-906F-66B80A304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例：如何判断一个 </a:t>
            </a:r>
            <a:r>
              <a:rPr lang="en-US" altLang="zh-CN" sz="2400" dirty="0">
                <a:solidFill>
                  <a:srgbClr val="0070C0"/>
                </a:solidFill>
              </a:rPr>
              <a:t>int</a:t>
            </a:r>
            <a:r>
              <a:rPr lang="en-US" altLang="zh-CN" sz="2400" dirty="0"/>
              <a:t> </a:t>
            </a:r>
            <a:r>
              <a:rPr lang="zh-CN" altLang="en-US" sz="2400" dirty="0"/>
              <a:t>型变量 </a:t>
            </a:r>
            <a:r>
              <a:rPr lang="en-US" altLang="zh-CN" sz="2400" dirty="0"/>
              <a:t>n </a:t>
            </a:r>
            <a:r>
              <a:rPr lang="zh-CN" altLang="en-US" sz="2400" dirty="0"/>
              <a:t>的第</a:t>
            </a:r>
            <a:r>
              <a:rPr lang="en-US" altLang="zh-CN" sz="2400" dirty="0"/>
              <a:t>7</a:t>
            </a:r>
            <a:r>
              <a:rPr lang="zh-CN" altLang="en-US" sz="2400" dirty="0"/>
              <a:t>位（从右往左，从 </a:t>
            </a:r>
            <a:r>
              <a:rPr lang="en-US" altLang="zh-CN" sz="2400" dirty="0"/>
              <a:t>0</a:t>
            </a:r>
            <a:r>
              <a:rPr lang="zh-CN" altLang="en-US" sz="2400" dirty="0"/>
              <a:t>开始数）是否是 </a:t>
            </a:r>
            <a:r>
              <a:rPr lang="en-US" altLang="zh-CN" sz="2400" dirty="0"/>
              <a:t>1 ?</a:t>
            </a:r>
            <a:endParaRPr lang="en-US" altLang="zh-CN" dirty="0"/>
          </a:p>
          <a:p>
            <a:r>
              <a:rPr lang="zh-CN" altLang="en-US" sz="2400" dirty="0"/>
              <a:t>答：只需看 </a:t>
            </a:r>
            <a:r>
              <a:rPr lang="en-US" altLang="zh-CN" sz="2400" dirty="0">
                <a:solidFill>
                  <a:srgbClr val="0070C0"/>
                </a:solidFill>
              </a:rPr>
              <a:t>n &amp; 0x80 </a:t>
            </a:r>
            <a:r>
              <a:rPr lang="zh-CN" altLang="en-US" sz="2400" dirty="0"/>
              <a:t>的值是否等于 </a:t>
            </a:r>
            <a:r>
              <a:rPr lang="en-US" altLang="zh-CN" sz="2400" dirty="0">
                <a:solidFill>
                  <a:srgbClr val="0070C0"/>
                </a:solidFill>
              </a:rPr>
              <a:t>0x80</a:t>
            </a:r>
            <a:r>
              <a:rPr lang="en-US" altLang="zh-CN" sz="2400" dirty="0"/>
              <a:t> </a:t>
            </a:r>
            <a:r>
              <a:rPr lang="zh-CN" altLang="en-US" sz="2400" dirty="0"/>
              <a:t>即可。</a:t>
            </a:r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cs typeface="Times New Roman" panose="02020603050405020304" pitchFamily="18" charset="0"/>
              </a:rPr>
              <a:t>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 (n)</a:t>
            </a:r>
          </a:p>
          <a:p>
            <a:pPr marL="0" indent="0"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&amp;   0000 0000 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0000 0000 </a:t>
            </a:r>
            <a:r>
              <a:rPr lang="en-US" altLang="zh-CN" sz="2400" dirty="0">
                <a:cs typeface="Times New Roman" panose="02020603050405020304" pitchFamily="18" charset="0"/>
              </a:rPr>
              <a:t>0000 0000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cs typeface="Times New Roman" panose="02020603050405020304" pitchFamily="18" charset="0"/>
              </a:rPr>
              <a:t>000 0000  (0x80)</a:t>
            </a:r>
          </a:p>
          <a:p>
            <a:pPr marL="0" indent="0"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      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0000 0000 0000 0000 </a:t>
            </a:r>
            <a:r>
              <a:rPr lang="en-US" altLang="zh-CN" sz="2400" dirty="0">
                <a:cs typeface="Times New Roman" panose="02020603050405020304" pitchFamily="18" charset="0"/>
              </a:rPr>
              <a:t>0000 0000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cs typeface="Times New Roman" panose="02020603050405020304" pitchFamily="18" charset="0"/>
              </a:rPr>
              <a:t>000 0000 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588B2CE-DD26-4814-AD72-083EE3C1EE0F}"/>
              </a:ext>
            </a:extLst>
          </p:cNvPr>
          <p:cNvCxnSpPr>
            <a:cxnSpLocks/>
          </p:cNvCxnSpPr>
          <p:nvPr/>
        </p:nvCxnSpPr>
        <p:spPr>
          <a:xfrm flipV="1">
            <a:off x="597876" y="4545623"/>
            <a:ext cx="8244499" cy="72493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02263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95505-E635-49E5-89EB-F9D75C87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位运算（例二）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27C4F0-FDCF-4A95-80D9-3CB48723B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例：将 </a:t>
            </a:r>
            <a:r>
              <a:rPr lang="en-US" altLang="zh-CN" sz="2800" dirty="0"/>
              <a:t>16 </a:t>
            </a:r>
            <a:r>
              <a:rPr lang="zh-CN" altLang="en-US" sz="2800" dirty="0"/>
              <a:t>进制短整数按二进制打印输出</a:t>
            </a:r>
            <a:endParaRPr lang="en-US" altLang="zh-CN" sz="2800" dirty="0"/>
          </a:p>
          <a:p>
            <a:pPr lvl="1">
              <a:tabLst>
                <a:tab pos="4394200" algn="l"/>
              </a:tabLst>
            </a:pPr>
            <a:r>
              <a:rPr lang="zh-CN" altLang="en-US" dirty="0"/>
              <a:t>输入：</a:t>
            </a:r>
            <a:r>
              <a:rPr lang="en-US" altLang="zh-CN" dirty="0">
                <a:solidFill>
                  <a:srgbClr val="0070C0"/>
                </a:solidFill>
              </a:rPr>
              <a:t>F1E2</a:t>
            </a:r>
          </a:p>
          <a:p>
            <a:pPr lvl="1">
              <a:tabLst>
                <a:tab pos="4394200" algn="l"/>
              </a:tabLst>
            </a:pPr>
            <a:r>
              <a:rPr lang="zh-CN" altLang="en-US" dirty="0"/>
              <a:t>输出：</a:t>
            </a:r>
            <a:r>
              <a:rPr lang="en-US" altLang="zh-CN" dirty="0">
                <a:solidFill>
                  <a:srgbClr val="0070C0"/>
                </a:solidFill>
              </a:rPr>
              <a:t>1111000111100010</a:t>
            </a:r>
          </a:p>
          <a:p>
            <a:pPr lvl="1">
              <a:tabLst>
                <a:tab pos="4394200" algn="l"/>
              </a:tabLst>
            </a:pPr>
            <a:r>
              <a:rPr lang="zh-CN" altLang="en-US" dirty="0"/>
              <a:t>输入：</a:t>
            </a:r>
            <a:r>
              <a:rPr lang="en-US" altLang="zh-CN" dirty="0">
                <a:solidFill>
                  <a:srgbClr val="0070C0"/>
                </a:solidFill>
              </a:rPr>
              <a:t>13A5</a:t>
            </a:r>
          </a:p>
          <a:p>
            <a:pPr lvl="1">
              <a:tabLst>
                <a:tab pos="4394200" algn="l"/>
              </a:tabLst>
            </a:pPr>
            <a:r>
              <a:rPr lang="zh-CN" altLang="en-US" dirty="0"/>
              <a:t>输出：</a:t>
            </a:r>
            <a:r>
              <a:rPr lang="en-US" altLang="zh-CN" dirty="0">
                <a:solidFill>
                  <a:srgbClr val="0070C0"/>
                </a:solidFill>
              </a:rPr>
              <a:t>0001001110100101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A4728BCC-7373-412C-9C3A-E4922EDA3D6A}"/>
              </a:ext>
            </a:extLst>
          </p:cNvPr>
          <p:cNvSpPr/>
          <p:nvPr/>
        </p:nvSpPr>
        <p:spPr bwMode="auto">
          <a:xfrm>
            <a:off x="5049301" y="2324368"/>
            <a:ext cx="3793074" cy="3642922"/>
          </a:xfrm>
          <a:prstGeom prst="verticalScroll">
            <a:avLst>
              <a:gd name="adj" fmla="val 46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#include &lt;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stdio.h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&gt;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void main() 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short a;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scanf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("%X", &amp;a);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for 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=15;i&gt;=0;i--)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("%1d",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a&amp;1&lt;&lt;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? 1 : 0);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166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8D94F-7D5A-4FD0-92A9-FF579B60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异或运算的特点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825F8-97A3-4700-A184-80F96B77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68367"/>
            <a:ext cx="8540750" cy="4542383"/>
          </a:xfrm>
        </p:spPr>
        <p:txBody>
          <a:bodyPr/>
          <a:lstStyle/>
          <a:p>
            <a:r>
              <a:rPr lang="zh-CN" altLang="en-US" dirty="0"/>
              <a:t>异或运算的特点是：</a:t>
            </a:r>
          </a:p>
          <a:p>
            <a:pPr lvl="1"/>
            <a:r>
              <a:rPr lang="zh-CN" altLang="pt-BR" sz="2000" dirty="0"/>
              <a:t>如果 </a:t>
            </a:r>
            <a:r>
              <a:rPr lang="pt-BR" altLang="zh-CN" sz="2000" dirty="0">
                <a:solidFill>
                  <a:srgbClr val="0070C0"/>
                </a:solidFill>
              </a:rPr>
              <a:t>a^b=c</a:t>
            </a:r>
            <a:r>
              <a:rPr lang="zh-CN" altLang="pt-BR" sz="2000" dirty="0"/>
              <a:t>，那么就有 </a:t>
            </a:r>
            <a:r>
              <a:rPr lang="pt-BR" altLang="zh-CN" sz="2000" dirty="0">
                <a:solidFill>
                  <a:srgbClr val="0070C0"/>
                </a:solidFill>
              </a:rPr>
              <a:t>c^b = a </a:t>
            </a:r>
            <a:r>
              <a:rPr lang="zh-CN" altLang="pt-BR" sz="2000" dirty="0"/>
              <a:t>以及 </a:t>
            </a:r>
            <a:r>
              <a:rPr lang="pt-BR" altLang="zh-CN" sz="2000" dirty="0">
                <a:solidFill>
                  <a:srgbClr val="0070C0"/>
                </a:solidFill>
              </a:rPr>
              <a:t>c^a=b</a:t>
            </a:r>
          </a:p>
          <a:p>
            <a:r>
              <a:rPr lang="zh-CN" altLang="en-US" dirty="0"/>
              <a:t>此规律可以用来进行最简单的加密和解密以及信息校验</a:t>
            </a:r>
          </a:p>
          <a:p>
            <a:pPr lvl="1"/>
            <a:r>
              <a:rPr lang="zh-CN" altLang="en-US" sz="2000" dirty="0"/>
              <a:t>加密：明文</a:t>
            </a:r>
            <a:r>
              <a:rPr lang="en-US" altLang="zh-CN" sz="2000" dirty="0"/>
              <a:t>^</a:t>
            </a:r>
            <a:r>
              <a:rPr lang="zh-CN" altLang="en-US" sz="2000" dirty="0"/>
              <a:t>密钥</a:t>
            </a:r>
            <a:r>
              <a:rPr lang="en-US" altLang="zh-CN" sz="2000" dirty="0"/>
              <a:t>=</a:t>
            </a:r>
            <a:r>
              <a:rPr lang="zh-CN" altLang="en-US" sz="2000" dirty="0"/>
              <a:t>密文；解密：密文</a:t>
            </a:r>
            <a:r>
              <a:rPr lang="en-US" altLang="zh-CN" sz="2000" dirty="0"/>
              <a:t>^</a:t>
            </a:r>
            <a:r>
              <a:rPr lang="zh-CN" altLang="en-US" sz="2000" dirty="0"/>
              <a:t>密钥</a:t>
            </a:r>
            <a:r>
              <a:rPr lang="en-US" altLang="zh-CN" sz="2000" dirty="0"/>
              <a:t>=</a:t>
            </a:r>
            <a:r>
              <a:rPr lang="zh-CN" altLang="en-US" sz="2000" dirty="0"/>
              <a:t>明文</a:t>
            </a:r>
            <a:endParaRPr lang="en-US" altLang="zh-CN" sz="2000" dirty="0"/>
          </a:p>
          <a:p>
            <a:pPr lvl="1"/>
            <a:r>
              <a:rPr lang="zh-CN" altLang="en-US" sz="2000" dirty="0"/>
              <a:t>校验：信息（</a:t>
            </a:r>
            <a:r>
              <a:rPr lang="en-US" altLang="zh-CN" sz="2000" dirty="0"/>
              <a:t>a b c d</a:t>
            </a:r>
            <a:r>
              <a:rPr lang="zh-CN" altLang="en-US" sz="2000" dirty="0"/>
              <a:t>）</a:t>
            </a:r>
            <a:r>
              <a:rPr lang="en-US" altLang="zh-CN" sz="2000" dirty="0"/>
              <a:t>+ </a:t>
            </a:r>
            <a:r>
              <a:rPr lang="zh-CN" altLang="en-US" sz="2000" dirty="0"/>
              <a:t>校验码（</a:t>
            </a:r>
            <a:r>
              <a:rPr lang="en-US" altLang="zh-CN" sz="2000" dirty="0" err="1">
                <a:solidFill>
                  <a:srgbClr val="0070C0"/>
                </a:solidFill>
              </a:rPr>
              <a:t>a^b^c^d</a:t>
            </a:r>
            <a:r>
              <a:rPr lang="zh-CN" altLang="en-US" sz="2000" dirty="0"/>
              <a:t>）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还可以用来交换两位数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和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b</a:t>
            </a:r>
          </a:p>
          <a:p>
            <a:pPr lvl="1"/>
            <a:r>
              <a:rPr lang="en-US" altLang="zh-CN" sz="2000" dirty="0">
                <a:solidFill>
                  <a:srgbClr val="0070C0"/>
                </a:solidFill>
              </a:rPr>
              <a:t>a=</a:t>
            </a:r>
            <a:r>
              <a:rPr lang="en-US" altLang="zh-CN" sz="2000" dirty="0" err="1">
                <a:solidFill>
                  <a:srgbClr val="0070C0"/>
                </a:solidFill>
              </a:rPr>
              <a:t>a^b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/>
            <a:r>
              <a:rPr lang="en-US" altLang="zh-CN" sz="2000" dirty="0">
                <a:solidFill>
                  <a:srgbClr val="0070C0"/>
                </a:solidFill>
              </a:rPr>
              <a:t>b=</a:t>
            </a:r>
            <a:r>
              <a:rPr lang="en-US" altLang="zh-CN" sz="2000" dirty="0" err="1">
                <a:solidFill>
                  <a:srgbClr val="0070C0"/>
                </a:solidFill>
              </a:rPr>
              <a:t>a^b</a:t>
            </a:r>
            <a:r>
              <a:rPr lang="zh-CN" altLang="en-US" sz="2000" dirty="0"/>
              <a:t>，即：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70C0"/>
                </a:solidFill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</a:rPr>
              <a:t>a^b</a:t>
            </a:r>
            <a:r>
              <a:rPr lang="en-US" altLang="zh-CN" sz="2000" dirty="0">
                <a:solidFill>
                  <a:srgbClr val="0070C0"/>
                </a:solidFill>
              </a:rPr>
              <a:t>)^b = a</a:t>
            </a:r>
          </a:p>
          <a:p>
            <a:pPr lvl="1"/>
            <a:r>
              <a:rPr lang="en-US" altLang="zh-CN" sz="2000" dirty="0">
                <a:solidFill>
                  <a:srgbClr val="0070C0"/>
                </a:solidFill>
              </a:rPr>
              <a:t>a=</a:t>
            </a:r>
            <a:r>
              <a:rPr lang="en-US" altLang="zh-CN" sz="2000" dirty="0" err="1">
                <a:solidFill>
                  <a:srgbClr val="0070C0"/>
                </a:solidFill>
              </a:rPr>
              <a:t>a^b</a:t>
            </a:r>
            <a:r>
              <a:rPr lang="zh-CN" altLang="en-US" sz="2000" dirty="0"/>
              <a:t>，即：  </a:t>
            </a:r>
            <a:r>
              <a:rPr lang="en-US" altLang="zh-CN" sz="2000" dirty="0">
                <a:solidFill>
                  <a:srgbClr val="0070C0"/>
                </a:solidFill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</a:rPr>
              <a:t>a^b</a:t>
            </a:r>
            <a:r>
              <a:rPr lang="en-US" altLang="zh-CN" sz="2000" dirty="0">
                <a:solidFill>
                  <a:srgbClr val="0070C0"/>
                </a:solidFill>
              </a:rPr>
              <a:t>)^a = b</a:t>
            </a:r>
            <a:endParaRPr lang="zh-CN" altLang="en-US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872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07FB7-DF2C-4C78-8BAA-E1F91668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位运算（例三）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8F65FA-4EFB-473C-8479-C9D4974CA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308186"/>
            <a:ext cx="8540750" cy="4790989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例：在一个整数数组中，仅存在一个不重复的数字，其余数字均出现两次（或偶数次），找出不重复数字。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903F7D90-409F-4483-B412-04859DB98CDA}"/>
              </a:ext>
            </a:extLst>
          </p:cNvPr>
          <p:cNvSpPr/>
          <p:nvPr/>
        </p:nvSpPr>
        <p:spPr bwMode="auto">
          <a:xfrm>
            <a:off x="301625" y="2376480"/>
            <a:ext cx="4189444" cy="3244578"/>
          </a:xfrm>
          <a:prstGeom prst="verticalScroll">
            <a:avLst>
              <a:gd name="adj" fmla="val 2706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N; ++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 {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c = 0;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for 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j = 0; j &lt; N; ++j)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if 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!= j &amp;&amp; a[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 == a[j])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++c;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if 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 % 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!= 0)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return a[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5" name="卷形: 垂直 4">
            <a:extLst>
              <a:ext uri="{FF2B5EF4-FFF2-40B4-BE49-F238E27FC236}">
                <a16:creationId xmlns:a16="http://schemas.microsoft.com/office/drawing/2014/main" id="{E3D0349E-7F17-4763-97E2-6A76860C986D}"/>
              </a:ext>
            </a:extLst>
          </p:cNvPr>
          <p:cNvSpPr/>
          <p:nvPr/>
        </p:nvSpPr>
        <p:spPr bwMode="auto">
          <a:xfrm>
            <a:off x="4715243" y="2379907"/>
            <a:ext cx="4189444" cy="1761011"/>
          </a:xfrm>
          <a:prstGeom prst="verticalScroll">
            <a:avLst>
              <a:gd name="adj" fmla="val 5316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r = 0;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N; ++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 = r ^ a[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return r;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D95D43-D151-494B-9478-CD771A61E660}"/>
              </a:ext>
            </a:extLst>
          </p:cNvPr>
          <p:cNvSpPr txBox="1"/>
          <p:nvPr/>
        </p:nvSpPr>
        <p:spPr>
          <a:xfrm>
            <a:off x="511857" y="5749616"/>
            <a:ext cx="3256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双重循环的解法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2400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D1ECEF-B59D-4C2B-97F6-4751AE25B557}"/>
              </a:ext>
            </a:extLst>
          </p:cNvPr>
          <p:cNvSpPr txBox="1"/>
          <p:nvPr/>
        </p:nvSpPr>
        <p:spPr>
          <a:xfrm>
            <a:off x="4995205" y="4180344"/>
            <a:ext cx="331052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按位异或的解法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^ a = 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^ a = 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^ a ^ a = 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^ a ^ a ^ a = 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^ b ^ a ^ a ^ b = a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90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A2FBD-14AB-4998-B446-21378925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位运算（例四）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C31B02-4D48-4C36-970E-8135AE4C3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47446"/>
            <a:ext cx="8540750" cy="499403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int</a:t>
            </a:r>
            <a:r>
              <a:rPr lang="en-US" altLang="zh-CN" sz="1800" dirty="0"/>
              <a:t> n1 = 15                     : </a:t>
            </a:r>
            <a:r>
              <a:rPr lang="en-US" altLang="zh-CN" sz="1800" dirty="0">
                <a:solidFill>
                  <a:srgbClr val="000000"/>
                </a:solidFill>
              </a:rPr>
              <a:t>0000 0000 0000 0000 0000 0000 0000 </a:t>
            </a:r>
            <a:r>
              <a:rPr lang="en-US" altLang="zh-CN" sz="1800" dirty="0">
                <a:solidFill>
                  <a:srgbClr val="FF0000"/>
                </a:solidFill>
              </a:rPr>
              <a:t>1111</a:t>
            </a:r>
            <a:r>
              <a:rPr lang="en-US" altLang="zh-CN" sz="1800" dirty="0">
                <a:solidFill>
                  <a:srgbClr val="0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short</a:t>
            </a:r>
            <a:r>
              <a:rPr lang="en-US" altLang="zh-CN" sz="1800" dirty="0"/>
              <a:t> n2 = 15                 : </a:t>
            </a:r>
            <a:r>
              <a:rPr lang="en-US" altLang="zh-CN" sz="1800" dirty="0">
                <a:solidFill>
                  <a:srgbClr val="000000"/>
                </a:solidFill>
              </a:rPr>
              <a:t>0000 0000 0000 </a:t>
            </a:r>
            <a:r>
              <a:rPr lang="en-US" altLang="zh-CN" sz="1800" dirty="0">
                <a:solidFill>
                  <a:srgbClr val="FF0000"/>
                </a:solidFill>
              </a:rPr>
              <a:t>1111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unsigned short </a:t>
            </a:r>
            <a:r>
              <a:rPr lang="en-US" altLang="zh-CN" sz="1800" dirty="0"/>
              <a:t>n3 = 15 : </a:t>
            </a:r>
            <a:r>
              <a:rPr lang="en-US" altLang="zh-CN" sz="1800" dirty="0">
                <a:solidFill>
                  <a:srgbClr val="000000"/>
                </a:solidFill>
              </a:rPr>
              <a:t>0000 0000 0000 </a:t>
            </a:r>
            <a:r>
              <a:rPr lang="en-US" altLang="zh-CN" sz="1800" dirty="0">
                <a:solidFill>
                  <a:srgbClr val="FF0000"/>
                </a:solidFill>
              </a:rPr>
              <a:t>1111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unsigned char </a:t>
            </a:r>
            <a:r>
              <a:rPr lang="en-US" altLang="zh-CN" sz="1800" dirty="0"/>
              <a:t>c = 15     : </a:t>
            </a:r>
            <a:r>
              <a:rPr lang="en-US" altLang="zh-CN" sz="1800" dirty="0">
                <a:solidFill>
                  <a:srgbClr val="000000"/>
                </a:solidFill>
              </a:rPr>
              <a:t>0000 </a:t>
            </a:r>
            <a:r>
              <a:rPr lang="en-US" altLang="zh-CN" sz="1800" dirty="0">
                <a:solidFill>
                  <a:srgbClr val="FF0000"/>
                </a:solidFill>
              </a:rPr>
              <a:t>1111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1800" dirty="0"/>
              <a:t>n1 &lt;&lt;= 15</a:t>
            </a:r>
            <a:r>
              <a:rPr lang="zh-CN" altLang="en-US" sz="1800" dirty="0"/>
              <a:t>，</a:t>
            </a:r>
            <a:r>
              <a:rPr lang="en-US" altLang="zh-CN" sz="1800" dirty="0"/>
              <a:t>(</a:t>
            </a:r>
            <a:r>
              <a:rPr lang="zh-CN" altLang="en-US" sz="1800" dirty="0"/>
              <a:t>变成</a:t>
            </a:r>
            <a:r>
              <a:rPr lang="en-US" altLang="zh-CN" sz="1800" dirty="0"/>
              <a:t>78000  ) </a:t>
            </a:r>
            <a:r>
              <a:rPr lang="zh-CN" altLang="en-US" sz="1800" dirty="0"/>
              <a:t>：</a:t>
            </a:r>
            <a:r>
              <a:rPr lang="en-US" altLang="zh-CN" sz="1800" dirty="0"/>
              <a:t>0000 0000 0000 0</a:t>
            </a:r>
            <a:r>
              <a:rPr lang="en-US" altLang="zh-CN" sz="1800" dirty="0">
                <a:solidFill>
                  <a:srgbClr val="FF0000"/>
                </a:solidFill>
              </a:rPr>
              <a:t>111 1</a:t>
            </a:r>
            <a:r>
              <a:rPr lang="en-US" altLang="zh-CN" sz="1800" dirty="0"/>
              <a:t>000 0000 0000 0000</a:t>
            </a:r>
          </a:p>
          <a:p>
            <a:pPr marL="0" indent="0">
              <a:buNone/>
            </a:pPr>
            <a:r>
              <a:rPr lang="en-US" altLang="zh-CN" sz="1800" dirty="0"/>
              <a:t>n2 &lt;&lt;= 15</a:t>
            </a:r>
            <a:r>
              <a:rPr lang="zh-CN" altLang="en-US" sz="1800" dirty="0"/>
              <a:t>，</a:t>
            </a:r>
            <a:r>
              <a:rPr lang="en-US" altLang="zh-CN" sz="1800" dirty="0"/>
              <a:t>(</a:t>
            </a:r>
            <a:r>
              <a:rPr lang="zh-CN" altLang="en-US" sz="1800" dirty="0"/>
              <a:t>变成</a:t>
            </a:r>
            <a:r>
              <a:rPr lang="en-US" altLang="zh-CN" sz="1800" dirty="0"/>
              <a:t>-32768 ) </a:t>
            </a:r>
            <a:r>
              <a:rPr lang="zh-CN" altLang="en-US" sz="1800" dirty="0"/>
              <a:t>：</a:t>
            </a:r>
            <a:r>
              <a:rPr lang="en-US" altLang="zh-CN" sz="1800" dirty="0">
                <a:solidFill>
                  <a:srgbClr val="FF0000"/>
                </a:solidFill>
              </a:rPr>
              <a:t>1</a:t>
            </a:r>
            <a:r>
              <a:rPr lang="en-US" altLang="zh-CN" sz="1800" dirty="0"/>
              <a:t>000 0000 0000 0000</a:t>
            </a:r>
          </a:p>
          <a:p>
            <a:pPr marL="0" indent="0">
              <a:buNone/>
            </a:pPr>
            <a:r>
              <a:rPr lang="en-US" altLang="zh-CN" sz="1800" dirty="0"/>
              <a:t>n3 &lt;&lt;= 15</a:t>
            </a:r>
            <a:r>
              <a:rPr lang="zh-CN" altLang="en-US" sz="1800" dirty="0"/>
              <a:t>，</a:t>
            </a:r>
            <a:r>
              <a:rPr lang="en-US" altLang="zh-CN" sz="1800" dirty="0"/>
              <a:t>(</a:t>
            </a:r>
            <a:r>
              <a:rPr lang="zh-CN" altLang="en-US" sz="1800" dirty="0"/>
              <a:t>变成 </a:t>
            </a:r>
            <a:r>
              <a:rPr lang="en-US" altLang="zh-CN" sz="1800" dirty="0"/>
              <a:t>32768 ) </a:t>
            </a:r>
            <a:r>
              <a:rPr lang="zh-CN" altLang="en-US" sz="1800" dirty="0"/>
              <a:t>：</a:t>
            </a:r>
            <a:r>
              <a:rPr lang="en-US" altLang="zh-CN" sz="1800" dirty="0">
                <a:solidFill>
                  <a:srgbClr val="FF0000"/>
                </a:solidFill>
              </a:rPr>
              <a:t>1</a:t>
            </a:r>
            <a:r>
              <a:rPr lang="en-US" altLang="zh-CN" sz="1800" dirty="0"/>
              <a:t>000 0000 0000 0000</a:t>
            </a:r>
          </a:p>
          <a:p>
            <a:pPr marL="0" indent="0">
              <a:buNone/>
            </a:pPr>
            <a:r>
              <a:rPr lang="en-US" altLang="zh-CN" sz="1800" dirty="0"/>
              <a:t>c   &lt;&lt;= 6  </a:t>
            </a:r>
            <a:r>
              <a:rPr lang="zh-CN" altLang="en-US" sz="1800" dirty="0"/>
              <a:t>，</a:t>
            </a:r>
            <a:r>
              <a:rPr lang="en-US" altLang="zh-CN" sz="1800" dirty="0"/>
              <a:t>(</a:t>
            </a:r>
            <a:r>
              <a:rPr lang="zh-CN" altLang="en-US" sz="1800" dirty="0"/>
              <a:t>变成 </a:t>
            </a:r>
            <a:r>
              <a:rPr lang="en-US" altLang="zh-CN" sz="1800" dirty="0"/>
              <a:t>0xc0  )   </a:t>
            </a:r>
            <a:r>
              <a:rPr lang="zh-CN" altLang="en-US" sz="1800" dirty="0"/>
              <a:t>：</a:t>
            </a:r>
            <a:r>
              <a:rPr lang="en-US" altLang="zh-CN" sz="1800" dirty="0">
                <a:solidFill>
                  <a:srgbClr val="FF0000"/>
                </a:solidFill>
              </a:rPr>
              <a:t>11</a:t>
            </a:r>
            <a:r>
              <a:rPr lang="en-US" altLang="zh-CN" sz="1800" dirty="0"/>
              <a:t>00 0000	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int </a:t>
            </a:r>
            <a:r>
              <a:rPr lang="en-US" altLang="zh-CN" sz="1800" dirty="0"/>
              <a:t>n4 = c &lt;&lt; 4 </a:t>
            </a:r>
            <a:r>
              <a:rPr lang="zh-CN" altLang="en-US" sz="1800" dirty="0"/>
              <a:t>这个表达式是先将 </a:t>
            </a:r>
            <a:r>
              <a:rPr lang="en-US" altLang="zh-CN" sz="1800" dirty="0"/>
              <a:t>c </a:t>
            </a:r>
            <a:r>
              <a:rPr lang="zh-CN" altLang="en-US" sz="1800" dirty="0"/>
              <a:t>转换成整型：</a:t>
            </a:r>
          </a:p>
          <a:p>
            <a:pPr marL="0" indent="0"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0000 0000 0000 0000 0000 0000 </a:t>
            </a:r>
            <a:r>
              <a:rPr lang="en-US" altLang="zh-CN" sz="1800" dirty="0">
                <a:solidFill>
                  <a:srgbClr val="FF0000"/>
                </a:solidFill>
              </a:rPr>
              <a:t>11</a:t>
            </a:r>
            <a:r>
              <a:rPr lang="en-US" altLang="zh-CN" sz="1800" dirty="0"/>
              <a:t>00 0000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zh-CN" altLang="en-US" sz="1800" dirty="0"/>
              <a:t>然后再左移，即： 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0070C0"/>
                </a:solidFill>
              </a:rPr>
              <a:t>int</a:t>
            </a:r>
            <a:r>
              <a:rPr lang="en-US" altLang="zh-CN" sz="1800" dirty="0"/>
              <a:t>)(c&lt;&lt;4)=3072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250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4A221-2081-4212-80C7-29E46E57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位运算（例五）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752D49-E2EF-414E-8ABA-AE01296E2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int</a:t>
            </a:r>
            <a:r>
              <a:rPr lang="en-US" altLang="zh-CN" sz="2000" dirty="0"/>
              <a:t> n1 = 15                  : 0000 0000 0000 0000 0000 0000 0000 </a:t>
            </a:r>
            <a:r>
              <a:rPr lang="en-US" altLang="zh-CN" sz="2000" dirty="0">
                <a:solidFill>
                  <a:srgbClr val="FF0000"/>
                </a:solidFill>
              </a:rPr>
              <a:t>1111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short </a:t>
            </a:r>
            <a:r>
              <a:rPr lang="en-US" altLang="zh-CN" sz="2000" dirty="0"/>
              <a:t>n2 = -15                     : </a:t>
            </a:r>
            <a:r>
              <a:rPr lang="en-US" altLang="zh-CN" sz="2000" dirty="0">
                <a:solidFill>
                  <a:srgbClr val="FF0000"/>
                </a:solidFill>
              </a:rPr>
              <a:t>1111 1111 1111 </a:t>
            </a:r>
            <a:r>
              <a:rPr lang="en-US" altLang="zh-CN" sz="2000" dirty="0"/>
              <a:t>000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unsigned short </a:t>
            </a:r>
            <a:r>
              <a:rPr lang="en-US" altLang="zh-CN" sz="2000" dirty="0"/>
              <a:t>n3 = 0xffe0 : </a:t>
            </a:r>
            <a:r>
              <a:rPr lang="en-US" altLang="zh-CN" sz="2000" dirty="0">
                <a:solidFill>
                  <a:srgbClr val="FF0000"/>
                </a:solidFill>
              </a:rPr>
              <a:t>1111 1111 111</a:t>
            </a:r>
            <a:r>
              <a:rPr lang="en-US" altLang="zh-CN" sz="2000" dirty="0"/>
              <a:t>0 0000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unsigned char </a:t>
            </a:r>
            <a:r>
              <a:rPr lang="en-US" altLang="zh-CN" sz="2000" dirty="0"/>
              <a:t>c = 15           :  0000 </a:t>
            </a:r>
            <a:r>
              <a:rPr lang="en-US" altLang="zh-CN" sz="2000" dirty="0">
                <a:solidFill>
                  <a:srgbClr val="FF0000"/>
                </a:solidFill>
              </a:rPr>
              <a:t>1111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n1 &gt;&gt;= 2</a:t>
            </a:r>
            <a:r>
              <a:rPr lang="zh-CN" altLang="en-US" sz="2000" dirty="0"/>
              <a:t>，变成</a:t>
            </a:r>
            <a:r>
              <a:rPr lang="en-US" altLang="zh-CN" sz="2000" dirty="0"/>
              <a:t>3        </a:t>
            </a:r>
            <a:r>
              <a:rPr lang="zh-CN" altLang="en-US" sz="2000" dirty="0"/>
              <a:t>：</a:t>
            </a:r>
            <a:r>
              <a:rPr lang="en-US" altLang="zh-CN" sz="2000" dirty="0"/>
              <a:t>0000 0000 0000 0000 0000 0000 0000 00</a:t>
            </a:r>
            <a:r>
              <a:rPr lang="en-US" altLang="zh-CN" sz="2000" dirty="0">
                <a:solidFill>
                  <a:srgbClr val="FF0000"/>
                </a:solidFill>
              </a:rPr>
              <a:t>11</a:t>
            </a:r>
          </a:p>
          <a:p>
            <a:pPr marL="0" indent="0">
              <a:buNone/>
            </a:pPr>
            <a:r>
              <a:rPr lang="en-US" altLang="zh-CN" sz="2000" dirty="0"/>
              <a:t>n2 &gt;&gt;= 3</a:t>
            </a:r>
            <a:r>
              <a:rPr lang="zh-CN" altLang="en-US" sz="2000" dirty="0"/>
              <a:t>，变成</a:t>
            </a:r>
            <a:r>
              <a:rPr lang="en-US" altLang="zh-CN" sz="2000" dirty="0"/>
              <a:t>-2       </a:t>
            </a:r>
            <a:r>
              <a:rPr lang="zh-CN" altLang="en-US" sz="2000" dirty="0"/>
              <a:t>：</a:t>
            </a:r>
            <a:r>
              <a:rPr lang="en-US" altLang="zh-CN" sz="2000" dirty="0">
                <a:solidFill>
                  <a:srgbClr val="FF0000"/>
                </a:solidFill>
              </a:rPr>
              <a:t>1111 1111 1111 111</a:t>
            </a:r>
            <a:r>
              <a:rPr lang="en-US" altLang="zh-CN" sz="2000" dirty="0"/>
              <a:t>0</a:t>
            </a:r>
          </a:p>
          <a:p>
            <a:pPr marL="0" indent="0">
              <a:buNone/>
            </a:pPr>
            <a:r>
              <a:rPr lang="en-US" altLang="zh-CN" sz="2000" dirty="0"/>
              <a:t>n3 &gt;&gt;= 4</a:t>
            </a:r>
            <a:r>
              <a:rPr lang="zh-CN" altLang="en-US" sz="2000" dirty="0"/>
              <a:t>，变成 </a:t>
            </a:r>
            <a:r>
              <a:rPr lang="en-US" altLang="zh-CN" sz="2000" dirty="0"/>
              <a:t>0xffe </a:t>
            </a:r>
            <a:r>
              <a:rPr lang="zh-CN" altLang="en-US" sz="2000" dirty="0"/>
              <a:t>：</a:t>
            </a:r>
            <a:r>
              <a:rPr lang="en-US" altLang="zh-CN" sz="2000" dirty="0"/>
              <a:t>0000 </a:t>
            </a:r>
            <a:r>
              <a:rPr lang="en-US" altLang="zh-CN" sz="2000" dirty="0">
                <a:solidFill>
                  <a:srgbClr val="FF0000"/>
                </a:solidFill>
              </a:rPr>
              <a:t>1111 1111 111</a:t>
            </a:r>
            <a:r>
              <a:rPr lang="en-US" altLang="zh-CN" sz="2000" dirty="0"/>
              <a:t>0</a:t>
            </a:r>
          </a:p>
          <a:p>
            <a:pPr marL="0" indent="0">
              <a:buNone/>
            </a:pPr>
            <a:r>
              <a:rPr lang="en-US" altLang="zh-CN" sz="2000" dirty="0"/>
              <a:t>c &gt;&gt;= 3  </a:t>
            </a:r>
            <a:r>
              <a:rPr lang="zh-CN" altLang="en-US" sz="2000" dirty="0"/>
              <a:t>， 变成</a:t>
            </a:r>
            <a:r>
              <a:rPr lang="en-US" altLang="zh-CN" sz="2000" dirty="0"/>
              <a:t>1        </a:t>
            </a:r>
            <a:r>
              <a:rPr lang="zh-CN" altLang="en-US" sz="2000" dirty="0"/>
              <a:t>：</a:t>
            </a:r>
            <a:r>
              <a:rPr lang="en-US" altLang="zh-CN" sz="2000" dirty="0"/>
              <a:t>0000 000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5902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25F97-F217-4971-A66B-DEC6B4B9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位运算（例六）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E5C835-E952-4C41-9141-08C1AA396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例：有两个个</a:t>
            </a:r>
            <a:r>
              <a:rPr lang="en-US" altLang="zh-CN" sz="2400" dirty="0"/>
              <a:t>int</a:t>
            </a:r>
            <a:r>
              <a:rPr lang="zh-CN" altLang="en-US" sz="2400" dirty="0"/>
              <a:t>型变量 </a:t>
            </a:r>
            <a:r>
              <a:rPr lang="en-US" altLang="zh-CN" sz="2400" dirty="0"/>
              <a:t>a </a:t>
            </a:r>
            <a:r>
              <a:rPr lang="zh-CN" altLang="en-US" sz="2400" dirty="0"/>
              <a:t>和 </a:t>
            </a:r>
            <a:r>
              <a:rPr lang="en-US" altLang="zh-CN" sz="2400" dirty="0"/>
              <a:t>n</a:t>
            </a:r>
            <a:r>
              <a:rPr lang="zh-CN" altLang="en-US" sz="2400" dirty="0"/>
              <a:t>（</a:t>
            </a:r>
            <a:r>
              <a:rPr lang="en-US" altLang="zh-CN" sz="2400" dirty="0">
                <a:solidFill>
                  <a:srgbClr val="0070C0"/>
                </a:solidFill>
              </a:rPr>
              <a:t>0 ≤ n ≤ 31</a:t>
            </a:r>
            <a:r>
              <a:rPr lang="zh-CN" altLang="en-US" sz="2400" dirty="0"/>
              <a:t>），求 </a:t>
            </a:r>
            <a:r>
              <a:rPr lang="en-US" altLang="zh-CN" sz="2400" dirty="0"/>
              <a:t>a </a:t>
            </a:r>
            <a:r>
              <a:rPr lang="zh-CN" altLang="en-US" sz="2400" dirty="0"/>
              <a:t>的第 </a:t>
            </a:r>
            <a:r>
              <a:rPr lang="en-US" altLang="zh-CN" sz="2400" dirty="0"/>
              <a:t>n </a:t>
            </a:r>
            <a:r>
              <a:rPr lang="zh-CN" altLang="en-US" sz="2400" dirty="0"/>
              <a:t>位（从右往左，从 </a:t>
            </a:r>
            <a:r>
              <a:rPr lang="en-US" altLang="zh-CN" sz="2400" dirty="0"/>
              <a:t>0 </a:t>
            </a:r>
            <a:r>
              <a:rPr lang="zh-CN" altLang="en-US" sz="2400" dirty="0"/>
              <a:t>开始数）的值</a:t>
            </a:r>
            <a:r>
              <a:rPr lang="en-US" altLang="zh-CN" sz="2400" dirty="0"/>
              <a:t>?</a:t>
            </a:r>
            <a:endParaRPr lang="en-US" altLang="zh-CN" dirty="0"/>
          </a:p>
          <a:p>
            <a:r>
              <a:rPr lang="zh-CN" altLang="en-US" sz="2400" dirty="0"/>
              <a:t>答：</a:t>
            </a:r>
            <a:r>
              <a:rPr lang="en-US" altLang="zh-CN" sz="2400" dirty="0">
                <a:solidFill>
                  <a:srgbClr val="0070C0"/>
                </a:solidFill>
              </a:rPr>
              <a:t>(a &gt;&gt; n) &amp; 1 </a:t>
            </a:r>
            <a:r>
              <a:rPr lang="zh-CN" altLang="en-US" sz="2400" dirty="0"/>
              <a:t>或 </a:t>
            </a:r>
            <a:r>
              <a:rPr lang="en-US" altLang="zh-CN" sz="2400" dirty="0">
                <a:solidFill>
                  <a:srgbClr val="0070C0"/>
                </a:solidFill>
              </a:rPr>
              <a:t>(a &amp; (1 &lt;&lt; n)) &gt;&gt; n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cs typeface="Times New Roman" panose="02020603050405020304" pitchFamily="18" charset="0"/>
              </a:rPr>
              <a:t>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 (a)</a:t>
            </a:r>
          </a:p>
          <a:p>
            <a:pPr marL="0" indent="0"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      0000 000x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xxx</a:t>
            </a:r>
            <a:r>
              <a:rPr lang="en-US" altLang="zh-CN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cs typeface="Times New Roman" panose="02020603050405020304" pitchFamily="18" charset="0"/>
              </a:rPr>
              <a:t>  (&gt;&gt; 7)</a:t>
            </a:r>
          </a:p>
          <a:p>
            <a:pPr marL="0" indent="0"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&amp;   0000 0000 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0000 0000 </a:t>
            </a:r>
            <a:r>
              <a:rPr lang="en-US" altLang="zh-CN" sz="2400" dirty="0">
                <a:cs typeface="Times New Roman" panose="02020603050405020304" pitchFamily="18" charset="0"/>
              </a:rPr>
              <a:t>0000 0000 0000 000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cs typeface="Times New Roman" panose="02020603050405020304" pitchFamily="18" charset="0"/>
              </a:rPr>
              <a:t>  (1)</a:t>
            </a:r>
          </a:p>
          <a:p>
            <a:pPr marL="0" indent="0"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      </a:t>
            </a:r>
            <a:r>
              <a:rPr lang="en-US" altLang="zh-CN" sz="2400" dirty="0">
                <a:solidFill>
                  <a:prstClr val="black"/>
                </a:solidFill>
                <a:cs typeface="Times New Roman" panose="02020603050405020304" pitchFamily="18" charset="0"/>
              </a:rPr>
              <a:t>0000 0000 0000 0000 </a:t>
            </a:r>
            <a:r>
              <a:rPr lang="en-US" altLang="zh-CN" sz="2400" dirty="0">
                <a:cs typeface="Times New Roman" panose="02020603050405020304" pitchFamily="18" charset="0"/>
              </a:rPr>
              <a:t>0000 0000 0000 000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F9E3812-7756-4A88-8A6C-1C0196835014}"/>
              </a:ext>
            </a:extLst>
          </p:cNvPr>
          <p:cNvCxnSpPr>
            <a:cxnSpLocks/>
          </p:cNvCxnSpPr>
          <p:nvPr/>
        </p:nvCxnSpPr>
        <p:spPr>
          <a:xfrm flipV="1">
            <a:off x="301625" y="5046785"/>
            <a:ext cx="8376383" cy="8595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767516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A0BC1-BDFA-4740-97B3-F13498CD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性能优化中的位运算（例）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CCC647-6050-4858-A120-0E5A7096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例：求 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char 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型数据二进制表示中 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1 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的个数</a:t>
            </a:r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sz="2400" dirty="0"/>
              <a:t>方法</a:t>
            </a:r>
            <a:r>
              <a:rPr lang="en-US" altLang="zh-CN" sz="2400" dirty="0"/>
              <a:t>1</a:t>
            </a:r>
            <a:r>
              <a:rPr lang="zh-CN" altLang="en-US" sz="2400" dirty="0"/>
              <a:t>：模拟进制转换，反复除 </a:t>
            </a:r>
            <a:r>
              <a:rPr lang="en-US" altLang="zh-CN" sz="2400" dirty="0"/>
              <a:t>2 </a:t>
            </a:r>
            <a:r>
              <a:rPr lang="zh-CN" altLang="en-US" sz="2400" dirty="0"/>
              <a:t>，累加余数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B5003AED-FA5A-473F-A73E-928724F170F9}"/>
              </a:ext>
            </a:extLst>
          </p:cNvPr>
          <p:cNvSpPr/>
          <p:nvPr/>
        </p:nvSpPr>
        <p:spPr bwMode="auto">
          <a:xfrm>
            <a:off x="1862973" y="2663574"/>
            <a:ext cx="5112568" cy="3658095"/>
          </a:xfrm>
          <a:prstGeom prst="verticalScroll">
            <a:avLst>
              <a:gd name="adj" fmla="val 46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count1(unsigned char v)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num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while (v) 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if 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v%2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== 1) num++;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 /= 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return(num);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F7AF8E-037F-4532-AC21-7845B93002E4}"/>
              </a:ext>
            </a:extLst>
          </p:cNvPr>
          <p:cNvSpPr txBox="1"/>
          <p:nvPr/>
        </p:nvSpPr>
        <p:spPr>
          <a:xfrm>
            <a:off x="3172762" y="640265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itchFamily="34" charset="0"/>
                <a:ea typeface="微软雅黑" pitchFamily="34" charset="-122"/>
              </a:rPr>
              <a:t>十进制到二进制的转换</a:t>
            </a:r>
          </a:p>
        </p:txBody>
      </p:sp>
    </p:spTree>
    <p:extLst>
      <p:ext uri="{BB962C8B-B14F-4D97-AF65-F5344CB8AC3E}">
        <p14:creationId xmlns:p14="http://schemas.microsoft.com/office/powerpoint/2010/main" val="4019295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56F5B1-1606-452B-923E-2D3600704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性能优化中的位运算（例）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402EE7-FE6D-4231-883D-E04F3CEE2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例：求 </a:t>
            </a:r>
            <a:r>
              <a:rPr lang="en-US" altLang="zh-CN" sz="2400" dirty="0">
                <a:solidFill>
                  <a:srgbClr val="0070C0"/>
                </a:solidFill>
              </a:rPr>
              <a:t>char</a:t>
            </a:r>
            <a:r>
              <a:rPr lang="en-US" altLang="zh-CN" sz="2400" dirty="0"/>
              <a:t> </a:t>
            </a:r>
            <a:r>
              <a:rPr lang="zh-CN" altLang="en-US" sz="2400" dirty="0"/>
              <a:t>型数据二进制表示中 </a:t>
            </a:r>
            <a:r>
              <a:rPr lang="en-US" altLang="zh-CN" sz="2400" dirty="0"/>
              <a:t>1 </a:t>
            </a:r>
            <a:r>
              <a:rPr lang="zh-CN" altLang="en-US" sz="2400" dirty="0"/>
              <a:t>的个数</a:t>
            </a:r>
            <a:endParaRPr lang="en-US" altLang="zh-CN" sz="2400" dirty="0"/>
          </a:p>
          <a:p>
            <a:r>
              <a:rPr lang="zh-CN" altLang="en-US" sz="2400" dirty="0"/>
              <a:t>方法</a:t>
            </a:r>
            <a:r>
              <a:rPr lang="en-US" altLang="zh-CN" sz="2400" dirty="0"/>
              <a:t>2</a:t>
            </a:r>
            <a:r>
              <a:rPr lang="zh-CN" altLang="en-US" sz="2400" dirty="0"/>
              <a:t>：将方法</a:t>
            </a:r>
            <a:r>
              <a:rPr lang="en-US" altLang="zh-CN" sz="2400" dirty="0"/>
              <a:t>1</a:t>
            </a:r>
            <a:r>
              <a:rPr lang="zh-CN" altLang="en-US" sz="2400" dirty="0"/>
              <a:t>中运算改为位运算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6AF5721E-F253-412F-8B10-235CC4A4C675}"/>
              </a:ext>
            </a:extLst>
          </p:cNvPr>
          <p:cNvSpPr/>
          <p:nvPr/>
        </p:nvSpPr>
        <p:spPr bwMode="auto">
          <a:xfrm>
            <a:off x="1845389" y="2695462"/>
            <a:ext cx="5112568" cy="3642651"/>
          </a:xfrm>
          <a:prstGeom prst="verticalScroll">
            <a:avLst>
              <a:gd name="adj" fmla="val 46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count2(unsigned char v)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num=0;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while (v) 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num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+=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 &amp; 0x01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 &gt;&gt;= 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return(num);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B8CFFE-55C0-4B66-9CF1-69487D32F7F1}"/>
              </a:ext>
            </a:extLst>
          </p:cNvPr>
          <p:cNvSpPr txBox="1"/>
          <p:nvPr/>
        </p:nvSpPr>
        <p:spPr>
          <a:xfrm>
            <a:off x="3270594" y="638720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itchFamily="34" charset="0"/>
                <a:ea typeface="微软雅黑" pitchFamily="34" charset="-122"/>
              </a:rPr>
              <a:t>位运算快于算术运算</a:t>
            </a:r>
          </a:p>
        </p:txBody>
      </p:sp>
    </p:spTree>
    <p:extLst>
      <p:ext uri="{BB962C8B-B14F-4D97-AF65-F5344CB8AC3E}">
        <p14:creationId xmlns:p14="http://schemas.microsoft.com/office/powerpoint/2010/main" val="1953381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2E54A-A86B-464B-9FFA-A6BED441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性能优化中的位运算（例）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582008-7F0A-45F7-AD9D-47E25D3B2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例：求 </a:t>
            </a:r>
            <a:r>
              <a:rPr lang="en-US" altLang="zh-CN" sz="2400" dirty="0">
                <a:solidFill>
                  <a:srgbClr val="0070C0"/>
                </a:solidFill>
              </a:rPr>
              <a:t>char</a:t>
            </a:r>
            <a:r>
              <a:rPr lang="en-US" altLang="zh-CN" sz="2400" dirty="0"/>
              <a:t> </a:t>
            </a:r>
            <a:r>
              <a:rPr lang="zh-CN" altLang="en-US" sz="2400" dirty="0"/>
              <a:t>型数据二进制表示中 </a:t>
            </a:r>
            <a:r>
              <a:rPr lang="en-US" altLang="zh-CN" sz="2400" dirty="0"/>
              <a:t>1 </a:t>
            </a:r>
            <a:r>
              <a:rPr lang="zh-CN" altLang="en-US" sz="2400" dirty="0"/>
              <a:t>的个数</a:t>
            </a:r>
            <a:endParaRPr lang="en-US" altLang="zh-CN" sz="2400" dirty="0"/>
          </a:p>
          <a:p>
            <a:r>
              <a:rPr lang="zh-CN" altLang="en-US" sz="2400" dirty="0"/>
              <a:t>方法</a:t>
            </a:r>
            <a:r>
              <a:rPr lang="en-US" altLang="zh-CN" sz="2400" dirty="0"/>
              <a:t>3</a:t>
            </a:r>
            <a:r>
              <a:rPr lang="zh-CN" altLang="en-US" sz="2400" dirty="0"/>
              <a:t>：将循环次数降为 </a:t>
            </a:r>
            <a:r>
              <a:rPr lang="en-US" altLang="zh-CN" sz="2400" dirty="0"/>
              <a:t>1 </a:t>
            </a:r>
            <a:r>
              <a:rPr lang="zh-CN" altLang="en-US" sz="2400" dirty="0"/>
              <a:t>的个数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0E9D9190-FFA7-4FB7-B316-E5C87BB2D449}"/>
              </a:ext>
            </a:extLst>
          </p:cNvPr>
          <p:cNvSpPr/>
          <p:nvPr/>
        </p:nvSpPr>
        <p:spPr bwMode="auto">
          <a:xfrm>
            <a:off x="2015716" y="3077320"/>
            <a:ext cx="5112568" cy="3171080"/>
          </a:xfrm>
          <a:prstGeom prst="verticalScroll">
            <a:avLst>
              <a:gd name="adj" fmla="val 46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count3(unsigned char v) 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num=0;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while (v) 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 &amp;= (v-1);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num++;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return(num);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13FF8E-130C-412E-B2F0-8660F3C9803D}"/>
              </a:ext>
            </a:extLst>
          </p:cNvPr>
          <p:cNvSpPr txBox="1"/>
          <p:nvPr/>
        </p:nvSpPr>
        <p:spPr>
          <a:xfrm>
            <a:off x="2019193" y="6349743"/>
            <a:ext cx="6830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会使得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最后一个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变为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，之后的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变成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，与之后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就少了一个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717522-9305-40A3-B51F-F50218AEF7A7}"/>
              </a:ext>
            </a:extLst>
          </p:cNvPr>
          <p:cNvSpPr txBox="1"/>
          <p:nvPr/>
        </p:nvSpPr>
        <p:spPr>
          <a:xfrm>
            <a:off x="2155138" y="2575867"/>
            <a:ext cx="46955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思路：设法使得每次循环都能减少一个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7839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B401B-173A-4AA2-B2CE-65289BEA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性能优化中的位运算（例）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15FBA-DD30-4BCC-BE12-161AED114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例：求 </a:t>
            </a:r>
            <a:r>
              <a:rPr lang="en-US" altLang="zh-CN" dirty="0">
                <a:solidFill>
                  <a:srgbClr val="0070C0"/>
                </a:solidFill>
              </a:rPr>
              <a:t>char</a:t>
            </a:r>
            <a:r>
              <a:rPr lang="en-US" altLang="zh-CN" dirty="0"/>
              <a:t> </a:t>
            </a:r>
            <a:r>
              <a:rPr lang="zh-CN" altLang="en-US" dirty="0"/>
              <a:t>型数据二进制表示中</a:t>
            </a:r>
            <a:r>
              <a:rPr lang="en-US" altLang="zh-CN" dirty="0"/>
              <a:t>1</a:t>
            </a:r>
            <a:r>
              <a:rPr lang="zh-CN" altLang="en-US" dirty="0"/>
              <a:t>的个数</a:t>
            </a:r>
          </a:p>
          <a:p>
            <a:r>
              <a:rPr lang="zh-CN" altLang="en-US" dirty="0"/>
              <a:t>方法</a:t>
            </a:r>
            <a:r>
              <a:rPr lang="en-US" altLang="zh-CN" dirty="0"/>
              <a:t>4</a:t>
            </a:r>
            <a:r>
              <a:rPr lang="zh-CN" altLang="en-US" dirty="0"/>
              <a:t>：枚举法，写出所有分支，“人工手动判断”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AC915C63-029B-40F2-B9A3-CC09EAD4112E}"/>
              </a:ext>
            </a:extLst>
          </p:cNvPr>
          <p:cNvSpPr/>
          <p:nvPr/>
        </p:nvSpPr>
        <p:spPr bwMode="auto">
          <a:xfrm>
            <a:off x="2015716" y="2653230"/>
            <a:ext cx="5112568" cy="3595170"/>
          </a:xfrm>
          <a:prstGeom prst="verticalScroll">
            <a:avLst>
              <a:gd name="adj" fmla="val 46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count4(unsigned char v) 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num=0;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switch (v) 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case 0x00: num=0; break;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......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return(num);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067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31E4C-92E3-473F-85EC-8B526222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性能优化中的位运算（例）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D23EF4-D72F-4A13-BCDF-910E63310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例：求 </a:t>
            </a:r>
            <a:r>
              <a:rPr lang="en-US" altLang="zh-CN" dirty="0">
                <a:solidFill>
                  <a:srgbClr val="0070C0"/>
                </a:solidFill>
              </a:rPr>
              <a:t>char</a:t>
            </a:r>
            <a:r>
              <a:rPr lang="en-US" altLang="zh-CN" dirty="0"/>
              <a:t> </a:t>
            </a:r>
            <a:r>
              <a:rPr lang="zh-CN" altLang="en-US" dirty="0"/>
              <a:t>型数据二进制表示中</a:t>
            </a:r>
            <a:r>
              <a:rPr lang="en-US" altLang="zh-CN" dirty="0"/>
              <a:t>1</a:t>
            </a:r>
            <a:r>
              <a:rPr lang="zh-CN" altLang="en-US" dirty="0"/>
              <a:t>的个数</a:t>
            </a:r>
          </a:p>
          <a:p>
            <a:r>
              <a:rPr lang="zh-CN" altLang="en-US" dirty="0"/>
              <a:t>方法</a:t>
            </a:r>
            <a:r>
              <a:rPr lang="en-US" altLang="zh-CN" dirty="0"/>
              <a:t>5</a:t>
            </a:r>
            <a:r>
              <a:rPr lang="zh-CN" altLang="en-US" dirty="0"/>
              <a:t>：打表法，预存所有结果，“以空间换时间”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E2F4CFAA-4B35-4505-9CCC-228B5DD69778}"/>
              </a:ext>
            </a:extLst>
          </p:cNvPr>
          <p:cNvSpPr/>
          <p:nvPr/>
        </p:nvSpPr>
        <p:spPr bwMode="auto">
          <a:xfrm>
            <a:off x="1789464" y="3266074"/>
            <a:ext cx="5565072" cy="2211533"/>
          </a:xfrm>
          <a:prstGeom prst="verticalScroll">
            <a:avLst>
              <a:gd name="adj" fmla="val 7426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count5(unsigned char v)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{	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static int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countTable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[256]={0, 1, ...};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return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countTable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[v];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7239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633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3A8B8-CA5A-429B-9EF0-4C2D192D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9327B-0E72-49E8-94BF-612DED7E0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位运算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宏操作（带参数、系统宏）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静态与动态库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编程优化方法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299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C31EC-C2C9-4607-B9D6-CB3D2744F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程序的编译过程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9EADA3-804E-46DD-A598-8F5A4CE00E82}"/>
              </a:ext>
            </a:extLst>
          </p:cNvPr>
          <p:cNvSpPr/>
          <p:nvPr/>
        </p:nvSpPr>
        <p:spPr>
          <a:xfrm>
            <a:off x="3878621" y="1971448"/>
            <a:ext cx="1544129" cy="310551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AD8261-EEA9-4F95-AFFF-F2031E949A39}"/>
              </a:ext>
            </a:extLst>
          </p:cNvPr>
          <p:cNvSpPr/>
          <p:nvPr/>
        </p:nvSpPr>
        <p:spPr>
          <a:xfrm>
            <a:off x="3878621" y="2782545"/>
            <a:ext cx="1544129" cy="310551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编译、汇编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0909D3-D3CA-43E7-98FD-ECBE3CFD8E87}"/>
              </a:ext>
            </a:extLst>
          </p:cNvPr>
          <p:cNvSpPr/>
          <p:nvPr/>
        </p:nvSpPr>
        <p:spPr>
          <a:xfrm>
            <a:off x="3878621" y="3605317"/>
            <a:ext cx="1544129" cy="310551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75D53A9-AFA4-416B-820B-6B77948D0F2D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4650686" y="1594062"/>
            <a:ext cx="0" cy="377386"/>
          </a:xfrm>
          <a:prstGeom prst="straightConnector1">
            <a:avLst/>
          </a:prstGeom>
          <a:noFill/>
          <a:ln w="19050" cap="flat" cmpd="sng" algn="ctr">
            <a:solidFill>
              <a:srgbClr val="00B0F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DCDD173-E78E-4248-8C7B-7421ACA094A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650686" y="2281999"/>
            <a:ext cx="0" cy="500546"/>
          </a:xfrm>
          <a:prstGeom prst="straightConnector1">
            <a:avLst/>
          </a:prstGeom>
          <a:noFill/>
          <a:ln w="19050" cap="flat" cmpd="sng" algn="ctr">
            <a:solidFill>
              <a:srgbClr val="00B0F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27D7E40-F2E6-4744-A976-87A5ACD2F65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650686" y="3093096"/>
            <a:ext cx="0" cy="512221"/>
          </a:xfrm>
          <a:prstGeom prst="straightConnector1">
            <a:avLst/>
          </a:prstGeom>
          <a:noFill/>
          <a:ln w="19050" cap="flat" cmpd="sng" algn="ctr">
            <a:solidFill>
              <a:srgbClr val="00B0F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0D7BE5F-99F7-44B4-942A-B2702A1855A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650686" y="3915868"/>
            <a:ext cx="0" cy="417377"/>
          </a:xfrm>
          <a:prstGeom prst="straightConnector1">
            <a:avLst/>
          </a:prstGeom>
          <a:noFill/>
          <a:ln w="19050" cap="flat" cmpd="sng" algn="ctr">
            <a:solidFill>
              <a:srgbClr val="00B0F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F9C9467-7E9F-4B34-84C7-2A34068919A6}"/>
              </a:ext>
            </a:extLst>
          </p:cNvPr>
          <p:cNvSpPr txBox="1"/>
          <p:nvPr/>
        </p:nvSpPr>
        <p:spPr>
          <a:xfrm>
            <a:off x="2108241" y="1565309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源代码（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.c, .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cpp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.h)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6CBB5E-83EF-422A-8855-480F96A481A2}"/>
              </a:ext>
            </a:extLst>
          </p:cNvPr>
          <p:cNvSpPr txBox="1"/>
          <p:nvPr/>
        </p:nvSpPr>
        <p:spPr>
          <a:xfrm>
            <a:off x="419901" y="2397042"/>
            <a:ext cx="4152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头文件嵌入、</a:t>
            </a:r>
            <a:r>
              <a:rPr lang="zh-CN" altLang="en-US" sz="2000" dirty="0">
                <a:solidFill>
                  <a:prstClr val="black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宏展开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的源代码（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A7C5E1-F288-4067-B898-86509D670572}"/>
              </a:ext>
            </a:extLst>
          </p:cNvPr>
          <p:cNvSpPr txBox="1"/>
          <p:nvPr/>
        </p:nvSpPr>
        <p:spPr>
          <a:xfrm>
            <a:off x="2279523" y="3196750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目标代码（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.o .obj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90E17B-0988-46E2-9292-6DB6E1F60567}"/>
              </a:ext>
            </a:extLst>
          </p:cNvPr>
          <p:cNvSpPr txBox="1"/>
          <p:nvPr/>
        </p:nvSpPr>
        <p:spPr>
          <a:xfrm>
            <a:off x="2241308" y="3933135"/>
            <a:ext cx="2462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可执行文件（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.exe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FD8AC2-AAC2-4DFD-B7A7-C4F924920416}"/>
              </a:ext>
            </a:extLst>
          </p:cNvPr>
          <p:cNvSpPr txBox="1"/>
          <p:nvPr/>
        </p:nvSpPr>
        <p:spPr>
          <a:xfrm>
            <a:off x="5596984" y="3560537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函数、变量等进行交叉映射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795511E-EB5C-4E1E-B105-389520F83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10" y="4892965"/>
            <a:ext cx="6686550" cy="115252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EFBD1C3-A18D-4787-B69B-7AC96F715DE8}"/>
              </a:ext>
            </a:extLst>
          </p:cNvPr>
          <p:cNvSpPr/>
          <p:nvPr/>
        </p:nvSpPr>
        <p:spPr>
          <a:xfrm>
            <a:off x="3900319" y="6244392"/>
            <a:ext cx="1580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编译系统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0F1866-2B40-4F8D-A87B-74E45A4A89F3}"/>
              </a:ext>
            </a:extLst>
          </p:cNvPr>
          <p:cNvSpPr txBox="1"/>
          <p:nvPr/>
        </p:nvSpPr>
        <p:spPr>
          <a:xfrm>
            <a:off x="5559279" y="1912667"/>
            <a:ext cx="2731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dirty="0">
                <a:solidFill>
                  <a:srgbClr val="0070C0"/>
                </a:solidFill>
              </a:rPr>
              <a:t>gcc -E hello.c -o hello.i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8D268B-0D68-4F44-91C4-E85571613714}"/>
              </a:ext>
            </a:extLst>
          </p:cNvPr>
          <p:cNvSpPr txBox="1"/>
          <p:nvPr/>
        </p:nvSpPr>
        <p:spPr>
          <a:xfrm>
            <a:off x="5596984" y="2586160"/>
            <a:ext cx="254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gcc</a:t>
            </a:r>
            <a:r>
              <a:rPr lang="en-US" altLang="zh-CN" dirty="0">
                <a:solidFill>
                  <a:srgbClr val="0070C0"/>
                </a:solidFill>
              </a:rPr>
              <a:t> -S </a:t>
            </a:r>
            <a:r>
              <a:rPr lang="en-US" altLang="zh-CN" dirty="0" err="1">
                <a:solidFill>
                  <a:srgbClr val="0070C0"/>
                </a:solidFill>
              </a:rPr>
              <a:t>hello.i</a:t>
            </a:r>
            <a:r>
              <a:rPr lang="en-US" altLang="zh-CN" dirty="0">
                <a:solidFill>
                  <a:srgbClr val="0070C0"/>
                </a:solidFill>
              </a:rPr>
              <a:t> -o </a:t>
            </a:r>
            <a:r>
              <a:rPr lang="en-US" altLang="zh-CN" dirty="0" err="1">
                <a:solidFill>
                  <a:srgbClr val="0070C0"/>
                </a:solidFill>
              </a:rPr>
              <a:t>hello.s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8A743E-212D-4230-B86E-A43FE572A006}"/>
              </a:ext>
            </a:extLst>
          </p:cNvPr>
          <p:cNvSpPr txBox="1"/>
          <p:nvPr/>
        </p:nvSpPr>
        <p:spPr>
          <a:xfrm>
            <a:off x="5596984" y="2896196"/>
            <a:ext cx="254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gcc</a:t>
            </a:r>
            <a:r>
              <a:rPr lang="en-US" altLang="zh-CN" dirty="0">
                <a:solidFill>
                  <a:srgbClr val="0070C0"/>
                </a:solidFill>
              </a:rPr>
              <a:t> -c </a:t>
            </a:r>
            <a:r>
              <a:rPr lang="en-US" altLang="zh-CN" dirty="0" err="1">
                <a:solidFill>
                  <a:srgbClr val="0070C0"/>
                </a:solidFill>
              </a:rPr>
              <a:t>hello.s</a:t>
            </a:r>
            <a:r>
              <a:rPr lang="en-US" altLang="zh-CN" dirty="0">
                <a:solidFill>
                  <a:srgbClr val="0070C0"/>
                </a:solidFill>
              </a:rPr>
              <a:t> -o </a:t>
            </a:r>
            <a:r>
              <a:rPr lang="en-US" altLang="zh-CN" dirty="0" err="1">
                <a:solidFill>
                  <a:srgbClr val="0070C0"/>
                </a:solidFill>
              </a:rPr>
              <a:t>hello.o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694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E3FA0-D17B-400E-949F-1C35082C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365A93-F715-4BED-AFC0-82F648E14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90000"/>
              </a:lnSpc>
            </a:pPr>
            <a:r>
              <a:rPr lang="zh-CN" altLang="en-US" sz="2000" dirty="0">
                <a:solidFill>
                  <a:prstClr val="black"/>
                </a:solidFill>
              </a:rPr>
              <a:t>预处理器一般内置于</a:t>
            </a:r>
            <a:r>
              <a:rPr lang="en-US" altLang="zh-CN" sz="2000" dirty="0">
                <a:solidFill>
                  <a:prstClr val="black"/>
                </a:solidFill>
              </a:rPr>
              <a:t>C</a:t>
            </a:r>
            <a:r>
              <a:rPr lang="zh-CN" altLang="en-US" sz="2000" dirty="0">
                <a:solidFill>
                  <a:prstClr val="black"/>
                </a:solidFill>
              </a:rPr>
              <a:t>编译器中</a:t>
            </a:r>
          </a:p>
          <a:p>
            <a:pPr lvl="0">
              <a:lnSpc>
                <a:spcPct val="90000"/>
              </a:lnSpc>
            </a:pPr>
            <a:r>
              <a:rPr lang="zh-CN" altLang="en-US" sz="2000" dirty="0">
                <a:solidFill>
                  <a:prstClr val="black"/>
                </a:solidFill>
              </a:rPr>
              <a:t>预处理是处理</a:t>
            </a:r>
            <a:r>
              <a:rPr lang="en-US" altLang="zh-CN" sz="2000" dirty="0">
                <a:solidFill>
                  <a:prstClr val="black"/>
                </a:solidFill>
              </a:rPr>
              <a:t>C</a:t>
            </a:r>
            <a:r>
              <a:rPr lang="zh-CN" altLang="en-US" sz="2000" dirty="0">
                <a:solidFill>
                  <a:prstClr val="black"/>
                </a:solidFill>
              </a:rPr>
              <a:t>源程序中所有以</a:t>
            </a:r>
            <a:r>
              <a:rPr lang="en-US" altLang="zh-CN" sz="2000" dirty="0">
                <a:solidFill>
                  <a:srgbClr val="FF0000"/>
                </a:solidFill>
              </a:rPr>
              <a:t>#</a:t>
            </a:r>
            <a:r>
              <a:rPr lang="zh-CN" altLang="en-US" sz="2000" dirty="0">
                <a:solidFill>
                  <a:prstClr val="black"/>
                </a:solidFill>
              </a:rPr>
              <a:t>开头的命令行（称为预处理命令）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>
              <a:lnSpc>
                <a:spcPct val="90000"/>
              </a:lnSpc>
            </a:pPr>
            <a:r>
              <a:rPr lang="zh-CN" altLang="en-US" sz="2000" dirty="0">
                <a:solidFill>
                  <a:prstClr val="black"/>
                </a:solidFill>
              </a:rPr>
              <a:t>指令在第一个换行符处结束，除非用“</a:t>
            </a:r>
            <a:r>
              <a:rPr lang="en-US" altLang="zh-CN" sz="2000" dirty="0">
                <a:solidFill>
                  <a:prstClr val="black"/>
                </a:solidFill>
              </a:rPr>
              <a:t>\</a:t>
            </a:r>
            <a:r>
              <a:rPr lang="zh-CN" altLang="en-US" sz="2000" dirty="0">
                <a:solidFill>
                  <a:prstClr val="black"/>
                </a:solidFill>
              </a:rPr>
              <a:t>”明确指出要换行延续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>
              <a:lnSpc>
                <a:spcPct val="90000"/>
              </a:lnSpc>
            </a:pPr>
            <a:endParaRPr lang="en-US" altLang="zh-CN" sz="2000" dirty="0">
              <a:solidFill>
                <a:prstClr val="black"/>
              </a:solidFill>
            </a:endParaRPr>
          </a:p>
          <a:p>
            <a:pPr lvl="0"/>
            <a:r>
              <a:rPr lang="en-US" altLang="zh-CN" sz="2000" dirty="0">
                <a:solidFill>
                  <a:prstClr val="black"/>
                </a:solidFill>
              </a:rPr>
              <a:t>C</a:t>
            </a:r>
            <a:r>
              <a:rPr lang="zh-CN" altLang="en-US" sz="2000" dirty="0">
                <a:solidFill>
                  <a:prstClr val="black"/>
                </a:solidFill>
              </a:rPr>
              <a:t>语言提供的预处理命令：</a:t>
            </a:r>
            <a:r>
              <a:rPr lang="zh-CN" altLang="en-US" sz="2000" dirty="0">
                <a:solidFill>
                  <a:srgbClr val="0070C0"/>
                </a:solidFill>
              </a:rPr>
              <a:t>文件包含、宏定义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zh-CN" altLang="en-US" sz="2000" dirty="0">
                <a:solidFill>
                  <a:srgbClr val="0070C0"/>
                </a:solidFill>
              </a:rPr>
              <a:t>条件编译</a:t>
            </a: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预处理命令的语法与</a:t>
            </a:r>
            <a:r>
              <a:rPr lang="en-US" altLang="zh-CN" sz="2000" dirty="0">
                <a:solidFill>
                  <a:prstClr val="black"/>
                </a:solidFill>
              </a:rPr>
              <a:t>C</a:t>
            </a:r>
            <a:r>
              <a:rPr lang="zh-CN" altLang="en-US" sz="2000" dirty="0">
                <a:solidFill>
                  <a:prstClr val="black"/>
                </a:solidFill>
              </a:rPr>
              <a:t>语言的语法完全独立，预处理器不处理</a:t>
            </a:r>
            <a:r>
              <a:rPr lang="en-US" altLang="zh-CN" sz="2000" dirty="0">
                <a:solidFill>
                  <a:prstClr val="black"/>
                </a:solidFill>
              </a:rPr>
              <a:t>C</a:t>
            </a:r>
            <a:r>
              <a:rPr lang="zh-CN" altLang="en-US" sz="2000" dirty="0">
                <a:solidFill>
                  <a:prstClr val="black"/>
                </a:solidFill>
              </a:rPr>
              <a:t>语言语句</a:t>
            </a: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为区别程序中的代码行与预处理命令行，所有预处理命令行都以</a:t>
            </a:r>
            <a:r>
              <a:rPr lang="en-US" altLang="zh-CN" sz="2000" dirty="0">
                <a:solidFill>
                  <a:srgbClr val="FF0000"/>
                </a:solidFill>
              </a:rPr>
              <a:t>#</a:t>
            </a:r>
            <a:r>
              <a:rPr lang="zh-CN" altLang="en-US" sz="2000" dirty="0">
                <a:solidFill>
                  <a:prstClr val="black"/>
                </a:solidFill>
              </a:rPr>
              <a:t>开头</a:t>
            </a: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预处理命令遇到换行符就会结束。如果需要换行，可以在预处理命令行的行尾加“</a:t>
            </a:r>
            <a:r>
              <a:rPr lang="en-US" altLang="zh-CN" sz="2000" dirty="0">
                <a:solidFill>
                  <a:prstClr val="black"/>
                </a:solidFill>
              </a:rPr>
              <a:t>\”</a:t>
            </a:r>
            <a:r>
              <a:rPr lang="zh-CN" altLang="en-US" sz="2000" dirty="0">
                <a:solidFill>
                  <a:prstClr val="black"/>
                </a:solidFill>
              </a:rPr>
              <a:t>，并紧跟换行符，表示续行</a:t>
            </a:r>
          </a:p>
        </p:txBody>
      </p:sp>
    </p:spTree>
    <p:extLst>
      <p:ext uri="{BB962C8B-B14F-4D97-AF65-F5344CB8AC3E}">
        <p14:creationId xmlns:p14="http://schemas.microsoft.com/office/powerpoint/2010/main" val="3220275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9144B-AF10-471C-A261-B7336D278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不带形参的宏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0BC76B-F44C-4CDA-9151-C9B1CEF2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354016"/>
            <a:ext cx="8540750" cy="4745160"/>
          </a:xfrm>
        </p:spPr>
        <p:txBody>
          <a:bodyPr/>
          <a:lstStyle/>
          <a:p>
            <a:pPr lvl="0">
              <a:spcBef>
                <a:spcPts val="300"/>
              </a:spcBef>
              <a:spcAft>
                <a:spcPts val="0"/>
              </a:spcAft>
            </a:pPr>
            <a:r>
              <a:rPr lang="zh-CN" altLang="en-US" sz="2000" dirty="0"/>
              <a:t>宏体中可以引用别的宏名，</a:t>
            </a:r>
            <a:r>
              <a:rPr lang="zh-CN" altLang="en-US" sz="2000" dirty="0">
                <a:solidFill>
                  <a:prstClr val="black"/>
                </a:solidFill>
              </a:rPr>
              <a:t>如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#define R    18.75           		</a:t>
            </a:r>
            <a:r>
              <a:rPr lang="en-US" altLang="zh-CN" sz="1800" dirty="0">
                <a:solidFill>
                  <a:srgbClr val="00B050"/>
                </a:solidFill>
              </a:rPr>
              <a:t>// </a:t>
            </a:r>
            <a:r>
              <a:rPr lang="zh-CN" altLang="en-US" sz="1800" dirty="0">
                <a:solidFill>
                  <a:srgbClr val="00B050"/>
                </a:solidFill>
              </a:rPr>
              <a:t>半径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#define PI   3.1415926   		</a:t>
            </a:r>
            <a:r>
              <a:rPr lang="en-US" altLang="zh-CN" sz="1800" dirty="0">
                <a:solidFill>
                  <a:srgbClr val="00B050"/>
                </a:solidFill>
              </a:rPr>
              <a:t>// </a:t>
            </a:r>
            <a:r>
              <a:rPr lang="zh-CN" altLang="en-US" sz="1800" dirty="0">
                <a:solidFill>
                  <a:srgbClr val="00B050"/>
                </a:solidFill>
              </a:rPr>
              <a:t>圆周率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#define Circumference 2.0*PI*R 	</a:t>
            </a:r>
            <a:r>
              <a:rPr lang="en-US" altLang="zh-CN" sz="1800" dirty="0">
                <a:solidFill>
                  <a:srgbClr val="00B050"/>
                </a:solidFill>
              </a:rPr>
              <a:t>// </a:t>
            </a:r>
            <a:r>
              <a:rPr lang="zh-CN" altLang="en-US" sz="1800" dirty="0">
                <a:solidFill>
                  <a:srgbClr val="00B050"/>
                </a:solidFill>
              </a:rPr>
              <a:t>圆周长</a:t>
            </a:r>
          </a:p>
          <a:p>
            <a:pPr lvl="0">
              <a:spcBef>
                <a:spcPts val="300"/>
              </a:spcBef>
              <a:spcAft>
                <a:spcPts val="0"/>
              </a:spcAft>
            </a:pPr>
            <a:r>
              <a:rPr lang="zh-CN" altLang="en-US" sz="2000" dirty="0"/>
              <a:t>同一宏名可以重复定义，</a:t>
            </a:r>
            <a:r>
              <a:rPr lang="zh-CN" altLang="en-US" sz="2000" dirty="0">
                <a:solidFill>
                  <a:prstClr val="black"/>
                </a:solidFill>
              </a:rPr>
              <a:t>如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#define PI 3.14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...           </a:t>
            </a:r>
            <a:r>
              <a:rPr lang="en-US" altLang="zh-CN" sz="1800" dirty="0">
                <a:solidFill>
                  <a:srgbClr val="00B050"/>
                </a:solidFill>
              </a:rPr>
              <a:t>// </a:t>
            </a:r>
            <a:r>
              <a:rPr lang="zh-CN" altLang="en-US" sz="1800" dirty="0">
                <a:solidFill>
                  <a:srgbClr val="00B050"/>
                </a:solidFill>
              </a:rPr>
              <a:t>此范围内使用的 </a:t>
            </a:r>
            <a:r>
              <a:rPr lang="en-US" altLang="zh-CN" sz="1800" dirty="0">
                <a:solidFill>
                  <a:srgbClr val="00B050"/>
                </a:solidFill>
              </a:rPr>
              <a:t>PI </a:t>
            </a:r>
            <a:r>
              <a:rPr lang="zh-CN" altLang="en-US" sz="1800" dirty="0">
                <a:solidFill>
                  <a:srgbClr val="00B050"/>
                </a:solidFill>
              </a:rPr>
              <a:t>都被替换为 </a:t>
            </a:r>
            <a:r>
              <a:rPr lang="en-US" altLang="zh-CN" sz="1800" dirty="0">
                <a:solidFill>
                  <a:srgbClr val="00B050"/>
                </a:solidFill>
              </a:rPr>
              <a:t>3.14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#define PI 3.1415926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...           </a:t>
            </a:r>
            <a:r>
              <a:rPr lang="en-US" altLang="zh-CN" sz="1800" dirty="0">
                <a:solidFill>
                  <a:srgbClr val="00B050"/>
                </a:solidFill>
              </a:rPr>
              <a:t>// </a:t>
            </a:r>
            <a:r>
              <a:rPr lang="zh-CN" altLang="en-US" sz="1800" dirty="0">
                <a:solidFill>
                  <a:srgbClr val="00B050"/>
                </a:solidFill>
              </a:rPr>
              <a:t>此范围内使用的 </a:t>
            </a:r>
            <a:r>
              <a:rPr lang="en-US" altLang="zh-CN" sz="1800" dirty="0">
                <a:solidFill>
                  <a:srgbClr val="00B050"/>
                </a:solidFill>
              </a:rPr>
              <a:t>PI </a:t>
            </a:r>
            <a:r>
              <a:rPr lang="zh-CN" altLang="en-US" sz="1800" dirty="0">
                <a:solidFill>
                  <a:srgbClr val="00B050"/>
                </a:solidFill>
              </a:rPr>
              <a:t>都被替换为 </a:t>
            </a:r>
            <a:r>
              <a:rPr lang="en-US" altLang="zh-CN" sz="1800" dirty="0">
                <a:solidFill>
                  <a:srgbClr val="00B050"/>
                </a:solidFill>
              </a:rPr>
              <a:t>3.1415926</a:t>
            </a:r>
          </a:p>
          <a:p>
            <a:pPr lvl="0">
              <a:spcBef>
                <a:spcPts val="300"/>
              </a:spcBef>
              <a:spcAft>
                <a:spcPts val="0"/>
              </a:spcAft>
            </a:pPr>
            <a:r>
              <a:rPr lang="zh-CN" altLang="en-US" sz="2000" dirty="0"/>
              <a:t>可以用</a:t>
            </a:r>
            <a:r>
              <a:rPr lang="en-US" altLang="zh-CN" sz="2000" dirty="0">
                <a:solidFill>
                  <a:srgbClr val="C00000"/>
                </a:solidFill>
              </a:rPr>
              <a:t>#undef </a:t>
            </a:r>
            <a:r>
              <a:rPr lang="zh-CN" altLang="en-US" sz="2000" dirty="0"/>
              <a:t>终止宏定义的作用范围</a:t>
            </a:r>
            <a:r>
              <a:rPr lang="zh-CN" altLang="en-US" sz="2000" dirty="0">
                <a:solidFill>
                  <a:prstClr val="black"/>
                </a:solidFill>
              </a:rPr>
              <a:t>，如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#define N 50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...           </a:t>
            </a:r>
            <a:r>
              <a:rPr lang="en-US" altLang="zh-CN" sz="1800" dirty="0">
                <a:solidFill>
                  <a:srgbClr val="00B050"/>
                </a:solidFill>
              </a:rPr>
              <a:t>// </a:t>
            </a:r>
            <a:r>
              <a:rPr lang="zh-CN" altLang="en-US" sz="1800" dirty="0">
                <a:solidFill>
                  <a:srgbClr val="00B050"/>
                </a:solidFill>
              </a:rPr>
              <a:t>此范围内 </a:t>
            </a:r>
            <a:r>
              <a:rPr lang="en-US" altLang="zh-CN" sz="1800" dirty="0">
                <a:solidFill>
                  <a:srgbClr val="00B050"/>
                </a:solidFill>
              </a:rPr>
              <a:t>N </a:t>
            </a:r>
            <a:r>
              <a:rPr lang="zh-CN" altLang="en-US" sz="1800" dirty="0">
                <a:solidFill>
                  <a:srgbClr val="00B050"/>
                </a:solidFill>
              </a:rPr>
              <a:t>被替换为 </a:t>
            </a:r>
            <a:r>
              <a:rPr lang="en-US" altLang="zh-CN" sz="1800" dirty="0">
                <a:solidFill>
                  <a:srgbClr val="00B050"/>
                </a:solidFill>
              </a:rPr>
              <a:t>50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#undef N</a:t>
            </a:r>
          </a:p>
          <a:p>
            <a:pPr marL="88900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...           </a:t>
            </a:r>
            <a:r>
              <a:rPr lang="en-US" altLang="zh-CN" sz="1800" dirty="0">
                <a:solidFill>
                  <a:srgbClr val="00B050"/>
                </a:solidFill>
              </a:rPr>
              <a:t>// </a:t>
            </a:r>
            <a:r>
              <a:rPr lang="zh-CN" altLang="en-US" sz="1800" dirty="0">
                <a:solidFill>
                  <a:srgbClr val="00B050"/>
                </a:solidFill>
              </a:rPr>
              <a:t>此范围内 </a:t>
            </a:r>
            <a:r>
              <a:rPr lang="en-US" altLang="zh-CN" sz="1800" dirty="0">
                <a:solidFill>
                  <a:srgbClr val="00B050"/>
                </a:solidFill>
              </a:rPr>
              <a:t>N </a:t>
            </a:r>
            <a:r>
              <a:rPr lang="zh-CN" altLang="en-US" sz="1800" dirty="0">
                <a:solidFill>
                  <a:srgbClr val="00B050"/>
                </a:solidFill>
              </a:rPr>
              <a:t>无效</a:t>
            </a:r>
          </a:p>
        </p:txBody>
      </p:sp>
    </p:spTree>
    <p:extLst>
      <p:ext uri="{BB962C8B-B14F-4D97-AF65-F5344CB8AC3E}">
        <p14:creationId xmlns:p14="http://schemas.microsoft.com/office/powerpoint/2010/main" val="3686414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2BD8D-7F2F-4CD2-83C6-98EB94CE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带形参的宏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DFD2D-1E59-42C9-BA9B-188D30900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433146"/>
            <a:ext cx="8540750" cy="4666029"/>
          </a:xfrm>
        </p:spPr>
        <p:txBody>
          <a:bodyPr/>
          <a:lstStyle/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一般形式：</a:t>
            </a:r>
            <a:r>
              <a:rPr lang="en-US" altLang="zh-CN" sz="2000" dirty="0">
                <a:solidFill>
                  <a:srgbClr val="0070C0"/>
                </a:solidFill>
              </a:rPr>
              <a:t>#define </a:t>
            </a:r>
            <a:r>
              <a:rPr lang="zh-CN" altLang="en-US" sz="2000" dirty="0">
                <a:solidFill>
                  <a:srgbClr val="0070C0"/>
                </a:solidFill>
              </a:rPr>
              <a:t>宏名</a:t>
            </a:r>
            <a:r>
              <a:rPr lang="en-US" altLang="zh-CN" sz="2000" dirty="0">
                <a:solidFill>
                  <a:srgbClr val="0070C0"/>
                </a:solidFill>
              </a:rPr>
              <a:t>(</a:t>
            </a:r>
            <a:r>
              <a:rPr lang="zh-CN" altLang="en-US" sz="2000" dirty="0">
                <a:solidFill>
                  <a:srgbClr val="0070C0"/>
                </a:solidFill>
              </a:rPr>
              <a:t>形参列表</a:t>
            </a:r>
            <a:r>
              <a:rPr lang="en-US" altLang="zh-CN" sz="2000" dirty="0">
                <a:solidFill>
                  <a:srgbClr val="0070C0"/>
                </a:solidFill>
              </a:rPr>
              <a:t>) </a:t>
            </a:r>
            <a:r>
              <a:rPr lang="zh-CN" altLang="en-US" sz="2000" dirty="0">
                <a:solidFill>
                  <a:srgbClr val="0070C0"/>
                </a:solidFill>
              </a:rPr>
              <a:t>宏体</a:t>
            </a: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左圆括号</a:t>
            </a:r>
            <a:r>
              <a:rPr lang="zh-CN" altLang="en-US" sz="2000" dirty="0"/>
              <a:t>“</a:t>
            </a:r>
            <a:r>
              <a:rPr lang="en-US" altLang="zh-CN" sz="2000" dirty="0"/>
              <a:t>(”</a:t>
            </a:r>
            <a:r>
              <a:rPr lang="zh-CN" altLang="en-US" sz="2000" dirty="0"/>
              <a:t>必须紧随宏名之后，中间不能有空格</a:t>
            </a:r>
            <a:r>
              <a:rPr lang="zh-CN" altLang="en-US" sz="2000" dirty="0">
                <a:solidFill>
                  <a:prstClr val="black"/>
                </a:solidFill>
              </a:rPr>
              <a:t>，否则就变成不带形参的宏定义（宏体从“</a:t>
            </a:r>
            <a:r>
              <a:rPr lang="en-US" altLang="zh-CN" sz="2000" dirty="0">
                <a:solidFill>
                  <a:prstClr val="black"/>
                </a:solidFill>
              </a:rPr>
              <a:t>(”</a:t>
            </a:r>
            <a:r>
              <a:rPr lang="zh-CN" altLang="en-US" sz="2000" dirty="0">
                <a:solidFill>
                  <a:prstClr val="black"/>
                </a:solidFill>
              </a:rPr>
              <a:t>开始）</a:t>
            </a: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形参列表中可以出现多个用逗号隔开的不重名的标识符</a:t>
            </a:r>
          </a:p>
          <a:p>
            <a:pPr lvl="0"/>
            <a:r>
              <a:rPr lang="zh-CN" altLang="en-US" sz="2000" dirty="0">
                <a:solidFill>
                  <a:srgbClr val="0070C0"/>
                </a:solidFill>
              </a:rPr>
              <a:t>宏调用的展开</a:t>
            </a:r>
            <a:r>
              <a:rPr lang="zh-CN" altLang="en-US" sz="2000" dirty="0">
                <a:solidFill>
                  <a:prstClr val="black"/>
                </a:solidFill>
              </a:rPr>
              <a:t>：分别</a:t>
            </a:r>
            <a:r>
              <a:rPr lang="zh-CN" altLang="en-US" sz="2000" dirty="0"/>
              <a:t>用宏调用中的实参文本去替换宏体中对应的形参，</a:t>
            </a:r>
            <a:r>
              <a:rPr lang="zh-CN" altLang="en-US" sz="2000" dirty="0">
                <a:solidFill>
                  <a:prstClr val="black"/>
                </a:solidFill>
              </a:rPr>
              <a:t>宏体中的其它文本不变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1"/>
            <a:r>
              <a:rPr lang="zh-CN" altLang="en-US" sz="1800" dirty="0">
                <a:solidFill>
                  <a:prstClr val="black"/>
                </a:solidFill>
              </a:rPr>
              <a:t>例：</a:t>
            </a:r>
            <a:r>
              <a:rPr lang="en-US" altLang="zh-CN" sz="1800" dirty="0">
                <a:solidFill>
                  <a:prstClr val="black"/>
                </a:solidFill>
              </a:rPr>
              <a:t> </a:t>
            </a:r>
            <a:r>
              <a:rPr lang="en-US" altLang="zh-CN" sz="1800" dirty="0">
                <a:solidFill>
                  <a:srgbClr val="0070C0"/>
                </a:solidFill>
              </a:rPr>
              <a:t>#define AREA(W,H)  </a:t>
            </a:r>
            <a:r>
              <a:rPr lang="en-US" altLang="zh-CN" sz="1800" dirty="0">
                <a:solidFill>
                  <a:srgbClr val="FF0000"/>
                </a:solidFill>
              </a:rPr>
              <a:t>W*H</a:t>
            </a:r>
            <a:br>
              <a:rPr lang="en-US" altLang="zh-CN" sz="1800" dirty="0">
                <a:solidFill>
                  <a:srgbClr val="0070C0"/>
                </a:solidFill>
              </a:rPr>
            </a:br>
            <a:r>
              <a:rPr lang="en-US" altLang="zh-CN" sz="1800" dirty="0">
                <a:solidFill>
                  <a:srgbClr val="0070C0"/>
                </a:solidFill>
              </a:rPr>
              <a:t>AREA(</a:t>
            </a:r>
            <a:r>
              <a:rPr lang="en-US" altLang="zh-CN" sz="1800" dirty="0" err="1">
                <a:solidFill>
                  <a:srgbClr val="0070C0"/>
                </a:solidFill>
              </a:rPr>
              <a:t>a,b</a:t>
            </a:r>
            <a:r>
              <a:rPr lang="en-US" altLang="zh-CN" sz="1800" dirty="0">
                <a:solidFill>
                  <a:srgbClr val="0070C0"/>
                </a:solidFill>
              </a:rPr>
              <a:t>) </a:t>
            </a:r>
            <a:r>
              <a:rPr lang="zh-CN" altLang="en-US" sz="1800" dirty="0">
                <a:solidFill>
                  <a:prstClr val="black"/>
                </a:solidFill>
              </a:rPr>
              <a:t>宏展开为 </a:t>
            </a:r>
            <a:r>
              <a:rPr lang="en-US" altLang="zh-CN" sz="1800" dirty="0">
                <a:solidFill>
                  <a:prstClr val="black"/>
                </a:solidFill>
              </a:rPr>
              <a:t>a*b</a:t>
            </a:r>
            <a:br>
              <a:rPr lang="en-US" altLang="zh-CN" sz="1800" dirty="0">
                <a:solidFill>
                  <a:prstClr val="black"/>
                </a:solidFill>
              </a:rPr>
            </a:br>
            <a:r>
              <a:rPr lang="en-US" altLang="zh-CN" sz="1800" dirty="0">
                <a:solidFill>
                  <a:srgbClr val="0070C0"/>
                </a:solidFill>
              </a:rPr>
              <a:t>AREA(a+1,b+1) </a:t>
            </a:r>
            <a:r>
              <a:rPr lang="zh-CN" altLang="en-US" sz="1800" dirty="0">
                <a:solidFill>
                  <a:prstClr val="black"/>
                </a:solidFill>
              </a:rPr>
              <a:t>宏展开为 </a:t>
            </a:r>
            <a:r>
              <a:rPr lang="en-US" altLang="zh-CN" sz="1800" dirty="0">
                <a:solidFill>
                  <a:srgbClr val="FF0000"/>
                </a:solidFill>
              </a:rPr>
              <a:t>a+1*b+1</a:t>
            </a:r>
          </a:p>
          <a:p>
            <a:pPr marL="717550" lvl="1" indent="0">
              <a:buNone/>
            </a:pPr>
            <a:r>
              <a:rPr lang="zh-CN" altLang="en-US" sz="1800" dirty="0">
                <a:solidFill>
                  <a:prstClr val="black"/>
                </a:solidFill>
              </a:rPr>
              <a:t>修改为：</a:t>
            </a:r>
            <a:r>
              <a:rPr lang="en-US" altLang="zh-CN" sz="1800" dirty="0">
                <a:solidFill>
                  <a:prstClr val="black"/>
                </a:solidFill>
              </a:rPr>
              <a:t> </a:t>
            </a:r>
            <a:r>
              <a:rPr lang="en-US" altLang="zh-CN" sz="1800" dirty="0">
                <a:solidFill>
                  <a:srgbClr val="0070C0"/>
                </a:solidFill>
              </a:rPr>
              <a:t>#define AREA(W,H)</a:t>
            </a:r>
            <a:r>
              <a:rPr lang="en-US" altLang="zh-CN" sz="1800" dirty="0">
                <a:solidFill>
                  <a:prstClr val="black"/>
                </a:solidFill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</a:rPr>
              <a:t>(W)*(H)</a:t>
            </a:r>
            <a:br>
              <a:rPr lang="en-US" altLang="zh-CN" sz="1800" dirty="0">
                <a:solidFill>
                  <a:prstClr val="black"/>
                </a:solidFill>
              </a:rPr>
            </a:br>
            <a:r>
              <a:rPr lang="en-US" altLang="zh-CN" sz="1800" dirty="0">
                <a:solidFill>
                  <a:srgbClr val="0070C0"/>
                </a:solidFill>
              </a:rPr>
              <a:t>AREA(a+1,b+1)</a:t>
            </a:r>
            <a:r>
              <a:rPr lang="en-US" altLang="zh-CN" sz="1800" dirty="0">
                <a:solidFill>
                  <a:prstClr val="black"/>
                </a:solidFill>
              </a:rPr>
              <a:t> </a:t>
            </a:r>
            <a:r>
              <a:rPr lang="zh-CN" altLang="en-US" sz="1800" dirty="0">
                <a:solidFill>
                  <a:prstClr val="black"/>
                </a:solidFill>
              </a:rPr>
              <a:t>宏展开为</a:t>
            </a:r>
            <a:r>
              <a:rPr lang="en-US" altLang="zh-CN" sz="1800" dirty="0">
                <a:solidFill>
                  <a:srgbClr val="FF0000"/>
                </a:solidFill>
              </a:rPr>
              <a:t>(a+1)*(b+1)</a:t>
            </a:r>
          </a:p>
          <a:p>
            <a:pPr lvl="0"/>
            <a:r>
              <a:rPr lang="zh-CN" altLang="en-US" sz="2000" dirty="0"/>
              <a:t>宏展开</a:t>
            </a:r>
            <a:r>
              <a:rPr lang="zh-CN" altLang="en-US" sz="2000" dirty="0">
                <a:solidFill>
                  <a:prstClr val="black"/>
                </a:solidFill>
              </a:rPr>
              <a:t>仅是</a:t>
            </a:r>
            <a:r>
              <a:rPr lang="zh-CN" altLang="en-US" sz="2000" dirty="0">
                <a:solidFill>
                  <a:srgbClr val="FF0000"/>
                </a:solidFill>
              </a:rPr>
              <a:t>文本替换</a:t>
            </a:r>
            <a:r>
              <a:rPr lang="zh-CN" altLang="en-US" sz="2000" dirty="0">
                <a:solidFill>
                  <a:prstClr val="black"/>
                </a:solidFill>
              </a:rPr>
              <a:t>，不会进行表达式计算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实参可以为空，但逗号不能省。展开时替换为空串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251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B45E6-AB9B-454B-8B8B-3EF2D3B5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带形参的宏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E9491-E7D5-461D-A7A5-FE3DB764B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字符串化操作 </a:t>
            </a: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zh-CN" altLang="en-US" dirty="0"/>
              <a:t>：宏展开后，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把宏参数变成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PingFang SC"/>
              </a:rPr>
              <a:t>字符串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字面量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r>
              <a:rPr lang="zh-CN" altLang="en-US" dirty="0"/>
              <a:t>连接操作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##</a:t>
            </a:r>
            <a:r>
              <a:rPr lang="zh-CN" altLang="en-US" dirty="0"/>
              <a:t>：宏展开后，把两个</a:t>
            </a:r>
            <a:r>
              <a:rPr lang="zh-CN" altLang="en-US" dirty="0">
                <a:solidFill>
                  <a:srgbClr val="0070C0"/>
                </a:solidFill>
              </a:rPr>
              <a:t>符号连接</a:t>
            </a:r>
            <a:r>
              <a:rPr lang="zh-CN" altLang="en-US" dirty="0"/>
              <a:t>成一个新符号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7681213E-BFDF-47B5-B26A-F23777733EBF}"/>
              </a:ext>
            </a:extLst>
          </p:cNvPr>
          <p:cNvSpPr/>
          <p:nvPr/>
        </p:nvSpPr>
        <p:spPr bwMode="auto">
          <a:xfrm>
            <a:off x="301625" y="2163448"/>
            <a:ext cx="8421024" cy="1866111"/>
          </a:xfrm>
          <a:prstGeom prst="verticalScroll">
            <a:avLst>
              <a:gd name="adj" fmla="val 3546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#define PRINT_VALUE(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#x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 = %d\n", x)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age = 25;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PRINT_VALUE(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age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展开为：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"age"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 = %d\n", age);</a:t>
            </a:r>
          </a:p>
        </p:txBody>
      </p:sp>
      <p:sp>
        <p:nvSpPr>
          <p:cNvPr id="5" name="卷形: 垂直 4">
            <a:extLst>
              <a:ext uri="{FF2B5EF4-FFF2-40B4-BE49-F238E27FC236}">
                <a16:creationId xmlns:a16="http://schemas.microsoft.com/office/drawing/2014/main" id="{8C14AE73-54A4-4007-B622-8B6A982C0EE5}"/>
              </a:ext>
            </a:extLst>
          </p:cNvPr>
          <p:cNvSpPr/>
          <p:nvPr/>
        </p:nvSpPr>
        <p:spPr bwMode="auto">
          <a:xfrm>
            <a:off x="361488" y="4636215"/>
            <a:ext cx="8421024" cy="1866111"/>
          </a:xfrm>
          <a:prstGeom prst="verticalScroll">
            <a:avLst>
              <a:gd name="adj" fmla="val 3546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#define CONCAT(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a##b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value12 = 100;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result = CONCAT(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value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展开为：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result =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value12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49410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3E19A-30D7-420B-9FAA-7FE13360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函数与带形参宏的区别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44EEA4-2B20-4A71-95D9-F28F4F833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90000"/>
              </a:lnSpc>
            </a:pPr>
            <a:r>
              <a:rPr lang="zh-CN" altLang="en-US" dirty="0">
                <a:solidFill>
                  <a:prstClr val="black"/>
                </a:solidFill>
              </a:rPr>
              <a:t>函数调用与宏调用的区别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函数调用是在程序运行时处理的，涉及内存单元的分配与回收以及表达式的计算等；宏调用是在预处理阶段进行的</a:t>
            </a:r>
            <a:r>
              <a:rPr lang="zh-CN" altLang="en-US" dirty="0">
                <a:solidFill>
                  <a:prstClr val="black"/>
                </a:solidFill>
              </a:rPr>
              <a:t>，只进行</a:t>
            </a:r>
            <a:r>
              <a:rPr lang="zh-CN" altLang="en-US" dirty="0">
                <a:solidFill>
                  <a:srgbClr val="FF0000"/>
                </a:solidFill>
              </a:rPr>
              <a:t>文本替换</a:t>
            </a:r>
            <a:r>
              <a:rPr lang="zh-CN" altLang="en-US" dirty="0">
                <a:solidFill>
                  <a:prstClr val="black"/>
                </a:solidFill>
              </a:rPr>
              <a:t>，既不分配内存单元也不计算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函数调用的形参与实参都有数据类型，存在类型匹配或转换问题；宏调用仅是文本的替换，不存在类型的问题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prstClr val="black"/>
                </a:solidFill>
              </a:rPr>
              <a:t>函数调用往往有返回值；宏调用没有返回值的概念</a:t>
            </a:r>
          </a:p>
          <a:p>
            <a:pPr lvl="0">
              <a:lnSpc>
                <a:spcPct val="90000"/>
              </a:lnSpc>
            </a:pPr>
            <a:endParaRPr lang="en-US" altLang="zh-CN" dirty="0">
              <a:solidFill>
                <a:prstClr val="black"/>
              </a:solidFill>
            </a:endParaRPr>
          </a:p>
          <a:p>
            <a:pPr lvl="0">
              <a:lnSpc>
                <a:spcPct val="90000"/>
              </a:lnSpc>
            </a:pPr>
            <a:r>
              <a:rPr lang="en-US" altLang="zh-CN" dirty="0" err="1">
                <a:solidFill>
                  <a:srgbClr val="0070C0"/>
                </a:solidFill>
              </a:rPr>
              <a:t>getchar</a:t>
            </a:r>
            <a:r>
              <a:rPr lang="en-US" altLang="zh-CN" dirty="0">
                <a:solidFill>
                  <a:srgbClr val="0070C0"/>
                </a:solidFill>
              </a:rPr>
              <a:t>() </a:t>
            </a:r>
            <a:r>
              <a:rPr lang="zh-CN" altLang="en-US" dirty="0">
                <a:solidFill>
                  <a:prstClr val="black"/>
                </a:solidFill>
              </a:rPr>
              <a:t>和 </a:t>
            </a:r>
            <a:r>
              <a:rPr lang="en-US" altLang="zh-CN" dirty="0" err="1">
                <a:solidFill>
                  <a:srgbClr val="0070C0"/>
                </a:solidFill>
              </a:rPr>
              <a:t>putchar</a:t>
            </a:r>
            <a:r>
              <a:rPr lang="en-US" altLang="zh-CN" dirty="0">
                <a:solidFill>
                  <a:srgbClr val="0070C0"/>
                </a:solidFill>
              </a:rPr>
              <a:t>() </a:t>
            </a:r>
            <a:r>
              <a:rPr lang="zh-CN" altLang="en-US" dirty="0">
                <a:solidFill>
                  <a:prstClr val="black"/>
                </a:solidFill>
              </a:rPr>
              <a:t>实际上都是定义在 </a:t>
            </a:r>
            <a:r>
              <a:rPr lang="en-US" altLang="zh-CN" dirty="0" err="1">
                <a:solidFill>
                  <a:srgbClr val="0070C0"/>
                </a:solidFill>
              </a:rPr>
              <a:t>stdio.h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中的宏：</a:t>
            </a:r>
            <a:endParaRPr lang="en-US" altLang="zh-CN" dirty="0">
              <a:solidFill>
                <a:prstClr val="black"/>
              </a:solidFill>
            </a:endParaRPr>
          </a:p>
          <a:p>
            <a:pPr lvl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zh-CN" dirty="0">
                <a:solidFill>
                  <a:srgbClr val="0070C0"/>
                </a:solidFill>
              </a:rPr>
              <a:t>#define </a:t>
            </a:r>
            <a:r>
              <a:rPr lang="en-US" altLang="zh-CN" dirty="0" err="1">
                <a:solidFill>
                  <a:srgbClr val="0070C0"/>
                </a:solidFill>
              </a:rPr>
              <a:t>getchar</a:t>
            </a:r>
            <a:r>
              <a:rPr lang="en-US" altLang="zh-CN" dirty="0">
                <a:solidFill>
                  <a:srgbClr val="0070C0"/>
                </a:solidFill>
              </a:rPr>
              <a:t>()   </a:t>
            </a:r>
            <a:r>
              <a:rPr lang="en-US" altLang="zh-CN" dirty="0" err="1">
                <a:solidFill>
                  <a:srgbClr val="0070C0"/>
                </a:solidFill>
              </a:rPr>
              <a:t>fgetc</a:t>
            </a:r>
            <a:r>
              <a:rPr lang="en-US" altLang="zh-CN" dirty="0">
                <a:solidFill>
                  <a:srgbClr val="0070C0"/>
                </a:solidFill>
              </a:rPr>
              <a:t>(stdin)  	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形参列表为空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#define </a:t>
            </a:r>
            <a:r>
              <a:rPr lang="en-US" altLang="zh-CN" dirty="0" err="1">
                <a:solidFill>
                  <a:srgbClr val="0070C0"/>
                </a:solidFill>
              </a:rPr>
              <a:t>putchar</a:t>
            </a:r>
            <a:r>
              <a:rPr lang="en-US" altLang="zh-CN" dirty="0">
                <a:solidFill>
                  <a:srgbClr val="0070C0"/>
                </a:solidFill>
              </a:rPr>
              <a:t>(x) </a:t>
            </a:r>
            <a:r>
              <a:rPr lang="en-US" altLang="zh-CN" dirty="0" err="1">
                <a:solidFill>
                  <a:srgbClr val="0070C0"/>
                </a:solidFill>
              </a:rPr>
              <a:t>fputc</a:t>
            </a:r>
            <a:r>
              <a:rPr lang="en-US" altLang="zh-CN" dirty="0">
                <a:solidFill>
                  <a:srgbClr val="0070C0"/>
                </a:solidFill>
              </a:rPr>
              <a:t>(x, </a:t>
            </a:r>
            <a:r>
              <a:rPr lang="en-US" altLang="zh-CN" dirty="0" err="1">
                <a:solidFill>
                  <a:srgbClr val="0070C0"/>
                </a:solidFill>
              </a:rPr>
              <a:t>stdout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5538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1203C-919C-437C-9FDF-554B7FB5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带形参的宏（例一）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0E7E42-4589-44E3-A901-7218FAAEA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>
                <a:solidFill>
                  <a:prstClr val="black"/>
                </a:solidFill>
              </a:rPr>
              <a:t>一些带参数宏定义的例子</a:t>
            </a:r>
          </a:p>
          <a:p>
            <a:pPr lvl="1"/>
            <a:r>
              <a:rPr lang="zh-CN" altLang="en-US" sz="2000" dirty="0">
                <a:solidFill>
                  <a:prstClr val="black"/>
                </a:solidFill>
              </a:rPr>
              <a:t>例：求</a:t>
            </a:r>
            <a:r>
              <a:rPr lang="en-US" altLang="zh-CN" sz="2000" dirty="0">
                <a:solidFill>
                  <a:prstClr val="black"/>
                </a:solidFill>
              </a:rPr>
              <a:t>2</a:t>
            </a:r>
            <a:r>
              <a:rPr lang="zh-CN" altLang="en-US" sz="2000" dirty="0">
                <a:solidFill>
                  <a:prstClr val="black"/>
                </a:solidFill>
              </a:rPr>
              <a:t>个、</a:t>
            </a: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个、</a:t>
            </a:r>
            <a:r>
              <a:rPr lang="en-US" altLang="zh-CN" sz="2000" dirty="0">
                <a:solidFill>
                  <a:prstClr val="black"/>
                </a:solidFill>
              </a:rPr>
              <a:t>4</a:t>
            </a:r>
            <a:r>
              <a:rPr lang="zh-CN" altLang="en-US" sz="2000" dirty="0">
                <a:solidFill>
                  <a:prstClr val="black"/>
                </a:solidFill>
              </a:rPr>
              <a:t>个数值中最小值的宏定义</a:t>
            </a:r>
          </a:p>
          <a:p>
            <a:pPr marL="1258888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#define min(</a:t>
            </a:r>
            <a:r>
              <a:rPr lang="en-US" altLang="zh-CN" sz="2000" dirty="0" err="1">
                <a:solidFill>
                  <a:srgbClr val="0070C0"/>
                </a:solidFill>
              </a:rPr>
              <a:t>a,b</a:t>
            </a:r>
            <a:r>
              <a:rPr lang="en-US" altLang="zh-CN" sz="2000" dirty="0">
                <a:solidFill>
                  <a:srgbClr val="0070C0"/>
                </a:solidFill>
              </a:rPr>
              <a:t>)  (((a)&lt;(b))?(a):(b))</a:t>
            </a:r>
          </a:p>
          <a:p>
            <a:pPr marL="1258888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#define min3(</a:t>
            </a:r>
            <a:r>
              <a:rPr lang="en-US" altLang="zh-CN" sz="2000" dirty="0" err="1">
                <a:solidFill>
                  <a:srgbClr val="0070C0"/>
                </a:solidFill>
              </a:rPr>
              <a:t>x,y,z</a:t>
            </a:r>
            <a:r>
              <a:rPr lang="en-US" altLang="zh-CN" sz="2000" dirty="0">
                <a:solidFill>
                  <a:srgbClr val="0070C0"/>
                </a:solidFill>
              </a:rPr>
              <a:t>)  min(min(</a:t>
            </a:r>
            <a:r>
              <a:rPr lang="en-US" altLang="zh-CN" sz="2000" dirty="0" err="1">
                <a:solidFill>
                  <a:srgbClr val="0070C0"/>
                </a:solidFill>
              </a:rPr>
              <a:t>x,y</a:t>
            </a:r>
            <a:r>
              <a:rPr lang="en-US" altLang="zh-CN" sz="2000" dirty="0">
                <a:solidFill>
                  <a:srgbClr val="0070C0"/>
                </a:solidFill>
              </a:rPr>
              <a:t>),z)</a:t>
            </a:r>
          </a:p>
          <a:p>
            <a:pPr marL="1258888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#define min4(</a:t>
            </a:r>
            <a:r>
              <a:rPr lang="en-US" altLang="zh-CN" sz="2000" dirty="0" err="1">
                <a:solidFill>
                  <a:srgbClr val="0070C0"/>
                </a:solidFill>
              </a:rPr>
              <a:t>r,s,t,u</a:t>
            </a:r>
            <a:r>
              <a:rPr lang="en-US" altLang="zh-CN" sz="2000" dirty="0">
                <a:solidFill>
                  <a:srgbClr val="0070C0"/>
                </a:solidFill>
              </a:rPr>
              <a:t>) min(min3(</a:t>
            </a:r>
            <a:r>
              <a:rPr lang="en-US" altLang="zh-CN" sz="2000" dirty="0" err="1">
                <a:solidFill>
                  <a:srgbClr val="0070C0"/>
                </a:solidFill>
              </a:rPr>
              <a:t>r,s,t</a:t>
            </a:r>
            <a:r>
              <a:rPr lang="en-US" altLang="zh-CN" sz="2000" dirty="0">
                <a:solidFill>
                  <a:srgbClr val="0070C0"/>
                </a:solidFill>
              </a:rPr>
              <a:t>),u)</a:t>
            </a:r>
          </a:p>
          <a:p>
            <a:pPr marL="457200" lvl="1" indent="0"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        思考：</a:t>
            </a:r>
            <a:r>
              <a:rPr lang="en-US" altLang="zh-CN" sz="2000" dirty="0">
                <a:solidFill>
                  <a:srgbClr val="0070C0"/>
                </a:solidFill>
              </a:rPr>
              <a:t>int a=5, b = 10; c = min(a++, b++); </a:t>
            </a:r>
            <a:r>
              <a:rPr lang="en-US" altLang="zh-CN" sz="2000" dirty="0">
                <a:solidFill>
                  <a:prstClr val="black"/>
                </a:solidFill>
              </a:rPr>
              <a:t> c </a:t>
            </a:r>
            <a:r>
              <a:rPr lang="zh-CN" altLang="en-US" sz="2000" dirty="0">
                <a:solidFill>
                  <a:prstClr val="black"/>
                </a:solidFill>
              </a:rPr>
              <a:t>的值是多少？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1"/>
            <a:r>
              <a:rPr lang="zh-CN" altLang="en-US" sz="2000" dirty="0">
                <a:solidFill>
                  <a:prstClr val="black"/>
                </a:solidFill>
              </a:rPr>
              <a:t>例：使两个参数的值互换的宏</a:t>
            </a:r>
          </a:p>
          <a:p>
            <a:pPr marL="1258888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#define SWAP(</a:t>
            </a:r>
            <a:r>
              <a:rPr lang="en-US" altLang="zh-CN" sz="2000" dirty="0" err="1">
                <a:solidFill>
                  <a:srgbClr val="0070C0"/>
                </a:solidFill>
              </a:rPr>
              <a:t>type,x,y</a:t>
            </a:r>
            <a:r>
              <a:rPr lang="en-US" altLang="zh-CN" sz="2000" dirty="0">
                <a:solidFill>
                  <a:srgbClr val="0070C0"/>
                </a:solidFill>
              </a:rPr>
              <a:t>) {type temp=x; x=y; y=temp;}</a:t>
            </a:r>
          </a:p>
          <a:p>
            <a:pPr marL="1258888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double a1=2.3, a2=4.8;</a:t>
            </a:r>
          </a:p>
          <a:p>
            <a:pPr marL="1258888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SWAP(double, a1, a2);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96291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74FE4-1CD4-442E-99CA-2B52EC5E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带形参的宏（例二）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DF3A89-FB44-492A-9E7F-C0F364DDA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定义交换两个整数的宏：</a:t>
            </a:r>
            <a:r>
              <a:rPr lang="en-US" altLang="zh-CN" dirty="0"/>
              <a:t>SWAP(a, b)</a:t>
            </a:r>
          </a:p>
          <a:p>
            <a:pPr lvl="1"/>
            <a:r>
              <a:rPr lang="zh-CN" altLang="en-US" sz="1800" dirty="0"/>
              <a:t>方法一：</a:t>
            </a:r>
            <a:r>
              <a:rPr lang="en-US" altLang="zh-CN" sz="1800" dirty="0">
                <a:solidFill>
                  <a:srgbClr val="0070C0"/>
                </a:solidFill>
              </a:rPr>
              <a:t>#define SWAP(a, b) a = </a:t>
            </a:r>
            <a:r>
              <a:rPr lang="en-US" altLang="zh-CN" sz="1800" dirty="0" err="1">
                <a:solidFill>
                  <a:srgbClr val="0070C0"/>
                </a:solidFill>
              </a:rPr>
              <a:t>a+b</a:t>
            </a:r>
            <a:r>
              <a:rPr lang="en-US" altLang="zh-CN" sz="1800" dirty="0">
                <a:solidFill>
                  <a:srgbClr val="0070C0"/>
                </a:solidFill>
              </a:rPr>
              <a:t>; b = a–b; a = a–b;</a:t>
            </a:r>
          </a:p>
          <a:p>
            <a:pPr lvl="2"/>
            <a:r>
              <a:rPr lang="en-US" altLang="zh-CN" sz="1600" dirty="0"/>
              <a:t>SWAP(x, y); // </a:t>
            </a:r>
            <a:r>
              <a:rPr lang="en-US" altLang="zh-CN" sz="1600" dirty="0">
                <a:solidFill>
                  <a:srgbClr val="00B050"/>
                </a:solidFill>
              </a:rPr>
              <a:t>OK</a:t>
            </a:r>
          </a:p>
          <a:p>
            <a:pPr lvl="2"/>
            <a:r>
              <a:rPr lang="en-US" altLang="zh-CN" sz="1600" dirty="0"/>
              <a:t>if (x &lt; 0) SWAP(x, y); // </a:t>
            </a:r>
            <a:r>
              <a:rPr lang="en-US" altLang="zh-CN" sz="1600" dirty="0">
                <a:solidFill>
                  <a:srgbClr val="FF0000"/>
                </a:solidFill>
              </a:rPr>
              <a:t>ERROR</a:t>
            </a:r>
          </a:p>
          <a:p>
            <a:pPr lvl="3"/>
            <a:r>
              <a:rPr lang="zh-CN" altLang="en-US" sz="1600" dirty="0"/>
              <a:t>替换的结果：</a:t>
            </a:r>
            <a:r>
              <a:rPr lang="en-US" altLang="zh-CN" sz="1600" dirty="0"/>
              <a:t>if (x&lt; 0) x= </a:t>
            </a:r>
            <a:r>
              <a:rPr lang="en-US" altLang="zh-CN" sz="1600" dirty="0" err="1"/>
              <a:t>x+y</a:t>
            </a:r>
            <a:r>
              <a:rPr lang="en-US" altLang="zh-CN" sz="1600" dirty="0"/>
              <a:t>; y=x–y; x = x–y;</a:t>
            </a:r>
          </a:p>
          <a:p>
            <a:pPr lvl="1"/>
            <a:r>
              <a:rPr lang="zh-CN" altLang="en-US" sz="1800" dirty="0"/>
              <a:t>方法二：</a:t>
            </a:r>
            <a:r>
              <a:rPr lang="en-US" altLang="zh-CN" sz="1800" dirty="0">
                <a:solidFill>
                  <a:srgbClr val="0070C0"/>
                </a:solidFill>
              </a:rPr>
              <a:t>#define SWAP(a, b) { a = </a:t>
            </a:r>
            <a:r>
              <a:rPr lang="en-US" altLang="zh-CN" sz="1800" dirty="0" err="1">
                <a:solidFill>
                  <a:srgbClr val="0070C0"/>
                </a:solidFill>
              </a:rPr>
              <a:t>a+b</a:t>
            </a:r>
            <a:r>
              <a:rPr lang="en-US" altLang="zh-CN" sz="1800" dirty="0">
                <a:solidFill>
                  <a:srgbClr val="0070C0"/>
                </a:solidFill>
              </a:rPr>
              <a:t>; b = a–b; a = a–b; }</a:t>
            </a:r>
          </a:p>
          <a:p>
            <a:pPr lvl="2"/>
            <a:r>
              <a:rPr lang="en-US" altLang="zh-CN" sz="1600" dirty="0"/>
              <a:t>if (x &lt; 0) SWAP(x, y); // </a:t>
            </a:r>
            <a:r>
              <a:rPr lang="en-US" altLang="zh-CN" sz="1600" dirty="0">
                <a:solidFill>
                  <a:srgbClr val="00B050"/>
                </a:solidFill>
              </a:rPr>
              <a:t>OK</a:t>
            </a:r>
          </a:p>
          <a:p>
            <a:pPr lvl="3"/>
            <a:r>
              <a:rPr lang="zh-CN" altLang="en-US" sz="1600" dirty="0"/>
              <a:t>替换的结果：</a:t>
            </a:r>
            <a:r>
              <a:rPr lang="en-US" altLang="zh-CN" sz="1600" dirty="0"/>
              <a:t>if (x&lt; 0) { ... }; </a:t>
            </a:r>
          </a:p>
          <a:p>
            <a:pPr lvl="2"/>
            <a:r>
              <a:rPr lang="en-US" altLang="zh-CN" sz="1600" dirty="0"/>
              <a:t>if (x &lt; 0) SWAP(x, y); else SWAP(x, z); // </a:t>
            </a:r>
            <a:r>
              <a:rPr lang="en-US" altLang="zh-CN" sz="1600" dirty="0">
                <a:solidFill>
                  <a:srgbClr val="FF0000"/>
                </a:solidFill>
              </a:rPr>
              <a:t>ERROR</a:t>
            </a:r>
          </a:p>
          <a:p>
            <a:pPr lvl="3"/>
            <a:r>
              <a:rPr lang="zh-CN" altLang="en-US" sz="1600" dirty="0"/>
              <a:t>替换的结果：</a:t>
            </a:r>
            <a:r>
              <a:rPr lang="es-ES" altLang="zh-CN" sz="1600" dirty="0"/>
              <a:t>if (x&lt; 0) </a:t>
            </a:r>
            <a:r>
              <a:rPr lang="en-US" altLang="zh-CN" sz="1600" dirty="0"/>
              <a:t>{ ... }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; </a:t>
            </a:r>
            <a:r>
              <a:rPr lang="en-US" altLang="zh-CN" sz="1600" dirty="0"/>
              <a:t>else { ... };</a:t>
            </a:r>
          </a:p>
          <a:p>
            <a:pPr lvl="1"/>
            <a:r>
              <a:rPr lang="zh-CN" altLang="en-US" sz="1800" dirty="0"/>
              <a:t>方法三：</a:t>
            </a:r>
            <a:r>
              <a:rPr lang="en-US" altLang="zh-CN" sz="1800" dirty="0">
                <a:solidFill>
                  <a:srgbClr val="0070C0"/>
                </a:solidFill>
              </a:rPr>
              <a:t>#define SWAP(a, b) do { a = </a:t>
            </a:r>
            <a:r>
              <a:rPr lang="en-US" altLang="zh-CN" sz="1800" dirty="0" err="1">
                <a:solidFill>
                  <a:srgbClr val="0070C0"/>
                </a:solidFill>
              </a:rPr>
              <a:t>a+b</a:t>
            </a:r>
            <a:r>
              <a:rPr lang="en-US" altLang="zh-CN" sz="1800" dirty="0">
                <a:solidFill>
                  <a:srgbClr val="0070C0"/>
                </a:solidFill>
              </a:rPr>
              <a:t>; b = a–b; a = a–b; } while(0)</a:t>
            </a:r>
          </a:p>
        </p:txBody>
      </p:sp>
    </p:spTree>
    <p:extLst>
      <p:ext uri="{BB962C8B-B14F-4D97-AF65-F5344CB8AC3E}">
        <p14:creationId xmlns:p14="http://schemas.microsoft.com/office/powerpoint/2010/main" val="2700803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D5B84-0D6C-4D9A-8300-EF36C591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带形参的宏（例三）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AB6F30-6FF7-404A-AF95-02EDE557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z="2800" dirty="0">
                <a:solidFill>
                  <a:prstClr val="black"/>
                </a:solidFill>
              </a:rPr>
              <a:t>例：如何判断一个变量是有符号数还是无符号数？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1"/>
            <a:r>
              <a:rPr lang="zh-CN" altLang="en-US" dirty="0">
                <a:solidFill>
                  <a:prstClr val="black"/>
                </a:solidFill>
              </a:rPr>
              <a:t>例如，</a:t>
            </a:r>
            <a:r>
              <a:rPr lang="en-US" altLang="zh-CN" dirty="0">
                <a:solidFill>
                  <a:prstClr val="black"/>
                </a:solidFill>
              </a:rPr>
              <a:t>ANSI C</a:t>
            </a:r>
            <a:r>
              <a:rPr lang="zh-CN" altLang="en-US" dirty="0">
                <a:solidFill>
                  <a:prstClr val="black"/>
                </a:solidFill>
              </a:rPr>
              <a:t>中，</a:t>
            </a:r>
            <a:r>
              <a:rPr lang="en-US" altLang="zh-CN" dirty="0">
                <a:solidFill>
                  <a:prstClr val="black"/>
                </a:solidFill>
              </a:rPr>
              <a:t>char</a:t>
            </a:r>
            <a:r>
              <a:rPr lang="zh-CN" altLang="en-US" dirty="0">
                <a:solidFill>
                  <a:prstClr val="black"/>
                </a:solidFill>
              </a:rPr>
              <a:t>型变量可以是有符号数，也可以是无符号数，由编译器设计者决定</a:t>
            </a:r>
            <a:endParaRPr lang="en-US" altLang="zh-CN" dirty="0">
              <a:solidFill>
                <a:prstClr val="black"/>
              </a:solidFill>
            </a:endParaRPr>
          </a:p>
          <a:p>
            <a:pPr lvl="1"/>
            <a:r>
              <a:rPr lang="zh-CN" altLang="en-US" dirty="0">
                <a:solidFill>
                  <a:prstClr val="black"/>
                </a:solidFill>
              </a:rPr>
              <a:t>判断依据：无符号数永远不会是负的</a:t>
            </a:r>
            <a:endParaRPr lang="en-US" altLang="zh-CN" dirty="0">
              <a:solidFill>
                <a:prstClr val="black"/>
              </a:solidFill>
            </a:endParaRPr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9BF4E6-9D47-40EF-8A8F-D6417D0EF4AE}"/>
              </a:ext>
            </a:extLst>
          </p:cNvPr>
          <p:cNvSpPr/>
          <p:nvPr/>
        </p:nvSpPr>
        <p:spPr>
          <a:xfrm>
            <a:off x="1160724" y="4013596"/>
            <a:ext cx="6664004" cy="9110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eaLnBrk="0" fontAlgn="base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对变量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 marL="0" lvl="1" eaLnBrk="0" fontAlgn="base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#define IS_UNSIGNED(a) (a&gt;=0 &amp;&amp; ~a&gt;=0)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0FB59F-A9A3-4721-A77C-2DD12442BC58}"/>
              </a:ext>
            </a:extLst>
          </p:cNvPr>
          <p:cNvSpPr/>
          <p:nvPr/>
        </p:nvSpPr>
        <p:spPr>
          <a:xfrm>
            <a:off x="1115840" y="5380470"/>
            <a:ext cx="6745757" cy="9110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eaLnBrk="0" fontAlgn="base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对类型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type</a:t>
            </a:r>
          </a:p>
          <a:p>
            <a:pPr marL="0" lvl="1" eaLnBrk="0" fontAlgn="base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#define IS_UNSIGNED(type) ((type)0 – 1 &gt;0)</a:t>
            </a:r>
          </a:p>
        </p:txBody>
      </p:sp>
    </p:spTree>
    <p:extLst>
      <p:ext uri="{BB962C8B-B14F-4D97-AF65-F5344CB8AC3E}">
        <p14:creationId xmlns:p14="http://schemas.microsoft.com/office/powerpoint/2010/main" val="3543610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F2A47-686A-47B3-B082-699F5701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宏的编程实践（例一）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0096B-7ADB-4008-B3A1-9B0B7C4B8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在实践中可以使用宏，实现数组的遍历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683363A6-BEEE-4B84-8401-5B0F017293A5}"/>
              </a:ext>
            </a:extLst>
          </p:cNvPr>
          <p:cNvSpPr/>
          <p:nvPr/>
        </p:nvSpPr>
        <p:spPr bwMode="auto">
          <a:xfrm>
            <a:off x="301625" y="2163448"/>
            <a:ext cx="8421024" cy="4392335"/>
          </a:xfrm>
          <a:prstGeom prst="verticalScroll">
            <a:avLst>
              <a:gd name="adj" fmla="val 3546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#define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FOREACH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(item, array)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for(int keep = 1, count = 0,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size =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(array) /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(*(array)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keep &amp;&amp; count &lt; size; keep = !keep, count++)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	for(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item = (array) + count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keep; keep = !keep)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89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宏的使用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nums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[] = {1, 2, 3, 4, 5};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FOREACH(int *num,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nums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{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("%d\n", *num);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9037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F7641D-875D-4524-87D5-E512A975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宏的编程实践（例二）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C8D1A4-CC55-4131-8EBD-92B1D2B3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在实践中也可以使用宏，确保动态分配的内存被回收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C9D60CDD-F807-48C0-A968-6FE1974BDB6E}"/>
              </a:ext>
            </a:extLst>
          </p:cNvPr>
          <p:cNvSpPr/>
          <p:nvPr/>
        </p:nvSpPr>
        <p:spPr bwMode="auto">
          <a:xfrm>
            <a:off x="239401" y="2119488"/>
            <a:ext cx="8377062" cy="4043920"/>
          </a:xfrm>
          <a:prstGeom prst="verticalScroll">
            <a:avLst>
              <a:gd name="adj" fmla="val 3546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#include &lt;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stdlib.h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#define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ALLOC_MEM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(T,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num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p)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 T *p = (T*)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malloc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num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(T)), *_flag_ = (void*)0;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 == NULL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("Cannot allocate memory.\n"), 0) : !_flag_);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free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(p), _flag_ = (void*)1) )   </a:t>
            </a:r>
          </a:p>
          <a:p>
            <a:pPr marL="889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452438" algn="l"/>
              </a:tabLst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9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452438" algn="l"/>
              </a:tabLst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宏的使用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ALLOC_MEM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1, p) {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*p = 5;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对指针的操作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6775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5BD92-813F-4C2C-8806-87DEB2F6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宏的编程实践</a:t>
            </a:r>
            <a:r>
              <a:rPr lang="zh-CN" altLang="en-US"/>
              <a:t>（例三）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6C7168-B6A8-43DC-B934-2A1827FB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在实践中可以使用宏，确保文件正常打开，且使用后关闭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B2D9C97F-0CF1-4BFF-8516-DE7EFE4AC460}"/>
              </a:ext>
            </a:extLst>
          </p:cNvPr>
          <p:cNvSpPr/>
          <p:nvPr/>
        </p:nvSpPr>
        <p:spPr bwMode="auto">
          <a:xfrm>
            <a:off x="301625" y="2163448"/>
            <a:ext cx="8421024" cy="3639475"/>
          </a:xfrm>
          <a:prstGeom prst="verticalScroll">
            <a:avLst>
              <a:gd name="adj" fmla="val 3546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#include &lt;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stdio.h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#define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OPEN_FILE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(name, mode,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fp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 FILE *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fp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fopen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(name, mode), *_flag_ = (void*)0;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fp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==NULL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(“Error: %s.\n", name), exit(0), 0) : !_flag_); \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fclose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fp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_flag_ = (void*)1) )   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宏的使用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OPEN_FILE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("file.txt", "r",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fp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{</a:t>
            </a: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... ...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对文件的操作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90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2438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A68B5E-20E5-4AB7-815C-865110036733}"/>
              </a:ext>
            </a:extLst>
          </p:cNvPr>
          <p:cNvSpPr txBox="1"/>
          <p:nvPr/>
        </p:nvSpPr>
        <p:spPr>
          <a:xfrm>
            <a:off x="301625" y="5947914"/>
            <a:ext cx="3077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功能类似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中的： 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9B7627-B0BF-412C-A9EF-87375822B3ED}"/>
              </a:ext>
            </a:extLst>
          </p:cNvPr>
          <p:cNvSpPr/>
          <p:nvPr/>
        </p:nvSpPr>
        <p:spPr>
          <a:xfrm>
            <a:off x="3743593" y="5941261"/>
            <a:ext cx="48464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with open("file.txt", "r") as 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fp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... ...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对文件的操作</a:t>
            </a:r>
          </a:p>
        </p:txBody>
      </p:sp>
    </p:spTree>
    <p:extLst>
      <p:ext uri="{BB962C8B-B14F-4D97-AF65-F5344CB8AC3E}">
        <p14:creationId xmlns:p14="http://schemas.microsoft.com/office/powerpoint/2010/main" val="31514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E0744-70EA-453B-B0D6-C2A08E46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条件编译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6A2103-EC03-465F-872B-D477916C2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336432"/>
            <a:ext cx="8540750" cy="4762744"/>
          </a:xfrm>
        </p:spPr>
        <p:txBody>
          <a:bodyPr/>
          <a:lstStyle/>
          <a:p>
            <a:pPr lvl="0"/>
            <a:r>
              <a:rPr lang="zh-CN" altLang="en-US" dirty="0">
                <a:solidFill>
                  <a:prstClr val="black"/>
                </a:solidFill>
              </a:rPr>
              <a:t>条件编译允许预处理器根据条件，选择性地传递源程序中的文本行给编译器进行处理，或者忽略</a:t>
            </a:r>
            <a:endParaRPr lang="en-US" altLang="zh-CN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r>
              <a:rPr lang="zh-CN" altLang="en-US" dirty="0">
                <a:solidFill>
                  <a:prstClr val="black"/>
                </a:solidFill>
              </a:rPr>
              <a:t>根据指定的标识符是否定义过</a:t>
            </a:r>
            <a:endParaRPr lang="en-US" altLang="zh-CN" dirty="0">
              <a:solidFill>
                <a:prstClr val="black"/>
              </a:solidFill>
            </a:endParaRPr>
          </a:p>
          <a:p>
            <a:pPr marL="717550" lvl="0" indent="0">
              <a:spcBef>
                <a:spcPts val="0"/>
              </a:spcBef>
              <a:buNone/>
              <a:tabLst>
                <a:tab pos="1071563" algn="l"/>
                <a:tab pos="1612900" algn="l"/>
              </a:tabLst>
            </a:pPr>
            <a:endParaRPr lang="en-US" altLang="zh-CN" dirty="0">
              <a:solidFill>
                <a:srgbClr val="0070C0"/>
              </a:solidFill>
            </a:endParaRPr>
          </a:p>
          <a:p>
            <a:pPr lvl="0">
              <a:spcBef>
                <a:spcPts val="0"/>
              </a:spcBef>
            </a:pPr>
            <a:endParaRPr lang="en-US" altLang="zh-CN" dirty="0">
              <a:solidFill>
                <a:srgbClr val="0070C0"/>
              </a:solidFill>
            </a:endParaRPr>
          </a:p>
          <a:p>
            <a:pPr lvl="0">
              <a:spcBef>
                <a:spcPts val="0"/>
              </a:spcBef>
            </a:pPr>
            <a:endParaRPr lang="en-US" altLang="zh-CN" dirty="0">
              <a:solidFill>
                <a:srgbClr val="0070C0"/>
              </a:solidFill>
            </a:endParaRPr>
          </a:p>
          <a:p>
            <a:pPr lvl="0">
              <a:spcBef>
                <a:spcPts val="0"/>
              </a:spcBef>
            </a:pPr>
            <a:endParaRPr lang="en-US" altLang="zh-CN" dirty="0">
              <a:solidFill>
                <a:srgbClr val="0070C0"/>
              </a:solidFill>
            </a:endParaRPr>
          </a:p>
          <a:p>
            <a:pPr lvl="0">
              <a:spcBef>
                <a:spcPts val="0"/>
              </a:spcBef>
            </a:pPr>
            <a:endParaRPr lang="en-US" altLang="zh-CN" dirty="0">
              <a:solidFill>
                <a:prstClr val="black"/>
              </a:solidFill>
            </a:endParaRPr>
          </a:p>
          <a:p>
            <a:pPr lvl="1">
              <a:spcBef>
                <a:spcPts val="0"/>
              </a:spcBef>
            </a:pPr>
            <a:r>
              <a:rPr lang="zh-CN" altLang="en-US" sz="2000" dirty="0">
                <a:solidFill>
                  <a:prstClr val="black"/>
                </a:solidFill>
              </a:rPr>
              <a:t>例：</a:t>
            </a:r>
            <a:r>
              <a:rPr lang="en-US" altLang="zh-CN" dirty="0">
                <a:solidFill>
                  <a:srgbClr val="0070C0"/>
                </a:solidFill>
              </a:rPr>
              <a:t>#define DEBUG</a:t>
            </a:r>
            <a:r>
              <a:rPr lang="en-US" altLang="zh-CN" dirty="0">
                <a:solidFill>
                  <a:prstClr val="black"/>
                </a:solidFill>
              </a:rPr>
              <a:t>	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常用于调试</a:t>
            </a:r>
            <a:endParaRPr lang="en-US" altLang="zh-CN" dirty="0">
              <a:solidFill>
                <a:srgbClr val="00B050"/>
              </a:solidFill>
            </a:endParaRPr>
          </a:p>
          <a:p>
            <a:pPr marL="1165225" lvl="0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70C0"/>
                </a:solidFill>
              </a:rPr>
              <a:t> #ifdef DEBUG</a:t>
            </a:r>
          </a:p>
          <a:p>
            <a:pPr marL="1165225" lvl="0" indent="0">
              <a:spcBef>
                <a:spcPts val="0"/>
              </a:spcBef>
              <a:buNone/>
              <a:tabLst>
                <a:tab pos="1612900" algn="l"/>
              </a:tabLst>
            </a:pPr>
            <a:r>
              <a:rPr lang="en-US" altLang="zh-CN" dirty="0">
                <a:solidFill>
                  <a:srgbClr val="0070C0"/>
                </a:solidFill>
              </a:rPr>
              <a:t>	</a:t>
            </a:r>
            <a:r>
              <a:rPr lang="en-US" altLang="zh-CN" dirty="0" err="1">
                <a:solidFill>
                  <a:srgbClr val="0070C0"/>
                </a:solidFill>
              </a:rPr>
              <a:t>printf</a:t>
            </a:r>
            <a:r>
              <a:rPr lang="en-US" altLang="zh-CN" dirty="0">
                <a:solidFill>
                  <a:srgbClr val="0070C0"/>
                </a:solidFill>
              </a:rPr>
              <a:t>(……);</a:t>
            </a:r>
          </a:p>
          <a:p>
            <a:pPr marL="1165225" lvl="0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70C0"/>
                </a:solidFill>
              </a:rPr>
              <a:t> #endif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E491EF65-76FC-44CE-8F28-E3DE518D8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3783"/>
              </p:ext>
            </p:extLst>
          </p:nvPr>
        </p:nvGraphicFramePr>
        <p:xfrm>
          <a:off x="1064773" y="2681484"/>
          <a:ext cx="7014453" cy="2072640"/>
        </p:xfrm>
        <a:graphic>
          <a:graphicData uri="http://schemas.openxmlformats.org/drawingml/2006/table">
            <a:tbl>
              <a:tblPr firstRow="1" bandRow="1"/>
              <a:tblGrid>
                <a:gridCol w="2373877">
                  <a:extLst>
                    <a:ext uri="{9D8B030D-6E8A-4147-A177-3AD203B41FA5}">
                      <a16:colId xmlns:a16="http://schemas.microsoft.com/office/drawing/2014/main" val="4290777101"/>
                    </a:ext>
                  </a:extLst>
                </a:gridCol>
                <a:gridCol w="1785320">
                  <a:extLst>
                    <a:ext uri="{9D8B030D-6E8A-4147-A177-3AD203B41FA5}">
                      <a16:colId xmlns:a16="http://schemas.microsoft.com/office/drawing/2014/main" val="1073912862"/>
                    </a:ext>
                  </a:extLst>
                </a:gridCol>
                <a:gridCol w="2855256">
                  <a:extLst>
                    <a:ext uri="{9D8B030D-6E8A-4147-A177-3AD203B41FA5}">
                      <a16:colId xmlns:a16="http://schemas.microsoft.com/office/drawing/2014/main" val="1009525774"/>
                    </a:ext>
                  </a:extLst>
                </a:gridCol>
              </a:tblGrid>
              <a:tr h="10036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#ifdef 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标识符</a:t>
                      </a:r>
                      <a:endParaRPr lang="en-US" altLang="zh-CN" sz="24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#endif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zh-CN" altLang="en-US" sz="2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#ifdef 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标识符</a:t>
                      </a:r>
                      <a:endParaRPr lang="en-US" altLang="zh-CN" sz="24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#else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#endif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041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8180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89A4D-EF07-4933-BAFF-524D8F67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条件编译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B38ED-527B-4966-807C-176979C73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z="2400" dirty="0">
                <a:solidFill>
                  <a:prstClr val="black"/>
                </a:solidFill>
              </a:rPr>
              <a:t>根据指定的标识符是否</a:t>
            </a:r>
            <a:r>
              <a:rPr lang="zh-CN" altLang="en-US" sz="2400" dirty="0">
                <a:solidFill>
                  <a:srgbClr val="C00000"/>
                </a:solidFill>
              </a:rPr>
              <a:t>未定义</a:t>
            </a:r>
            <a:r>
              <a:rPr lang="zh-CN" altLang="en-US" sz="2400" dirty="0">
                <a:solidFill>
                  <a:prstClr val="black"/>
                </a:solidFill>
              </a:rPr>
              <a:t>过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lvl="0"/>
            <a:endParaRPr lang="en-US" altLang="zh-CN" sz="2400" dirty="0">
              <a:solidFill>
                <a:prstClr val="black"/>
              </a:solidFill>
            </a:endParaRPr>
          </a:p>
          <a:p>
            <a:pPr lvl="0"/>
            <a:endParaRPr lang="en-US" altLang="zh-CN" sz="24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endParaRPr lang="en-US" altLang="zh-CN" sz="2400" dirty="0">
              <a:solidFill>
                <a:prstClr val="black"/>
              </a:solidFill>
            </a:endParaRPr>
          </a:p>
          <a:p>
            <a:pPr lvl="0"/>
            <a:r>
              <a:rPr lang="zh-CN" altLang="en-US" sz="2400" dirty="0">
                <a:solidFill>
                  <a:prstClr val="black"/>
                </a:solidFill>
              </a:rPr>
              <a:t>根据</a:t>
            </a:r>
            <a:r>
              <a:rPr lang="zh-CN" altLang="en-US" sz="2400" dirty="0">
                <a:solidFill>
                  <a:srgbClr val="C00000"/>
                </a:solidFill>
              </a:rPr>
              <a:t>常量表达式</a:t>
            </a:r>
            <a:r>
              <a:rPr lang="zh-CN" altLang="en-US" sz="2400" dirty="0">
                <a:solidFill>
                  <a:prstClr val="black"/>
                </a:solidFill>
              </a:rPr>
              <a:t>的值是否非</a:t>
            </a:r>
            <a:r>
              <a:rPr lang="en-US" altLang="zh-CN" sz="2400" dirty="0">
                <a:solidFill>
                  <a:prstClr val="black"/>
                </a:solidFill>
              </a:rPr>
              <a:t>0</a:t>
            </a:r>
          </a:p>
          <a:p>
            <a:endParaRPr lang="zh-CN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185943D-FC73-4D6E-9061-D43D36D5C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077631"/>
              </p:ext>
            </p:extLst>
          </p:nvPr>
        </p:nvGraphicFramePr>
        <p:xfrm>
          <a:off x="844063" y="1887598"/>
          <a:ext cx="7315200" cy="2072640"/>
        </p:xfrm>
        <a:graphic>
          <a:graphicData uri="http://schemas.openxmlformats.org/drawingml/2006/table">
            <a:tbl>
              <a:tblPr firstRow="1" bandRow="1"/>
              <a:tblGrid>
                <a:gridCol w="2325041">
                  <a:extLst>
                    <a:ext uri="{9D8B030D-6E8A-4147-A177-3AD203B41FA5}">
                      <a16:colId xmlns:a16="http://schemas.microsoft.com/office/drawing/2014/main" val="4290777101"/>
                    </a:ext>
                  </a:extLst>
                </a:gridCol>
                <a:gridCol w="2012484">
                  <a:extLst>
                    <a:ext uri="{9D8B030D-6E8A-4147-A177-3AD203B41FA5}">
                      <a16:colId xmlns:a16="http://schemas.microsoft.com/office/drawing/2014/main" val="1073912862"/>
                    </a:ext>
                  </a:extLst>
                </a:gridCol>
                <a:gridCol w="2977675">
                  <a:extLst>
                    <a:ext uri="{9D8B030D-6E8A-4147-A177-3AD203B41FA5}">
                      <a16:colId xmlns:a16="http://schemas.microsoft.com/office/drawing/2014/main" val="100952577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#ifndef 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标识符</a:t>
                      </a:r>
                      <a:endParaRPr lang="en-US" altLang="zh-CN" sz="24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#endif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#ifndef 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标识符</a:t>
                      </a:r>
                      <a:endParaRPr lang="en-US" altLang="zh-CN" sz="24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#else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#endif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04169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36A3FA2-4BF7-452D-803F-4B86BBF99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747138"/>
              </p:ext>
            </p:extLst>
          </p:nvPr>
        </p:nvGraphicFramePr>
        <p:xfrm>
          <a:off x="677008" y="3977640"/>
          <a:ext cx="7989725" cy="2880360"/>
        </p:xfrm>
        <a:graphic>
          <a:graphicData uri="http://schemas.openxmlformats.org/drawingml/2006/table">
            <a:tbl>
              <a:tblPr firstRow="1" bandRow="1"/>
              <a:tblGrid>
                <a:gridCol w="2321169">
                  <a:extLst>
                    <a:ext uri="{9D8B030D-6E8A-4147-A177-3AD203B41FA5}">
                      <a16:colId xmlns:a16="http://schemas.microsoft.com/office/drawing/2014/main" val="4290777101"/>
                    </a:ext>
                  </a:extLst>
                </a:gridCol>
                <a:gridCol w="509954">
                  <a:extLst>
                    <a:ext uri="{9D8B030D-6E8A-4147-A177-3AD203B41FA5}">
                      <a16:colId xmlns:a16="http://schemas.microsoft.com/office/drawing/2014/main" val="1073912862"/>
                    </a:ext>
                  </a:extLst>
                </a:gridCol>
                <a:gridCol w="2277208">
                  <a:extLst>
                    <a:ext uri="{9D8B030D-6E8A-4147-A177-3AD203B41FA5}">
                      <a16:colId xmlns:a16="http://schemas.microsoft.com/office/drawing/2014/main" val="1009525774"/>
                    </a:ext>
                  </a:extLst>
                </a:gridCol>
                <a:gridCol w="391439">
                  <a:extLst>
                    <a:ext uri="{9D8B030D-6E8A-4147-A177-3AD203B41FA5}">
                      <a16:colId xmlns:a16="http://schemas.microsoft.com/office/drawing/2014/main" val="969671011"/>
                    </a:ext>
                  </a:extLst>
                </a:gridCol>
                <a:gridCol w="2489955">
                  <a:extLst>
                    <a:ext uri="{9D8B030D-6E8A-4147-A177-3AD203B41FA5}">
                      <a16:colId xmlns:a16="http://schemas.microsoft.com/office/drawing/2014/main" val="1701895749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#if 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常量表达式</a:t>
                      </a:r>
                      <a:endParaRPr lang="en-US" altLang="zh-CN" sz="24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#endif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#if 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常量表达式</a:t>
                      </a:r>
                      <a:endParaRPr lang="en-US" altLang="zh-CN" sz="24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#else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#endif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#ifdef 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标识符</a:t>
                      </a:r>
                      <a:endParaRPr lang="en-US" altLang="zh-CN" sz="24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#elif 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常量表达式</a:t>
                      </a:r>
                      <a:endParaRPr lang="en-US" altLang="zh-CN" sz="24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#else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altLang="en-US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程序段</a:t>
                      </a: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None/>
                        <a:tabLst>
                          <a:tab pos="444500" algn="l"/>
                          <a:tab pos="1071563" algn="l"/>
                          <a:tab pos="1612900" algn="l"/>
                        </a:tabLst>
                      </a:pPr>
                      <a:r>
                        <a:rPr lang="en-US" altLang="zh-CN" sz="2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#endif</a:t>
                      </a:r>
                      <a:endParaRPr lang="en-US" altLang="zh-CN" sz="20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041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3136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0B2B3-621E-4131-840C-F7664D86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条件编译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1E3847-F876-4263-85D9-E0F4C0108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可编写子多台机器或多种操作系统之间可移植的程序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可编写用不同的编译器编译的程序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为宏提供默认定义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#ifndef BUFFER_SIZE</a:t>
            </a:r>
          </a:p>
          <a:p>
            <a:pPr marL="457200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#define BUFFER_SIZE 256</a:t>
            </a:r>
          </a:p>
          <a:p>
            <a:pPr marL="457200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#endif</a:t>
            </a: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临时屏蔽包含注释</a:t>
            </a:r>
            <a:r>
              <a:rPr lang="en-US" altLang="zh-CN" sz="2000" dirty="0">
                <a:solidFill>
                  <a:srgbClr val="00B050"/>
                </a:solidFill>
              </a:rPr>
              <a:t>/* ... */</a:t>
            </a:r>
            <a:r>
              <a:rPr lang="zh-CN" altLang="en-US" sz="2000" dirty="0">
                <a:solidFill>
                  <a:prstClr val="black"/>
                </a:solidFill>
              </a:rPr>
              <a:t>的代码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#if 0</a:t>
            </a:r>
          </a:p>
          <a:p>
            <a:pPr marL="457200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	</a:t>
            </a:r>
            <a:r>
              <a:rPr lang="zh-CN" altLang="en-US" sz="2000" dirty="0">
                <a:solidFill>
                  <a:srgbClr val="0070C0"/>
                </a:solidFill>
              </a:rPr>
              <a:t>包含</a:t>
            </a:r>
            <a:r>
              <a:rPr lang="en-US" altLang="zh-CN" sz="2000" dirty="0">
                <a:solidFill>
                  <a:srgbClr val="00B050"/>
                </a:solidFill>
              </a:rPr>
              <a:t>/</a:t>
            </a:r>
            <a:r>
              <a:rPr lang="zh-CN" altLang="en-US" sz="2000" dirty="0">
                <a:solidFill>
                  <a:srgbClr val="00B050"/>
                </a:solidFill>
              </a:rPr>
              <a:t>* </a:t>
            </a:r>
            <a:r>
              <a:rPr lang="en-US" altLang="zh-CN" sz="2000" dirty="0">
                <a:solidFill>
                  <a:srgbClr val="00B050"/>
                </a:solidFill>
              </a:rPr>
              <a:t>... */</a:t>
            </a:r>
            <a:r>
              <a:rPr lang="zh-CN" altLang="en-US" sz="2000" dirty="0">
                <a:solidFill>
                  <a:srgbClr val="0070C0"/>
                </a:solidFill>
              </a:rPr>
              <a:t>的代码段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#endif</a:t>
            </a:r>
          </a:p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保护头文件以避免重复包含</a:t>
            </a:r>
          </a:p>
        </p:txBody>
      </p:sp>
      <p:sp>
        <p:nvSpPr>
          <p:cNvPr id="4" name="卷形: 垂直 4">
            <a:extLst>
              <a:ext uri="{FF2B5EF4-FFF2-40B4-BE49-F238E27FC236}">
                <a16:creationId xmlns:a16="http://schemas.microsoft.com/office/drawing/2014/main" id="{FF2D4A4A-F309-46DF-B212-A77BF93F8E84}"/>
              </a:ext>
            </a:extLst>
          </p:cNvPr>
          <p:cNvSpPr/>
          <p:nvPr/>
        </p:nvSpPr>
        <p:spPr bwMode="auto">
          <a:xfrm>
            <a:off x="4357712" y="2917508"/>
            <a:ext cx="4373050" cy="3641553"/>
          </a:xfrm>
          <a:prstGeom prst="verticalScroll">
            <a:avLst>
              <a:gd name="adj" fmla="val 4428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ifndef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_HELLO_H_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#define _HELLO_H_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增加上述宏定义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避免头文件被重复包含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头文件的内容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 ...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endif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8D433B-6BA3-4423-B71D-7916C430FC32}"/>
              </a:ext>
            </a:extLst>
          </p:cNvPr>
          <p:cNvSpPr txBox="1"/>
          <p:nvPr/>
        </p:nvSpPr>
        <p:spPr>
          <a:xfrm>
            <a:off x="5240835" y="2286000"/>
            <a:ext cx="2773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头文件：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hello.h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25922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4A654-395A-4573-AEA6-C343AC435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核心系统预定义宏（</a:t>
            </a:r>
            <a:r>
              <a:rPr lang="en-US" altLang="zh-CN" dirty="0"/>
              <a:t>ANSI C</a:t>
            </a:r>
            <a:r>
              <a:rPr lang="zh-CN" altLang="en-US" dirty="0"/>
              <a:t>标准）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E0F68B-62AF-4FEF-BE54-6F54AFDBE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这些宏在现代</a:t>
            </a:r>
            <a:r>
              <a:rPr lang="en-US" altLang="zh-CN" dirty="0"/>
              <a:t>C</a:t>
            </a:r>
            <a:r>
              <a:rPr lang="zh-CN" altLang="en-US" dirty="0"/>
              <a:t>编译器中均可用，通常用于打印调试信息</a:t>
            </a:r>
            <a:endParaRPr lang="en-US" altLang="zh-CN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__FILE__   </a:t>
            </a:r>
            <a:r>
              <a:rPr lang="en-US" altLang="zh-CN" sz="1800" dirty="0"/>
              <a:t>: </a:t>
            </a:r>
            <a:r>
              <a:rPr lang="zh-CN" altLang="en-US" sz="1800" dirty="0"/>
              <a:t>字符串文字，表示当前正在处理的源文件名。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__LINE__  </a:t>
            </a:r>
            <a:r>
              <a:rPr lang="en-US" altLang="zh-CN" sz="1800" dirty="0"/>
              <a:t>: </a:t>
            </a:r>
            <a:r>
              <a:rPr lang="zh-CN" altLang="en-US" sz="1800" dirty="0"/>
              <a:t>整数，表示当前代码行在文件中的行号。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__DATE__ </a:t>
            </a:r>
            <a:r>
              <a:rPr lang="en-US" altLang="zh-CN" sz="1800" dirty="0"/>
              <a:t>: </a:t>
            </a:r>
            <a:r>
              <a:rPr lang="zh-CN" altLang="en-US" sz="1800" dirty="0"/>
              <a:t>字符串文字，表示预处理的日期，格式为 </a:t>
            </a:r>
            <a:r>
              <a:rPr lang="en-US" altLang="zh-CN" sz="1800" dirty="0"/>
              <a:t>"</a:t>
            </a:r>
            <a:r>
              <a:rPr lang="en-US" altLang="zh-CN" sz="1800" dirty="0" err="1"/>
              <a:t>Mmm</a:t>
            </a:r>
            <a:r>
              <a:rPr lang="en-US" altLang="zh-CN" sz="1800" dirty="0"/>
              <a:t> dd </a:t>
            </a:r>
            <a:r>
              <a:rPr lang="en-US" altLang="zh-CN" sz="1800" dirty="0" err="1"/>
              <a:t>yyyy</a:t>
            </a:r>
            <a:r>
              <a:rPr lang="en-US" altLang="zh-CN" sz="1800" dirty="0"/>
              <a:t>"</a:t>
            </a:r>
            <a:r>
              <a:rPr lang="zh-CN" altLang="en-US" sz="1800" dirty="0"/>
              <a:t>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__TIME__ </a:t>
            </a:r>
            <a:r>
              <a:rPr lang="en-US" altLang="zh-CN" sz="1800" dirty="0"/>
              <a:t>: </a:t>
            </a:r>
            <a:r>
              <a:rPr lang="zh-CN" altLang="en-US" sz="1800" dirty="0"/>
              <a:t>字符串文字，表示预处理的时间，格式为 </a:t>
            </a:r>
            <a:r>
              <a:rPr lang="en-US" altLang="zh-CN" sz="1800" dirty="0"/>
              <a:t>"</a:t>
            </a:r>
            <a:r>
              <a:rPr lang="en-US" altLang="zh-CN" sz="1800" dirty="0" err="1"/>
              <a:t>hh:mm:ss</a:t>
            </a:r>
            <a:r>
              <a:rPr lang="en-US" altLang="zh-CN" sz="1800" dirty="0"/>
              <a:t>"</a:t>
            </a:r>
            <a:r>
              <a:rPr lang="zh-CN" altLang="en-US" sz="1800" dirty="0"/>
              <a:t>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</a:t>
            </a:r>
            <a:r>
              <a:rPr lang="en-US" altLang="zh-CN" sz="1800" dirty="0" err="1">
                <a:solidFill>
                  <a:srgbClr val="0070C0"/>
                </a:solidFill>
              </a:rPr>
              <a:t>func</a:t>
            </a:r>
            <a:r>
              <a:rPr lang="en-US" altLang="zh-CN" sz="1800" dirty="0">
                <a:solidFill>
                  <a:srgbClr val="0070C0"/>
                </a:solidFill>
              </a:rPr>
              <a:t>__  </a:t>
            </a:r>
            <a:r>
              <a:rPr lang="en-US" altLang="zh-CN" sz="1800" dirty="0"/>
              <a:t>: </a:t>
            </a:r>
            <a:r>
              <a:rPr lang="zh-CN" altLang="en-US" sz="1800" dirty="0"/>
              <a:t>字符串，表示当前所在函数的名称（</a:t>
            </a:r>
            <a:r>
              <a:rPr lang="en-US" altLang="zh-CN" sz="1800" dirty="0"/>
              <a:t>C99</a:t>
            </a:r>
            <a:r>
              <a:rPr lang="zh-CN" altLang="en-US" sz="1800" dirty="0"/>
              <a:t>标准引入）。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__STDC__ </a:t>
            </a:r>
            <a:r>
              <a:rPr lang="en-US" altLang="zh-CN" sz="1800" dirty="0"/>
              <a:t>: </a:t>
            </a:r>
            <a:r>
              <a:rPr lang="zh-CN" altLang="en-US" sz="1800" dirty="0"/>
              <a:t>如果编译器符合</a:t>
            </a:r>
            <a:r>
              <a:rPr lang="en-US" altLang="zh-CN" sz="1800" dirty="0"/>
              <a:t>ANSI C</a:t>
            </a:r>
            <a:r>
              <a:rPr lang="zh-CN" altLang="en-US" sz="1800" dirty="0"/>
              <a:t>标准，则定义为</a:t>
            </a:r>
            <a:r>
              <a:rPr lang="en-US" altLang="zh-CN" sz="1800" dirty="0"/>
              <a:t>1</a:t>
            </a:r>
            <a:r>
              <a:rPr lang="zh-CN" altLang="en-US" sz="1800" dirty="0"/>
              <a:t>。</a:t>
            </a:r>
          </a:p>
        </p:txBody>
      </p:sp>
      <p:sp>
        <p:nvSpPr>
          <p:cNvPr id="4" name="卷形: 垂直 4">
            <a:extLst>
              <a:ext uri="{FF2B5EF4-FFF2-40B4-BE49-F238E27FC236}">
                <a16:creationId xmlns:a16="http://schemas.microsoft.com/office/drawing/2014/main" id="{3B7741E3-1E57-4DB0-B857-08D26FDBB23D}"/>
              </a:ext>
            </a:extLst>
          </p:cNvPr>
          <p:cNvSpPr/>
          <p:nvPr/>
        </p:nvSpPr>
        <p:spPr bwMode="auto">
          <a:xfrm>
            <a:off x="697280" y="4765431"/>
            <a:ext cx="7910390" cy="1709699"/>
          </a:xfrm>
          <a:prstGeom prst="verticalScroll">
            <a:avLst>
              <a:gd name="adj" fmla="val 4428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#include &lt;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stdio.h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print_log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("File: %s, Line: %d, Function: %s\n", __FILE__, __LINE__, __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func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__);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输出示例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File: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main.c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Line: 4, Function: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print_log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55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83FD6-2718-4E6C-AD19-A9CA3ACE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编译器特性与平台宏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62AF45-5C1C-440A-B230-4FB86041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用于条件编译，根据编译器类型或平台调整代码</a:t>
            </a:r>
            <a:endParaRPr lang="en-US" altLang="zh-CN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__GNUC__  </a:t>
            </a:r>
            <a:r>
              <a:rPr lang="en-US" altLang="zh-CN" sz="1800" dirty="0"/>
              <a:t>: GNU GCC</a:t>
            </a:r>
            <a:r>
              <a:rPr lang="zh-CN" altLang="en-US" sz="1800" dirty="0"/>
              <a:t>编译器或兼容编译器（如</a:t>
            </a:r>
            <a:r>
              <a:rPr lang="en-US" altLang="zh-CN" sz="1800" dirty="0"/>
              <a:t>Clang</a:t>
            </a:r>
            <a:r>
              <a:rPr lang="zh-CN" altLang="en-US" sz="1800" dirty="0"/>
              <a:t>）定义此宏。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_MSC_VER  </a:t>
            </a:r>
            <a:r>
              <a:rPr lang="en-US" altLang="zh-CN" sz="1800" dirty="0"/>
              <a:t>: Microsoft Visual C++ (MSVC) </a:t>
            </a:r>
            <a:r>
              <a:rPr lang="zh-CN" altLang="en-US" sz="1800" dirty="0"/>
              <a:t>编译器定义此宏。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</a:t>
            </a:r>
            <a:r>
              <a:rPr lang="en-US" altLang="zh-CN" sz="1800" dirty="0" err="1">
                <a:solidFill>
                  <a:srgbClr val="0070C0"/>
                </a:solidFill>
              </a:rPr>
              <a:t>linux</a:t>
            </a:r>
            <a:r>
              <a:rPr lang="en-US" altLang="zh-CN" sz="1800" dirty="0">
                <a:solidFill>
                  <a:srgbClr val="0070C0"/>
                </a:solidFill>
              </a:rPr>
              <a:t>__     </a:t>
            </a:r>
            <a:r>
              <a:rPr lang="en-US" altLang="zh-CN" sz="1800" dirty="0"/>
              <a:t>: </a:t>
            </a:r>
            <a:r>
              <a:rPr lang="zh-CN" altLang="en-US" sz="1800" dirty="0"/>
              <a:t>在</a:t>
            </a:r>
            <a:r>
              <a:rPr lang="en-US" altLang="zh-CN" sz="1800" dirty="0"/>
              <a:t>Linux</a:t>
            </a:r>
            <a:r>
              <a:rPr lang="zh-CN" altLang="en-US" sz="1800" dirty="0"/>
              <a:t>操作系统下定义。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_WIN32 / _WIN64</a:t>
            </a:r>
            <a:r>
              <a:rPr lang="en-US" altLang="zh-CN" sz="1800" dirty="0"/>
              <a:t>: </a:t>
            </a:r>
            <a:r>
              <a:rPr lang="zh-CN" altLang="en-US" sz="1800" dirty="0"/>
              <a:t>在</a:t>
            </a:r>
            <a:r>
              <a:rPr lang="en-US" altLang="zh-CN" sz="1800" dirty="0"/>
              <a:t>Windows</a:t>
            </a:r>
            <a:r>
              <a:rPr lang="zh-CN" altLang="en-US" sz="1800" dirty="0"/>
              <a:t>操作系统下定义。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</a:t>
            </a:r>
            <a:r>
              <a:rPr lang="en-US" altLang="zh-CN" sz="1800" dirty="0" err="1">
                <a:solidFill>
                  <a:srgbClr val="0070C0"/>
                </a:solidFill>
              </a:rPr>
              <a:t>cplusplus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/>
              <a:t>: </a:t>
            </a:r>
            <a:r>
              <a:rPr lang="zh-CN" altLang="en-US" sz="1800" dirty="0"/>
              <a:t>如果是</a:t>
            </a:r>
            <a:r>
              <a:rPr lang="en-US" altLang="zh-CN" sz="1800" dirty="0"/>
              <a:t>C++</a:t>
            </a:r>
            <a:r>
              <a:rPr lang="zh-CN" altLang="en-US" sz="1800" dirty="0"/>
              <a:t>代码文件，则定义此宏。</a:t>
            </a:r>
          </a:p>
        </p:txBody>
      </p:sp>
      <p:sp>
        <p:nvSpPr>
          <p:cNvPr id="4" name="卷形: 垂直 4">
            <a:extLst>
              <a:ext uri="{FF2B5EF4-FFF2-40B4-BE49-F238E27FC236}">
                <a16:creationId xmlns:a16="http://schemas.microsoft.com/office/drawing/2014/main" id="{3F543417-14AD-431C-9778-5556A3BD941D}"/>
              </a:ext>
            </a:extLst>
          </p:cNvPr>
          <p:cNvSpPr/>
          <p:nvPr/>
        </p:nvSpPr>
        <p:spPr bwMode="auto">
          <a:xfrm>
            <a:off x="776411" y="4538701"/>
            <a:ext cx="3443897" cy="1848506"/>
          </a:xfrm>
          <a:prstGeom prst="verticalScroll">
            <a:avLst>
              <a:gd name="adj" fmla="val 4428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#ifdef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_WIN32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#include &lt;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windows.h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#else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#include &lt;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unistd.h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#endif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8EEC40-1085-404A-B190-8DB2A7EF58EE}"/>
              </a:ext>
            </a:extLst>
          </p:cNvPr>
          <p:cNvSpPr txBox="1"/>
          <p:nvPr/>
        </p:nvSpPr>
        <p:spPr>
          <a:xfrm>
            <a:off x="5046784" y="4092476"/>
            <a:ext cx="3877407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预处理阶段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宏定义是在编译之前由预处理器进行简单文本替换的。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调试与查看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 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-E - &lt; /dev/null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命令查看当前编译器定义的所有宏。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不可重定义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系统预定义宏通常不能使用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#undef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重新定义。</a:t>
            </a:r>
          </a:p>
        </p:txBody>
      </p:sp>
    </p:spTree>
    <p:extLst>
      <p:ext uri="{BB962C8B-B14F-4D97-AF65-F5344CB8AC3E}">
        <p14:creationId xmlns:p14="http://schemas.microsoft.com/office/powerpoint/2010/main" val="2930768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01ACE-D603-419E-BEF3-77598D26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其它系统预定义宏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35B61-2D27-4A2E-8E9C-A2A8222F6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整形变量的表示范围：</a:t>
            </a:r>
            <a:r>
              <a:rPr lang="en-US" altLang="zh-CN" dirty="0"/>
              <a:t>#include &lt;</a:t>
            </a:r>
            <a:r>
              <a:rPr lang="en-US" altLang="zh-CN" dirty="0" err="1">
                <a:solidFill>
                  <a:srgbClr val="FF0000"/>
                </a:solidFill>
              </a:rPr>
              <a:t>limits.h</a:t>
            </a:r>
            <a:r>
              <a:rPr lang="en-US" altLang="zh-CN" dirty="0"/>
              <a:t>&gt;</a:t>
            </a:r>
          </a:p>
          <a:p>
            <a:pPr lvl="1"/>
            <a:r>
              <a:rPr lang="zh-CN" altLang="en-US" sz="2000" dirty="0"/>
              <a:t>字符类型（</a:t>
            </a:r>
            <a:r>
              <a:rPr lang="en-US" altLang="zh-CN" sz="2000" dirty="0">
                <a:solidFill>
                  <a:srgbClr val="0070C0"/>
                </a:solidFill>
              </a:rPr>
              <a:t>char</a:t>
            </a:r>
            <a:r>
              <a:rPr lang="zh-CN" altLang="en-US" sz="2000" dirty="0"/>
              <a:t>）   ：</a:t>
            </a:r>
            <a:r>
              <a:rPr lang="en-US" altLang="zh-CN" sz="2000" dirty="0">
                <a:solidFill>
                  <a:srgbClr val="0070C0"/>
                </a:solidFill>
              </a:rPr>
              <a:t>CHAR_MIN</a:t>
            </a:r>
            <a:r>
              <a:rPr lang="zh-CN" altLang="en-US" sz="2000" dirty="0">
                <a:solidFill>
                  <a:srgbClr val="0070C0"/>
                </a:solidFill>
              </a:rPr>
              <a:t>，</a:t>
            </a:r>
            <a:r>
              <a:rPr lang="en-US" altLang="zh-CN" sz="2000" dirty="0">
                <a:solidFill>
                  <a:srgbClr val="0070C0"/>
                </a:solidFill>
              </a:rPr>
              <a:t>CHAR_MAX, UCHAR_MAX</a:t>
            </a:r>
          </a:p>
          <a:p>
            <a:pPr lvl="1"/>
            <a:r>
              <a:rPr lang="zh-CN" altLang="en-US" sz="2000" dirty="0"/>
              <a:t>整数类型（</a:t>
            </a:r>
            <a:r>
              <a:rPr lang="en-US" altLang="zh-CN" sz="2000" dirty="0">
                <a:solidFill>
                  <a:srgbClr val="0070C0"/>
                </a:solidFill>
              </a:rPr>
              <a:t>int</a:t>
            </a:r>
            <a:r>
              <a:rPr lang="zh-CN" altLang="en-US" sz="2000" dirty="0"/>
              <a:t>）      ：</a:t>
            </a:r>
            <a:r>
              <a:rPr lang="en-US" altLang="zh-CN" sz="2000" dirty="0">
                <a:solidFill>
                  <a:srgbClr val="0070C0"/>
                </a:solidFill>
              </a:rPr>
              <a:t>INT_MIN, INT_MAX, UINT_MAX</a:t>
            </a:r>
          </a:p>
          <a:p>
            <a:pPr lvl="1"/>
            <a:r>
              <a:rPr lang="zh-CN" altLang="en-US" sz="2000" dirty="0"/>
              <a:t>长整数类型（</a:t>
            </a:r>
            <a:r>
              <a:rPr lang="en-US" altLang="zh-CN" sz="2000" dirty="0">
                <a:solidFill>
                  <a:srgbClr val="0070C0"/>
                </a:solidFill>
              </a:rPr>
              <a:t>long</a:t>
            </a:r>
            <a:r>
              <a:rPr lang="zh-CN" altLang="en-US" sz="2000" dirty="0"/>
              <a:t>）：</a:t>
            </a:r>
            <a:r>
              <a:rPr lang="en-US" altLang="zh-CN" sz="2000" dirty="0">
                <a:solidFill>
                  <a:srgbClr val="0070C0"/>
                </a:solidFill>
              </a:rPr>
              <a:t>LONG_MIN, LONG_MAX, ULONG_MAX</a:t>
            </a:r>
          </a:p>
          <a:p>
            <a:r>
              <a:rPr lang="zh-CN" altLang="en-US" dirty="0"/>
              <a:t>浮点型变量的表示范围：</a:t>
            </a:r>
            <a:r>
              <a:rPr lang="en-US" altLang="zh-CN" dirty="0"/>
              <a:t>#include &lt;</a:t>
            </a:r>
            <a:r>
              <a:rPr lang="en-US" altLang="zh-CN" dirty="0" err="1">
                <a:solidFill>
                  <a:srgbClr val="FF0000"/>
                </a:solidFill>
              </a:rPr>
              <a:t>float.h</a:t>
            </a:r>
            <a:r>
              <a:rPr lang="en-US" altLang="zh-CN" dirty="0"/>
              <a:t>&gt;</a:t>
            </a:r>
          </a:p>
          <a:p>
            <a:pPr lvl="1"/>
            <a:r>
              <a:rPr lang="zh-CN" altLang="en-US" sz="2000" dirty="0"/>
              <a:t>最大值：</a:t>
            </a:r>
            <a:r>
              <a:rPr lang="en-US" altLang="zh-CN" sz="2000" dirty="0">
                <a:solidFill>
                  <a:srgbClr val="0070C0"/>
                </a:solidFill>
              </a:rPr>
              <a:t>FLT_MAX, DBL_MAX, LDBL_MAX</a:t>
            </a:r>
          </a:p>
          <a:p>
            <a:pPr lvl="1"/>
            <a:r>
              <a:rPr lang="zh-CN" altLang="en-US" sz="2000" dirty="0"/>
              <a:t>精度   ：</a:t>
            </a:r>
            <a:r>
              <a:rPr lang="it-IT" altLang="zh-CN" sz="2000" dirty="0">
                <a:solidFill>
                  <a:srgbClr val="0070C0"/>
                </a:solidFill>
              </a:rPr>
              <a:t>FLT_EPSILON, DBL_EPSILON, LDBL_EPSILON</a:t>
            </a:r>
            <a:endParaRPr lang="zh-CN" altLang="en-US" sz="2000" dirty="0">
              <a:solidFill>
                <a:srgbClr val="0070C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9564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324D5-A0CE-42E9-B8D3-84D02474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系统预定义宏（例）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AEE332-FB57-4F61-9803-19023A9F6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268760"/>
            <a:ext cx="8540750" cy="4830415"/>
          </a:xfrm>
        </p:spPr>
        <p:txBody>
          <a:bodyPr/>
          <a:lstStyle/>
          <a:p>
            <a:r>
              <a:rPr lang="zh-CN" altLang="en-US" dirty="0"/>
              <a:t>在实践中使用系统宏进行打印错误消息，进行程序调试</a:t>
            </a:r>
          </a:p>
        </p:txBody>
      </p:sp>
      <p:sp>
        <p:nvSpPr>
          <p:cNvPr id="4" name="卷形: 垂直 4">
            <a:extLst>
              <a:ext uri="{FF2B5EF4-FFF2-40B4-BE49-F238E27FC236}">
                <a16:creationId xmlns:a16="http://schemas.microsoft.com/office/drawing/2014/main" id="{38301E76-8BF5-4022-BF87-47AE5654F3EB}"/>
              </a:ext>
            </a:extLst>
          </p:cNvPr>
          <p:cNvSpPr/>
          <p:nvPr/>
        </p:nvSpPr>
        <p:spPr bwMode="auto">
          <a:xfrm>
            <a:off x="379413" y="1927920"/>
            <a:ext cx="8140334" cy="4499257"/>
          </a:xfrm>
          <a:prstGeom prst="verticalScroll">
            <a:avLst>
              <a:gd name="adj" fmla="val 4428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#ifdef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DEBUG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#define LOG(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fmt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\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(“[DEBUG] File %s, line %d: "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fmt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"\n", \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__FILE__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__LINE__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##__VA_ARGS__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#else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#define LOG(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fmt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...)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Release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版本中空定义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#endif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main()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int b = 20;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LOG("Variable b is %d", b);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调试时打印，否则不打印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return 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kern="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调试模式下编译程序：</a:t>
            </a:r>
            <a:r>
              <a:rPr lang="en-US" altLang="zh-CN" kern="0" dirty="0" err="1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gcc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–DDEBUG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–g –o main </a:t>
            </a:r>
            <a:r>
              <a:rPr lang="en-US" altLang="zh-CN" kern="0" dirty="0" err="1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main.c</a:t>
            </a:r>
            <a:endParaRPr lang="en-US" altLang="zh-CN" kern="0" dirty="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5850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8FC70-F4F9-4BB8-ABA8-A7D1AD63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调试断言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D6DE33-5CDE-4BE4-83E9-61350EF62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2"/>
            <a:ext cx="8692906" cy="4542383"/>
          </a:xfrm>
        </p:spPr>
        <p:txBody>
          <a:bodyPr/>
          <a:lstStyle/>
          <a:p>
            <a:r>
              <a:rPr lang="zh-CN" altLang="en-US" sz="2000" dirty="0"/>
              <a:t>调试断言：</a:t>
            </a:r>
            <a:r>
              <a:rPr lang="en-US" altLang="zh-CN" sz="2000" dirty="0"/>
              <a:t>#include &lt;</a:t>
            </a:r>
            <a:r>
              <a:rPr lang="en-US" altLang="zh-CN" sz="2000" dirty="0" err="1">
                <a:solidFill>
                  <a:srgbClr val="FF0000"/>
                </a:solidFill>
              </a:rPr>
              <a:t>assert.h</a:t>
            </a:r>
            <a:r>
              <a:rPr lang="en-US" altLang="zh-CN" sz="2000" dirty="0"/>
              <a:t>&gt;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void assert(int expr) </a:t>
            </a:r>
            <a:r>
              <a:rPr lang="zh-CN" altLang="en-US" sz="1800" dirty="0"/>
              <a:t>：如果表达式</a:t>
            </a:r>
            <a:r>
              <a:rPr lang="en-US" altLang="zh-CN" sz="1800" dirty="0"/>
              <a:t>expr</a:t>
            </a:r>
            <a:r>
              <a:rPr lang="zh-CN" altLang="en-US" sz="1800" dirty="0"/>
              <a:t>的值为假</a:t>
            </a:r>
            <a:r>
              <a:rPr lang="en-US" altLang="zh-CN" sz="1800" dirty="0"/>
              <a:t>(</a:t>
            </a:r>
            <a:r>
              <a:rPr lang="zh-CN" altLang="en-US" sz="1800" dirty="0"/>
              <a:t>即为</a:t>
            </a:r>
            <a:r>
              <a:rPr lang="en-US" altLang="zh-CN" sz="1800" dirty="0"/>
              <a:t>0),</a:t>
            </a:r>
            <a:r>
              <a:rPr lang="zh-CN" altLang="en-US" sz="1800" dirty="0"/>
              <a:t>那么它就先向</a:t>
            </a:r>
            <a:r>
              <a:rPr lang="en-US" altLang="zh-CN" sz="1800" dirty="0"/>
              <a:t>stderr</a:t>
            </a:r>
            <a:r>
              <a:rPr lang="zh-CN" altLang="en-US" sz="1800" dirty="0"/>
              <a:t>打印一条出错信息，然后通过条用</a:t>
            </a:r>
            <a:r>
              <a:rPr lang="en-US" altLang="zh-CN" sz="1800" dirty="0"/>
              <a:t>abort</a:t>
            </a:r>
            <a:r>
              <a:rPr lang="zh-CN" altLang="en-US" sz="1800" dirty="0"/>
              <a:t>来终止程序；否则什么也不做</a:t>
            </a:r>
            <a:endParaRPr lang="en-US" altLang="zh-CN" sz="1800" dirty="0"/>
          </a:p>
          <a:p>
            <a:pPr lvl="2"/>
            <a:r>
              <a:rPr lang="zh-CN" altLang="en-US" sz="1800" dirty="0"/>
              <a:t>使用</a:t>
            </a:r>
            <a:r>
              <a:rPr lang="en-US" altLang="zh-CN" sz="1800" dirty="0"/>
              <a:t>assert</a:t>
            </a:r>
            <a:r>
              <a:rPr lang="zh-CN" altLang="en-US" sz="1800" dirty="0"/>
              <a:t>时，断言的内容（表达式）要明确，尽量一项内容写一行</a:t>
            </a:r>
            <a:endParaRPr lang="en-US" altLang="zh-CN" sz="1800" dirty="0"/>
          </a:p>
          <a:p>
            <a:pPr lvl="2"/>
            <a:r>
              <a:rPr lang="zh-CN" altLang="en-US" sz="1800" dirty="0"/>
              <a:t>在调试程序时，在怀疑有问题的地方插入断言，可阻断</a:t>
            </a:r>
            <a:r>
              <a:rPr lang="en-US" altLang="zh-CN" sz="1800" dirty="0"/>
              <a:t>Bug</a:t>
            </a:r>
            <a:r>
              <a:rPr lang="zh-CN" altLang="en-US" sz="1800" dirty="0"/>
              <a:t>的扩散</a:t>
            </a:r>
          </a:p>
          <a:p>
            <a:endParaRPr lang="zh-CN" altLang="en-US" dirty="0"/>
          </a:p>
        </p:txBody>
      </p:sp>
      <p:sp>
        <p:nvSpPr>
          <p:cNvPr id="4" name="卷形: 垂直 4">
            <a:extLst>
              <a:ext uri="{FF2B5EF4-FFF2-40B4-BE49-F238E27FC236}">
                <a16:creationId xmlns:a16="http://schemas.microsoft.com/office/drawing/2014/main" id="{F82AFD7C-4D72-4729-9CE8-2FF01CEE76F9}"/>
              </a:ext>
            </a:extLst>
          </p:cNvPr>
          <p:cNvSpPr/>
          <p:nvPr/>
        </p:nvSpPr>
        <p:spPr bwMode="auto">
          <a:xfrm>
            <a:off x="597202" y="3577288"/>
            <a:ext cx="8101752" cy="2987714"/>
          </a:xfrm>
          <a:prstGeom prst="verticalScroll">
            <a:avLst>
              <a:gd name="adj" fmla="val 3940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func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x,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y,) {</a:t>
            </a: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assert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(x &lt; a1 &amp;&amp; x &gt; b1);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函数执行前，关于参数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的断言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assert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(y &lt; a2 &amp;&amp; y &gt; b2);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函数执行前，关于参数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y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的断言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...</a:t>
            </a: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assert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( ... );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函数执行中，关于临时变量的断言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...</a:t>
            </a: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assert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(z &lt; a4 &amp;&amp; z &gt; b4);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函数执行后，关于返回值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z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的断言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return z;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0430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466CD-899F-4A0E-88C7-E1E789D65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调试断言中的宏定义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DA4B2F-A4BE-40B9-BD6F-D9E388C72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4" y="1556792"/>
            <a:ext cx="8666529" cy="4542383"/>
          </a:xfrm>
        </p:spPr>
        <p:txBody>
          <a:bodyPr/>
          <a:lstStyle/>
          <a:p>
            <a:r>
              <a:rPr lang="zh-CN" altLang="en-US" sz="2000" dirty="0"/>
              <a:t>调试断言：</a:t>
            </a:r>
            <a:r>
              <a:rPr lang="en-US" altLang="zh-CN" sz="2000" dirty="0"/>
              <a:t>#include &lt;</a:t>
            </a:r>
            <a:r>
              <a:rPr lang="en-US" altLang="zh-CN" sz="2000" dirty="0" err="1">
                <a:solidFill>
                  <a:srgbClr val="FF0000"/>
                </a:solidFill>
              </a:rPr>
              <a:t>assert.h</a:t>
            </a:r>
            <a:r>
              <a:rPr lang="en-US" altLang="zh-CN" sz="2000" dirty="0"/>
              <a:t>&gt;</a:t>
            </a:r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void assert(int expr) </a:t>
            </a:r>
            <a:r>
              <a:rPr lang="zh-CN" altLang="en-US" sz="1800" dirty="0"/>
              <a:t>：如果表达式</a:t>
            </a:r>
            <a:r>
              <a:rPr lang="en-US" altLang="zh-CN" sz="1800" dirty="0"/>
              <a:t>expr</a:t>
            </a:r>
            <a:r>
              <a:rPr lang="zh-CN" altLang="en-US" sz="1800" dirty="0"/>
              <a:t>的值为假</a:t>
            </a:r>
            <a:r>
              <a:rPr lang="en-US" altLang="zh-CN" sz="1800" dirty="0"/>
              <a:t>(</a:t>
            </a:r>
            <a:r>
              <a:rPr lang="zh-CN" altLang="en-US" sz="1800" dirty="0"/>
              <a:t>即为</a:t>
            </a:r>
            <a:r>
              <a:rPr lang="en-US" altLang="zh-CN" sz="1800" dirty="0"/>
              <a:t>0),</a:t>
            </a:r>
            <a:r>
              <a:rPr lang="zh-CN" altLang="en-US" sz="1800" dirty="0"/>
              <a:t>那么它就先向</a:t>
            </a:r>
            <a:r>
              <a:rPr lang="en-US" altLang="zh-CN" sz="1800" dirty="0"/>
              <a:t>stderr</a:t>
            </a:r>
            <a:r>
              <a:rPr lang="zh-CN" altLang="en-US" sz="1800" dirty="0"/>
              <a:t>打印一条出错信息，然后通过条用</a:t>
            </a:r>
            <a:r>
              <a:rPr lang="en-US" altLang="zh-CN" sz="1800" dirty="0"/>
              <a:t>abort</a:t>
            </a:r>
            <a:r>
              <a:rPr lang="zh-CN" altLang="en-US" sz="1800" dirty="0"/>
              <a:t>来终止程序；否则什么也不做</a:t>
            </a:r>
            <a:endParaRPr lang="en-US" altLang="zh-CN" sz="1800" dirty="0"/>
          </a:p>
          <a:p>
            <a:pPr lvl="2"/>
            <a:r>
              <a:rPr lang="zh-CN" altLang="en-US" sz="1800" dirty="0"/>
              <a:t>使用</a:t>
            </a:r>
            <a:r>
              <a:rPr lang="en-US" altLang="zh-CN" sz="1800" dirty="0"/>
              <a:t>assert</a:t>
            </a:r>
            <a:r>
              <a:rPr lang="zh-CN" altLang="en-US" sz="1800" dirty="0"/>
              <a:t>时，频繁的调用会影响程序的性能，增加额外的开销</a:t>
            </a:r>
            <a:endParaRPr lang="en-US" altLang="zh-CN" sz="1800" dirty="0"/>
          </a:p>
          <a:p>
            <a:pPr lvl="2"/>
            <a:r>
              <a:rPr lang="zh-CN" altLang="en-US" sz="1800" dirty="0"/>
              <a:t>在调试结束后，可以通过插入 </a:t>
            </a:r>
            <a:r>
              <a:rPr lang="en-US" altLang="zh-CN" sz="1800" dirty="0">
                <a:solidFill>
                  <a:srgbClr val="0070C0"/>
                </a:solidFill>
              </a:rPr>
              <a:t>#define NDEBUG </a:t>
            </a:r>
            <a:r>
              <a:rPr lang="zh-CN" altLang="en-US" sz="1800" dirty="0"/>
              <a:t>来禁用</a:t>
            </a:r>
            <a:r>
              <a:rPr lang="en-US" altLang="zh-CN" sz="1800" dirty="0"/>
              <a:t>assert</a:t>
            </a:r>
            <a:r>
              <a:rPr lang="zh-CN" altLang="en-US" sz="1800" dirty="0"/>
              <a:t>调用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A2FEC691-6DC3-467B-B67C-02325FD157C9}"/>
              </a:ext>
            </a:extLst>
          </p:cNvPr>
          <p:cNvSpPr/>
          <p:nvPr/>
        </p:nvSpPr>
        <p:spPr bwMode="auto">
          <a:xfrm>
            <a:off x="175847" y="3700069"/>
            <a:ext cx="8907782" cy="2687138"/>
          </a:xfrm>
          <a:prstGeom prst="verticalScroll">
            <a:avLst>
              <a:gd name="adj" fmla="val 3940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ifdef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NDEBUG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NDEBUG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的宏在程序中被定义，则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assert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定义为空（即什么也不做）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#define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assert(e) ((void)0)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#else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否则，如果表达式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为假，则终止程序，打印出问题的文件和行号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#define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assert(e)  \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		((void) ((e) ? ((void)0) : __assert (#e,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__FILE__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__LINE__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)))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endif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029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3A8B8-CA5A-429B-9EF0-4C2D192D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9327B-0E72-49E8-94BF-612DED7E0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位运算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宏操作（带参数、系统宏）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静态与动态库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编程优化方法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9332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E9F23-2F4F-44BC-A510-1E846EB1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库的基本概念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BE8ACB-A600-4CBF-AF87-9B90DC0C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在 </a:t>
            </a:r>
            <a:r>
              <a:rPr lang="en-US" altLang="zh-CN" sz="2000" dirty="0"/>
              <a:t>C </a:t>
            </a:r>
            <a:r>
              <a:rPr lang="zh-CN" altLang="en-US" sz="2000" dirty="0"/>
              <a:t>语言开发中，库是一种预先编译好的代码集合（二进制文件），它包含了一系列可复用的函数和变量。根据链接方式分为静态库和动态库</a:t>
            </a:r>
            <a:endParaRPr lang="en-US" altLang="zh-CN" sz="2000" dirty="0"/>
          </a:p>
          <a:p>
            <a:pPr lvl="1"/>
            <a:r>
              <a:rPr lang="zh-CN" altLang="en-US" sz="1800" dirty="0"/>
              <a:t>库的作用：避免“重复造轮子” ，提高编译效率，保护核心源码</a:t>
            </a:r>
            <a:endParaRPr lang="en-US" altLang="zh-CN" sz="1800" dirty="0"/>
          </a:p>
          <a:p>
            <a:pPr lvl="1"/>
            <a:r>
              <a:rPr lang="zh-CN" altLang="en-US" sz="1800" dirty="0"/>
              <a:t>库的本质： 它是 </a:t>
            </a:r>
            <a:r>
              <a:rPr lang="en-US" altLang="zh-CN" sz="1800" dirty="0">
                <a:solidFill>
                  <a:srgbClr val="0070C0"/>
                </a:solidFill>
              </a:rPr>
              <a:t>.o</a:t>
            </a:r>
            <a:r>
              <a:rPr lang="en-US" altLang="zh-CN" sz="1800" dirty="0"/>
              <a:t> (Object file) </a:t>
            </a:r>
            <a:r>
              <a:rPr lang="zh-CN" altLang="en-US" sz="1800" dirty="0"/>
              <a:t>文件的打包集合</a:t>
            </a:r>
            <a:endParaRPr lang="en-US" altLang="zh-CN" sz="1800" dirty="0"/>
          </a:p>
          <a:p>
            <a:pPr>
              <a:spcBef>
                <a:spcPts val="1800"/>
              </a:spcBef>
            </a:pPr>
            <a:r>
              <a:rPr lang="zh-CN" altLang="en-US" sz="2000" dirty="0"/>
              <a:t>静态库：在程序编译链接阶段会被完整地复制到最终的可执行文件中。一旦链接完成，可执行文件就不再依赖原有的静态库文件</a:t>
            </a:r>
            <a:endParaRPr lang="en-US" altLang="zh-CN" sz="2000" dirty="0"/>
          </a:p>
          <a:p>
            <a:pPr lvl="1"/>
            <a:r>
              <a:rPr lang="zh-CN" altLang="en-US" sz="1800" dirty="0"/>
              <a:t>后缀名： </a:t>
            </a:r>
            <a:r>
              <a:rPr lang="en-US" altLang="zh-CN" sz="1800" dirty="0"/>
              <a:t>Windows </a:t>
            </a:r>
            <a:r>
              <a:rPr lang="zh-CN" altLang="en-US" sz="1800" dirty="0"/>
              <a:t>下为 </a:t>
            </a:r>
            <a:r>
              <a:rPr lang="en-US" altLang="zh-CN" sz="1800" dirty="0">
                <a:solidFill>
                  <a:srgbClr val="0070C0"/>
                </a:solidFill>
              </a:rPr>
              <a:t>.lib </a:t>
            </a:r>
            <a:r>
              <a:rPr lang="en-US" altLang="zh-CN" sz="1800" dirty="0"/>
              <a:t>(Library)</a:t>
            </a:r>
            <a:r>
              <a:rPr lang="zh-CN" altLang="en-US" sz="1800" dirty="0"/>
              <a:t>，</a:t>
            </a:r>
            <a:r>
              <a:rPr lang="en-US" altLang="zh-CN" sz="1800" dirty="0"/>
              <a:t>Linux/Unix/Mac </a:t>
            </a:r>
            <a:r>
              <a:rPr lang="zh-CN" altLang="en-US" sz="1800" dirty="0"/>
              <a:t>下为 </a:t>
            </a:r>
            <a:r>
              <a:rPr lang="en-US" altLang="zh-CN" sz="1800" dirty="0">
                <a:solidFill>
                  <a:srgbClr val="0070C0"/>
                </a:solidFill>
              </a:rPr>
              <a:t>.a </a:t>
            </a:r>
            <a:r>
              <a:rPr lang="en-US" altLang="zh-CN" sz="1800" dirty="0"/>
              <a:t>(Archive)</a:t>
            </a:r>
          </a:p>
          <a:p>
            <a:pPr>
              <a:spcBef>
                <a:spcPts val="1800"/>
              </a:spcBef>
            </a:pPr>
            <a:r>
              <a:rPr lang="zh-CN" altLang="en-US" sz="2000" dirty="0"/>
              <a:t>动态库：在编译时并不直接拷贝到可执行文件中，而是在程序运行时由操作系统按需加载。可执行文件中仅保留对库的引用（符号表）</a:t>
            </a:r>
            <a:endParaRPr lang="en-US" altLang="zh-CN" sz="2000" dirty="0"/>
          </a:p>
          <a:p>
            <a:pPr lvl="1"/>
            <a:r>
              <a:rPr lang="zh-CN" altLang="en-US" sz="1800" dirty="0"/>
              <a:t>后缀名： </a:t>
            </a:r>
            <a:r>
              <a:rPr lang="en-US" altLang="zh-CN" sz="1800" dirty="0"/>
              <a:t>Windows </a:t>
            </a:r>
            <a:r>
              <a:rPr lang="zh-CN" altLang="en-US" sz="1800" dirty="0"/>
              <a:t>下为 </a:t>
            </a:r>
            <a:r>
              <a:rPr lang="en-US" altLang="zh-CN" sz="1800" dirty="0">
                <a:solidFill>
                  <a:srgbClr val="0070C0"/>
                </a:solidFill>
              </a:rPr>
              <a:t>.</a:t>
            </a:r>
            <a:r>
              <a:rPr lang="en-US" altLang="zh-CN" sz="1800" dirty="0" err="1">
                <a:solidFill>
                  <a:srgbClr val="0070C0"/>
                </a:solidFill>
              </a:rPr>
              <a:t>dll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/>
              <a:t>(Dynamic Link Library)</a:t>
            </a:r>
            <a:r>
              <a:rPr lang="zh-CN" altLang="en-US" sz="1800" dirty="0"/>
              <a:t>，</a:t>
            </a:r>
            <a:r>
              <a:rPr lang="en-US" altLang="zh-CN" sz="1800" dirty="0"/>
              <a:t>Linux </a:t>
            </a:r>
            <a:r>
              <a:rPr lang="zh-CN" altLang="en-US" sz="1800" dirty="0"/>
              <a:t>下为 </a:t>
            </a:r>
            <a:r>
              <a:rPr lang="en-US" altLang="zh-CN" sz="1800" dirty="0">
                <a:solidFill>
                  <a:srgbClr val="0070C0"/>
                </a:solidFill>
              </a:rPr>
              <a:t>.so </a:t>
            </a:r>
            <a:r>
              <a:rPr lang="en-US" altLang="zh-CN" sz="1800" dirty="0"/>
              <a:t>(Shared Object)</a:t>
            </a:r>
            <a:r>
              <a:rPr lang="zh-CN" altLang="en-US" sz="1800" dirty="0"/>
              <a:t>，</a:t>
            </a:r>
            <a:r>
              <a:rPr lang="en-US" altLang="zh-CN" sz="1800" dirty="0"/>
              <a:t>Mac </a:t>
            </a:r>
            <a:r>
              <a:rPr lang="zh-CN" altLang="en-US" sz="1800" dirty="0"/>
              <a:t>下为 </a:t>
            </a:r>
            <a:r>
              <a:rPr lang="en-US" altLang="zh-CN" sz="1800" dirty="0">
                <a:solidFill>
                  <a:srgbClr val="0070C0"/>
                </a:solidFill>
              </a:rPr>
              <a:t>.</a:t>
            </a:r>
            <a:r>
              <a:rPr lang="en-US" altLang="zh-CN" sz="1800" dirty="0" err="1">
                <a:solidFill>
                  <a:srgbClr val="0070C0"/>
                </a:solidFill>
              </a:rPr>
              <a:t>dylib</a:t>
            </a:r>
            <a:endParaRPr lang="zh-CN" altLang="en-US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3306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89B4B-DA7B-47B0-A78B-B5A29BBF2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EAAD22-C168-45D8-9EA3-441130947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静态库在链接阶段，会将汇编生成的目标文件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70C0"/>
                </a:solidFill>
              </a:rPr>
              <a:t>.o</a:t>
            </a:r>
            <a:r>
              <a:rPr lang="en-US" altLang="zh-CN" sz="2000" dirty="0"/>
              <a:t>)</a:t>
            </a:r>
            <a:r>
              <a:rPr lang="zh-CN" altLang="en-US" sz="2000" dirty="0"/>
              <a:t>与引用的库一起链接打包到可执行文件中。因此对应的链接方式称为静态链接</a:t>
            </a:r>
            <a:endParaRPr lang="en-US" altLang="zh-CN" sz="2000" dirty="0"/>
          </a:p>
          <a:p>
            <a:r>
              <a:rPr lang="zh-CN" altLang="en-US" sz="2000" dirty="0"/>
              <a:t>静态库与汇编生成的目标文件一起链接为可执行文件，跟</a:t>
            </a:r>
            <a:r>
              <a:rPr lang="en-US" altLang="zh-CN" sz="2000" dirty="0">
                <a:solidFill>
                  <a:srgbClr val="0070C0"/>
                </a:solidFill>
              </a:rPr>
              <a:t>.o</a:t>
            </a:r>
            <a:r>
              <a:rPr lang="zh-CN" altLang="en-US" sz="2000" dirty="0"/>
              <a:t>文件格式相似。一个静态库可以简单看成是一组目标文件（</a:t>
            </a:r>
            <a:r>
              <a:rPr lang="en-US" altLang="zh-CN" sz="2000" dirty="0">
                <a:solidFill>
                  <a:srgbClr val="0070C0"/>
                </a:solidFill>
              </a:rPr>
              <a:t>.o/.obj</a:t>
            </a:r>
            <a:r>
              <a:rPr lang="zh-CN" altLang="en-US" sz="2000" dirty="0"/>
              <a:t>文件）的集合，即很多目标文件经过压缩打包后形成的一个文件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B0FB91-67AA-4E8C-9E4F-45E79472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3577003"/>
            <a:ext cx="46101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561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E2625-5BCA-499F-89AE-4CC33953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静态库的优缺点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CDAE0C-A720-4DCB-AA9A-DC3EB0DE9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静态库的优点：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执行速度快</a:t>
            </a:r>
            <a:r>
              <a:rPr lang="zh-CN" altLang="en-US" sz="2000" dirty="0"/>
              <a:t>：对函数库的链接是放在编译时期完成的，运行时无需额外寻址或加载过程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独立性强</a:t>
            </a:r>
            <a:r>
              <a:rPr lang="zh-CN" altLang="en-US" sz="2000" dirty="0"/>
              <a:t>： 生成的可执行文件包含所有代码，分发时不需要携带库文件，程序在运行时与函数库再无瓜葛，方便移植</a:t>
            </a:r>
            <a:endParaRPr lang="en-US" altLang="zh-CN" sz="2000" dirty="0"/>
          </a:p>
          <a:p>
            <a:r>
              <a:rPr lang="zh-CN" altLang="en-US" dirty="0"/>
              <a:t>静态库的缺点：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浪费空间</a:t>
            </a:r>
            <a:r>
              <a:rPr lang="zh-CN" altLang="en-US" sz="2000" dirty="0"/>
              <a:t>：如果多个程序使用同一个库，每个程序都会包含一份副本（所有相关的目标文件与牵涉到的函数库），浪费磁盘和内存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更新麻烦</a:t>
            </a:r>
            <a:r>
              <a:rPr lang="zh-CN" altLang="en-US" sz="2000" dirty="0"/>
              <a:t>： 一旦库代码修改，所有依赖它的程序都必须重新编译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217215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2739E-D9D4-48B1-B2B5-4DD0AB50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下创建与使用静态库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27D3BB-AB5B-4D5D-86C8-65405E515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静态库命名规则</a:t>
            </a:r>
            <a:endParaRPr lang="en-US" altLang="zh-CN" sz="2000" dirty="0"/>
          </a:p>
          <a:p>
            <a:pPr lvl="1"/>
            <a:r>
              <a:rPr lang="en-US" altLang="zh-CN" sz="1800" dirty="0"/>
              <a:t>Linux </a:t>
            </a:r>
            <a:r>
              <a:rPr lang="zh-CN" altLang="en-US" sz="1800" dirty="0"/>
              <a:t>的静态库必须命名为</a:t>
            </a:r>
            <a:r>
              <a:rPr lang="en-US" altLang="zh-CN" sz="1800" dirty="0"/>
              <a:t>“</a:t>
            </a:r>
            <a:r>
              <a:rPr lang="en-US" altLang="zh-CN" sz="1800" dirty="0">
                <a:solidFill>
                  <a:srgbClr val="0070C0"/>
                </a:solidFill>
              </a:rPr>
              <a:t>lib[</a:t>
            </a:r>
            <a:r>
              <a:rPr lang="en-US" altLang="zh-CN" sz="1800" dirty="0" err="1">
                <a:solidFill>
                  <a:srgbClr val="0070C0"/>
                </a:solidFill>
              </a:rPr>
              <a:t>your_library_name</a:t>
            </a:r>
            <a:r>
              <a:rPr lang="en-US" altLang="zh-CN" sz="1800" dirty="0">
                <a:solidFill>
                  <a:srgbClr val="0070C0"/>
                </a:solidFill>
              </a:rPr>
              <a:t>].a</a:t>
            </a:r>
            <a:r>
              <a:rPr lang="en-US" altLang="zh-CN" sz="1800" dirty="0"/>
              <a:t>”</a:t>
            </a:r>
            <a:r>
              <a:rPr lang="zh-CN" altLang="en-US" sz="1800" dirty="0"/>
              <a:t>：</a:t>
            </a:r>
            <a:r>
              <a:rPr lang="en-US" altLang="zh-CN" sz="1800" dirty="0"/>
              <a:t>lib</a:t>
            </a:r>
            <a:r>
              <a:rPr lang="zh-CN" altLang="en-US" sz="1800" dirty="0"/>
              <a:t>为前缀，中间是静态库名，扩展名为</a:t>
            </a:r>
            <a:r>
              <a:rPr lang="en-US" altLang="zh-CN" sz="1800" dirty="0">
                <a:solidFill>
                  <a:srgbClr val="0070C0"/>
                </a:solidFill>
              </a:rPr>
              <a:t>.a</a:t>
            </a:r>
            <a:r>
              <a:rPr lang="zh-CN" altLang="en-US" sz="1800" dirty="0"/>
              <a:t>，如：</a:t>
            </a:r>
            <a:r>
              <a:rPr lang="en-US" altLang="zh-CN" sz="1800" dirty="0" err="1">
                <a:solidFill>
                  <a:srgbClr val="0070C0"/>
                </a:solidFill>
              </a:rPr>
              <a:t>libmymath.a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zh-CN" altLang="en-US" sz="2000" dirty="0"/>
              <a:t>创建静态库（</a:t>
            </a:r>
            <a:r>
              <a:rPr lang="en-US" altLang="zh-CN" sz="2000" dirty="0"/>
              <a:t>.a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1800" dirty="0"/>
              <a:t>首先，将代码文件编译成目标文件</a:t>
            </a:r>
            <a:r>
              <a:rPr lang="en-US" altLang="zh-CN" sz="1800" dirty="0">
                <a:solidFill>
                  <a:srgbClr val="0070C0"/>
                </a:solidFill>
              </a:rPr>
              <a:t>.o</a:t>
            </a:r>
            <a:r>
              <a:rPr lang="zh-CN" altLang="en-US" sz="1800" dirty="0"/>
              <a:t>（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math_utils.o</a:t>
            </a:r>
            <a:r>
              <a:rPr lang="zh-CN" altLang="en-US" sz="1800" dirty="0"/>
              <a:t>），注意带参数</a:t>
            </a:r>
            <a:r>
              <a:rPr lang="en-US" altLang="zh-CN" sz="1800" dirty="0"/>
              <a:t>-c</a:t>
            </a:r>
            <a:r>
              <a:rPr lang="zh-CN" altLang="en-US" sz="1800" dirty="0"/>
              <a:t>，否则直接编译为可执行文件，如： 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-c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endParaRPr lang="zh-CN" altLang="en-US" sz="1800" dirty="0">
              <a:solidFill>
                <a:srgbClr val="0070C0"/>
              </a:solidFill>
            </a:endParaRPr>
          </a:p>
          <a:p>
            <a:pPr lvl="1"/>
            <a:r>
              <a:rPr lang="zh-CN" altLang="en-US" sz="1800" dirty="0"/>
              <a:t>然后，通过</a:t>
            </a:r>
            <a:r>
              <a:rPr lang="en-US" altLang="zh-CN" sz="1800" dirty="0" err="1"/>
              <a:t>ar</a:t>
            </a:r>
            <a:r>
              <a:rPr lang="zh-CN" altLang="en-US" sz="1800" dirty="0"/>
              <a:t>工具将目标文件打包成</a:t>
            </a:r>
            <a:r>
              <a:rPr lang="en-US" altLang="zh-CN" sz="1800" dirty="0"/>
              <a:t>.a</a:t>
            </a:r>
            <a:r>
              <a:rPr lang="zh-CN" altLang="en-US" sz="1800" dirty="0"/>
              <a:t>静态库文件，生成静态库</a:t>
            </a:r>
            <a:r>
              <a:rPr lang="en-US" altLang="zh-CN" sz="1800" dirty="0" err="1">
                <a:solidFill>
                  <a:srgbClr val="0070C0"/>
                </a:solidFill>
              </a:rPr>
              <a:t>libmymath.a</a:t>
            </a:r>
            <a:r>
              <a:rPr lang="zh-CN" altLang="en-US" sz="1800" dirty="0"/>
              <a:t>，如： </a:t>
            </a:r>
            <a:r>
              <a:rPr lang="en-US" altLang="zh-CN" sz="1800" dirty="0" err="1">
                <a:solidFill>
                  <a:srgbClr val="0070C0"/>
                </a:solidFill>
              </a:rPr>
              <a:t>ar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rcs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libmymath.a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math_utils.o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zh-CN" altLang="en-US" sz="2000" dirty="0"/>
              <a:t>使用静态库</a:t>
            </a:r>
            <a:endParaRPr lang="en-US" altLang="zh-CN" sz="2000" dirty="0"/>
          </a:p>
          <a:p>
            <a:pPr lvl="1"/>
            <a:r>
              <a:rPr lang="zh-CN" altLang="en-US" sz="1800" dirty="0"/>
              <a:t>只需要在编译的时候，指定静态库的搜索路径（</a:t>
            </a:r>
            <a:r>
              <a:rPr lang="en-US" altLang="zh-CN" sz="1800" dirty="0">
                <a:solidFill>
                  <a:srgbClr val="0070C0"/>
                </a:solidFill>
              </a:rPr>
              <a:t>-L</a:t>
            </a:r>
            <a:r>
              <a:rPr lang="zh-CN" altLang="en-US" sz="1800" dirty="0"/>
              <a:t>选项，如静态库在当前目录或者系统目录可省略）、指定静态库名（不需要</a:t>
            </a:r>
            <a:r>
              <a:rPr lang="en-US" altLang="zh-CN" sz="1800" dirty="0"/>
              <a:t>lib</a:t>
            </a:r>
            <a:r>
              <a:rPr lang="zh-CN" altLang="en-US" sz="1800" dirty="0"/>
              <a:t>前缀和</a:t>
            </a:r>
            <a:r>
              <a:rPr lang="en-US" altLang="zh-CN" sz="1800" dirty="0"/>
              <a:t>.a</a:t>
            </a:r>
            <a:r>
              <a:rPr lang="zh-CN" altLang="en-US" sz="1800" dirty="0"/>
              <a:t>后缀，</a:t>
            </a:r>
            <a:r>
              <a:rPr lang="en-US" altLang="zh-CN" sz="1800" dirty="0">
                <a:solidFill>
                  <a:srgbClr val="0070C0"/>
                </a:solidFill>
              </a:rPr>
              <a:t>-l</a:t>
            </a:r>
            <a:r>
              <a:rPr lang="zh-CN" altLang="en-US" sz="1800" dirty="0"/>
              <a:t>选项）</a:t>
            </a:r>
            <a:endParaRPr lang="en-US" altLang="zh-CN" sz="1800" dirty="0"/>
          </a:p>
          <a:p>
            <a:pPr lvl="1"/>
            <a:r>
              <a:rPr lang="zh-CN" altLang="en-US" sz="1800" dirty="0"/>
              <a:t>如：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main.c</a:t>
            </a:r>
            <a:r>
              <a:rPr lang="en-US" altLang="zh-CN" sz="1800" dirty="0">
                <a:solidFill>
                  <a:srgbClr val="0070C0"/>
                </a:solidFill>
              </a:rPr>
              <a:t> -L../</a:t>
            </a:r>
            <a:r>
              <a:rPr lang="en-US" altLang="zh-CN" sz="1800" dirty="0" err="1">
                <a:solidFill>
                  <a:srgbClr val="0070C0"/>
                </a:solidFill>
              </a:rPr>
              <a:t>StaticLibrary</a:t>
            </a:r>
            <a:r>
              <a:rPr lang="en-US" altLang="zh-CN" sz="1800" dirty="0">
                <a:solidFill>
                  <a:srgbClr val="0070C0"/>
                </a:solidFill>
              </a:rPr>
              <a:t> -</a:t>
            </a:r>
            <a:r>
              <a:rPr lang="en-US" altLang="zh-CN" sz="1800" dirty="0" err="1">
                <a:solidFill>
                  <a:srgbClr val="0070C0"/>
                </a:solidFill>
              </a:rPr>
              <a:t>lmymath</a:t>
            </a:r>
            <a:endParaRPr lang="zh-CN" altLang="en-US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5982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929F8-8F39-4647-AEB7-20DC94A5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下创建与使用静态库（例）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F35908-F634-43F7-B566-73E14D9C9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准备源码文件</a:t>
            </a:r>
            <a:endParaRPr lang="en-US" altLang="zh-CN" sz="2000" dirty="0"/>
          </a:p>
          <a:p>
            <a:pPr lvl="1"/>
            <a:r>
              <a:rPr lang="zh-CN" altLang="en-US" sz="1800" dirty="0"/>
              <a:t>创建头文件（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math_utils.h</a:t>
            </a:r>
            <a:r>
              <a:rPr lang="zh-CN" altLang="en-US" sz="1800" dirty="0"/>
              <a:t>）及函数实现（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math_utils.c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endParaRPr lang="en-US" altLang="zh-CN" sz="2000" dirty="0"/>
          </a:p>
          <a:p>
            <a:r>
              <a:rPr lang="zh-CN" altLang="en-US" sz="2000" dirty="0"/>
              <a:t>创建静态库（</a:t>
            </a:r>
            <a:r>
              <a:rPr lang="en-US" altLang="zh-CN" sz="2000" dirty="0">
                <a:solidFill>
                  <a:srgbClr val="0070C0"/>
                </a:solidFill>
              </a:rPr>
              <a:t>.a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1800" dirty="0"/>
              <a:t>编译为目标文件 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0070C0"/>
                </a:solidFill>
              </a:rPr>
              <a:t>.o</a:t>
            </a:r>
            <a:r>
              <a:rPr lang="en-US" altLang="zh-CN" sz="1800" dirty="0"/>
              <a:t>)</a:t>
            </a:r>
            <a:r>
              <a:rPr lang="zh-CN" altLang="en-US" sz="1800" dirty="0"/>
              <a:t> 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-c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math_utils.c</a:t>
            </a:r>
            <a:r>
              <a:rPr lang="en-US" altLang="zh-CN" sz="1800" dirty="0">
                <a:solidFill>
                  <a:srgbClr val="0070C0"/>
                </a:solidFill>
              </a:rPr>
              <a:t> -o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math_utils.o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lvl="1"/>
            <a:r>
              <a:rPr lang="zh-CN" altLang="pt-BR" sz="1800" dirty="0"/>
              <a:t>使用 </a:t>
            </a:r>
            <a:r>
              <a:rPr lang="pt-BR" altLang="zh-CN" sz="1800" dirty="0"/>
              <a:t>ar </a:t>
            </a:r>
            <a:r>
              <a:rPr lang="zh-CN" altLang="pt-BR" sz="1800" dirty="0"/>
              <a:t>工具打包</a:t>
            </a:r>
            <a:r>
              <a:rPr lang="zh-CN" altLang="en-US" sz="1800" dirty="0"/>
              <a:t>：</a:t>
            </a:r>
            <a:r>
              <a:rPr lang="en-US" altLang="zh-CN" sz="1800" dirty="0" err="1">
                <a:solidFill>
                  <a:srgbClr val="0070C0"/>
                </a:solidFill>
              </a:rPr>
              <a:t>ar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</a:rPr>
              <a:t>rcs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libmymath.a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math_utils.o</a:t>
            </a:r>
            <a:endParaRPr lang="en-US" altLang="zh-CN" sz="1800" dirty="0">
              <a:solidFill>
                <a:srgbClr val="0070C0"/>
              </a:solidFill>
            </a:endParaRPr>
          </a:p>
        </p:txBody>
      </p:sp>
      <p:sp>
        <p:nvSpPr>
          <p:cNvPr id="4" name="卷形: 垂直 4">
            <a:extLst>
              <a:ext uri="{FF2B5EF4-FFF2-40B4-BE49-F238E27FC236}">
                <a16:creationId xmlns:a16="http://schemas.microsoft.com/office/drawing/2014/main" id="{EEDB80BB-E07F-4FE1-B2AC-91E857C10A99}"/>
              </a:ext>
            </a:extLst>
          </p:cNvPr>
          <p:cNvSpPr/>
          <p:nvPr/>
        </p:nvSpPr>
        <p:spPr bwMode="auto">
          <a:xfrm>
            <a:off x="702710" y="2502855"/>
            <a:ext cx="3271413" cy="2385668"/>
          </a:xfrm>
          <a:prstGeom prst="verticalScroll">
            <a:avLst>
              <a:gd name="adj" fmla="val 3940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math_utils.h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文件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#ifndef MATH_UTILS_H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#define MATH_UTILS_H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add(int a, int b);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multiply(int a, int b);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#endif</a:t>
            </a:r>
          </a:p>
        </p:txBody>
      </p:sp>
      <p:sp>
        <p:nvSpPr>
          <p:cNvPr id="5" name="卷形: 垂直 4">
            <a:extLst>
              <a:ext uri="{FF2B5EF4-FFF2-40B4-BE49-F238E27FC236}">
                <a16:creationId xmlns:a16="http://schemas.microsoft.com/office/drawing/2014/main" id="{E074728A-B868-4CD8-B723-44A69E9AFCF7}"/>
              </a:ext>
            </a:extLst>
          </p:cNvPr>
          <p:cNvSpPr/>
          <p:nvPr/>
        </p:nvSpPr>
        <p:spPr bwMode="auto">
          <a:xfrm>
            <a:off x="4270374" y="2502855"/>
            <a:ext cx="4170916" cy="2385668"/>
          </a:xfrm>
          <a:prstGeom prst="verticalScroll">
            <a:avLst>
              <a:gd name="adj" fmla="val 3940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math_utils.c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文件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#include "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math_utils.h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"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add(int a, int b) { return a + b; 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multiply(int a, int b) { return a * b; }</a:t>
            </a:r>
          </a:p>
        </p:txBody>
      </p:sp>
    </p:spTree>
    <p:extLst>
      <p:ext uri="{BB962C8B-B14F-4D97-AF65-F5344CB8AC3E}">
        <p14:creationId xmlns:p14="http://schemas.microsoft.com/office/powerpoint/2010/main" val="125050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E115E-FD8E-469E-A544-7464A7AC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下创建与使用静态库（例续）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19E4E-F938-4BA8-9FCC-C4B0ED604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使用静态库</a:t>
            </a:r>
            <a:endParaRPr lang="en-US" altLang="zh-CN" sz="2000" dirty="0"/>
          </a:p>
          <a:p>
            <a:pPr lvl="1"/>
            <a:r>
              <a:rPr lang="zh-CN" altLang="en-US" sz="1800" dirty="0"/>
              <a:t>编写一个主程序（</a:t>
            </a:r>
            <a:r>
              <a:rPr lang="en-US" altLang="zh-CN" sz="1800" dirty="0" err="1">
                <a:solidFill>
                  <a:srgbClr val="0070C0"/>
                </a:solidFill>
              </a:rPr>
              <a:t>main.c</a:t>
            </a:r>
            <a:r>
              <a:rPr lang="zh-CN" altLang="en-US" sz="1800" dirty="0"/>
              <a:t>）来调用这个库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r>
              <a:rPr lang="zh-CN" altLang="en-US" sz="1800" dirty="0"/>
              <a:t>编译并链接：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main.c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-L</a:t>
            </a:r>
            <a:r>
              <a:rPr lang="en-US" altLang="zh-CN" sz="1800" dirty="0">
                <a:solidFill>
                  <a:srgbClr val="0070C0"/>
                </a:solidFill>
              </a:rPr>
              <a:t>. </a:t>
            </a:r>
            <a:r>
              <a:rPr lang="en-US" altLang="zh-CN" sz="1800" dirty="0">
                <a:solidFill>
                  <a:srgbClr val="C00000"/>
                </a:solidFill>
              </a:rPr>
              <a:t>-</a:t>
            </a:r>
            <a:r>
              <a:rPr lang="en-US" altLang="zh-CN" sz="1800" dirty="0" err="1">
                <a:solidFill>
                  <a:srgbClr val="C00000"/>
                </a:solidFill>
              </a:rPr>
              <a:t>l</a:t>
            </a:r>
            <a:r>
              <a:rPr lang="en-US" altLang="zh-CN" sz="1800" dirty="0" err="1">
                <a:solidFill>
                  <a:srgbClr val="0070C0"/>
                </a:solidFill>
              </a:rPr>
              <a:t>mymath</a:t>
            </a:r>
            <a:r>
              <a:rPr lang="en-US" altLang="zh-CN" sz="1800" dirty="0">
                <a:solidFill>
                  <a:srgbClr val="0070C0"/>
                </a:solidFill>
              </a:rPr>
              <a:t> -o </a:t>
            </a:r>
            <a:r>
              <a:rPr lang="en-US" altLang="zh-CN" sz="1800" dirty="0" err="1">
                <a:solidFill>
                  <a:srgbClr val="0070C0"/>
                </a:solidFill>
              </a:rPr>
              <a:t>myapp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lvl="1"/>
            <a:r>
              <a:rPr lang="zh-CN" altLang="en-US" sz="1800" dirty="0"/>
              <a:t>库的代码已经已完全嵌入到了程序内部，直接执行程序：</a:t>
            </a:r>
            <a:r>
              <a:rPr lang="en-US" altLang="zh-CN" sz="1800" dirty="0">
                <a:solidFill>
                  <a:srgbClr val="0070C0"/>
                </a:solidFill>
              </a:rPr>
              <a:t>./</a:t>
            </a:r>
            <a:r>
              <a:rPr lang="en-US" altLang="zh-CN" sz="1800" dirty="0" err="1">
                <a:solidFill>
                  <a:srgbClr val="0070C0"/>
                </a:solidFill>
              </a:rPr>
              <a:t>myapp</a:t>
            </a:r>
            <a:endParaRPr lang="zh-CN" altLang="en-US" sz="1800" dirty="0">
              <a:solidFill>
                <a:srgbClr val="0070C0"/>
              </a:solidFill>
            </a:endParaRP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11214610-5073-4509-9D7F-D1BC0B15C52B}"/>
              </a:ext>
            </a:extLst>
          </p:cNvPr>
          <p:cNvSpPr/>
          <p:nvPr/>
        </p:nvSpPr>
        <p:spPr bwMode="auto">
          <a:xfrm>
            <a:off x="1017220" y="2420805"/>
            <a:ext cx="6544164" cy="2353418"/>
          </a:xfrm>
          <a:prstGeom prst="verticalScroll">
            <a:avLst>
              <a:gd name="adj" fmla="val 3940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main.c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文件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#include &lt;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stdio.h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&gt;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#include “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math_utils.h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”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包含该库的头文件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main()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printf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("Add: %d\n", add(10, 5));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printf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("Multiply: %d\n", multiply(10, 5));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return 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60834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E5F7A-7D6F-4270-9387-EC604E5B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04E76-AB90-4437-A72C-59EE65A38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759917"/>
            <a:ext cx="4371975" cy="4339258"/>
          </a:xfrm>
        </p:spPr>
        <p:txBody>
          <a:bodyPr/>
          <a:lstStyle/>
          <a:p>
            <a:r>
              <a:rPr lang="zh-CN" altLang="en-US" sz="2000" dirty="0"/>
              <a:t>动态库在程序编译时并不会被连接到目标代码中，而是在程序运行是才被载入。不同的应用程序如果调用相同的库，那么在内存里只需要有一份该共享库的实例，规避了空间浪费问题</a:t>
            </a:r>
            <a:endParaRPr lang="en-US" altLang="zh-CN" sz="2000" dirty="0"/>
          </a:p>
          <a:p>
            <a:r>
              <a:rPr lang="zh-CN" altLang="en-US" sz="2000" dirty="0"/>
              <a:t>动态库在程序运行是才被载入，也解决了静态库对程序的更新、部署和发布页会带来麻烦。用户只需要更新动态库即可，增量更新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50F875-3F7A-483B-AE60-242A1DEA8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1759917"/>
            <a:ext cx="43719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965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020C0-5921-46C8-A3E1-FFBA7C51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动态库的优缺点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DD1E94-C84A-4BD5-B586-6254C0775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动态库的优点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节省资源</a:t>
            </a:r>
            <a:r>
              <a:rPr lang="zh-CN" altLang="en-US" sz="2000" dirty="0"/>
              <a:t>： 多个程序可以共享内存中的同一个库副本，可以实现进程之间的资源共享（因此动态库也称为共享库）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更新方便</a:t>
            </a:r>
            <a:r>
              <a:rPr lang="zh-CN" altLang="en-US" sz="2000" dirty="0"/>
              <a:t>： 只需替换 </a:t>
            </a:r>
            <a:r>
              <a:rPr lang="en-US" altLang="zh-CN" sz="2000" dirty="0">
                <a:solidFill>
                  <a:srgbClr val="0070C0"/>
                </a:solidFill>
              </a:rPr>
              <a:t>.</a:t>
            </a:r>
            <a:r>
              <a:rPr lang="en-US" altLang="zh-CN" sz="2000" dirty="0" err="1">
                <a:solidFill>
                  <a:srgbClr val="0070C0"/>
                </a:solidFill>
              </a:rPr>
              <a:t>dll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en-US" sz="2000" dirty="0"/>
              <a:t>或 </a:t>
            </a:r>
            <a:r>
              <a:rPr lang="en-US" altLang="zh-CN" sz="2000" dirty="0">
                <a:solidFill>
                  <a:srgbClr val="0070C0"/>
                </a:solidFill>
              </a:rPr>
              <a:t>.so </a:t>
            </a:r>
            <a:r>
              <a:rPr lang="zh-CN" altLang="en-US" sz="2000" dirty="0"/>
              <a:t>文件，无需重新编译主程序（只要接口不变），将程序的升级变得简单，只需要增量更新动态库即可</a:t>
            </a:r>
            <a:endParaRPr lang="en-US" altLang="zh-CN" sz="2000" dirty="0"/>
          </a:p>
          <a:p>
            <a:r>
              <a:rPr lang="zh-CN" altLang="en-US" dirty="0"/>
              <a:t>动态库的缺点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依赖性</a:t>
            </a:r>
            <a:r>
              <a:rPr lang="zh-CN" altLang="en-US" sz="2000" dirty="0"/>
              <a:t>： 运行环境（当前目录或者系统目录）必须存在对应的库文件，否则会出现“找不到链接库”的错误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启动略慢</a:t>
            </a:r>
            <a:r>
              <a:rPr lang="zh-CN" altLang="en-US" sz="2000" dirty="0"/>
              <a:t>：动态库把对一些库函数的链接载入推迟到程序运行的时期，运行时需要进行符号重定位，会有微小的性能开销</a:t>
            </a:r>
          </a:p>
        </p:txBody>
      </p:sp>
    </p:spTree>
    <p:extLst>
      <p:ext uri="{BB962C8B-B14F-4D97-AF65-F5344CB8AC3E}">
        <p14:creationId xmlns:p14="http://schemas.microsoft.com/office/powerpoint/2010/main" val="1751207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A303F-96C3-45E0-80BE-B190006F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下创建与使用动态库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89DBBF-923D-4530-B19C-AC60D0605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动态库命名规则</a:t>
            </a:r>
            <a:endParaRPr lang="en-US" altLang="zh-CN" sz="2000" dirty="0"/>
          </a:p>
          <a:p>
            <a:pPr lvl="1"/>
            <a:r>
              <a:rPr lang="zh-CN" altLang="en-US" sz="1800" dirty="0"/>
              <a:t>动态链接库的名字形式为 </a:t>
            </a:r>
            <a:r>
              <a:rPr lang="en-US" altLang="zh-CN" sz="1800" dirty="0"/>
              <a:t>“</a:t>
            </a:r>
            <a:r>
              <a:rPr lang="en-US" altLang="zh-CN" sz="1800" dirty="0">
                <a:solidFill>
                  <a:srgbClr val="0070C0"/>
                </a:solidFill>
              </a:rPr>
              <a:t>lib[</a:t>
            </a:r>
            <a:r>
              <a:rPr lang="en-US" altLang="zh-CN" sz="1800" dirty="0" err="1">
                <a:solidFill>
                  <a:srgbClr val="0070C0"/>
                </a:solidFill>
              </a:rPr>
              <a:t>your_library_name</a:t>
            </a:r>
            <a:r>
              <a:rPr lang="en-US" altLang="zh-CN" sz="1800" dirty="0">
                <a:solidFill>
                  <a:srgbClr val="0070C0"/>
                </a:solidFill>
              </a:rPr>
              <a:t>].so</a:t>
            </a:r>
            <a:r>
              <a:rPr lang="en-US" altLang="zh-CN" sz="1800" dirty="0"/>
              <a:t>”</a:t>
            </a:r>
            <a:r>
              <a:rPr lang="zh-CN" altLang="en-US" sz="1800" dirty="0"/>
              <a:t>，前缀是</a:t>
            </a:r>
            <a:r>
              <a:rPr lang="en-US" altLang="zh-CN" sz="1800" dirty="0"/>
              <a:t>lib</a:t>
            </a:r>
            <a:r>
              <a:rPr lang="zh-CN" altLang="en-US" sz="1800" dirty="0"/>
              <a:t>，后缀名为</a:t>
            </a:r>
            <a:r>
              <a:rPr lang="en-US" altLang="zh-CN" sz="1800" dirty="0"/>
              <a:t>“</a:t>
            </a:r>
            <a:r>
              <a:rPr lang="en-US" altLang="zh-CN" sz="1800" dirty="0">
                <a:solidFill>
                  <a:srgbClr val="0070C0"/>
                </a:solidFill>
              </a:rPr>
              <a:t>.so</a:t>
            </a:r>
            <a:r>
              <a:rPr lang="en-US" altLang="zh-CN" sz="1800" dirty="0"/>
              <a:t>”</a:t>
            </a:r>
            <a:r>
              <a:rPr lang="zh-CN" altLang="en-US" sz="1800" dirty="0"/>
              <a:t>，程序通过这个名字来告诉动态加载器该载入哪个共享库</a:t>
            </a:r>
            <a:endParaRPr lang="en-US" altLang="zh-CN" sz="1800" dirty="0"/>
          </a:p>
          <a:p>
            <a:r>
              <a:rPr lang="zh-CN" altLang="en-US" sz="2000" dirty="0"/>
              <a:t>创建动态库（</a:t>
            </a:r>
            <a:r>
              <a:rPr lang="en-US" altLang="zh-CN" sz="2000" dirty="0">
                <a:solidFill>
                  <a:srgbClr val="0070C0"/>
                </a:solidFill>
              </a:rPr>
              <a:t>.so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1800" dirty="0"/>
              <a:t>首先，生成目标文件，此时要加编译器选项</a:t>
            </a:r>
            <a:r>
              <a:rPr lang="en-US" altLang="zh-CN" sz="1800" dirty="0">
                <a:solidFill>
                  <a:srgbClr val="0070C0"/>
                </a:solidFill>
              </a:rPr>
              <a:t>-</a:t>
            </a:r>
            <a:r>
              <a:rPr lang="en-US" altLang="zh-CN" sz="1800" dirty="0" err="1">
                <a:solidFill>
                  <a:srgbClr val="0070C0"/>
                </a:solidFill>
              </a:rPr>
              <a:t>fPIC</a:t>
            </a:r>
            <a:r>
              <a:rPr lang="zh-CN" altLang="en-US" sz="1800" dirty="0"/>
              <a:t>， 创建与地址无关的编译程序（</a:t>
            </a:r>
            <a:r>
              <a:rPr lang="en-US" altLang="zh-CN" sz="1800" dirty="0"/>
              <a:t>PIC</a:t>
            </a:r>
            <a:r>
              <a:rPr lang="zh-CN" altLang="en-US" sz="1800" dirty="0"/>
              <a:t>，</a:t>
            </a:r>
            <a:r>
              <a:rPr lang="en-US" altLang="zh-CN" sz="1800" dirty="0"/>
              <a:t>Position Independent Code</a:t>
            </a:r>
            <a:r>
              <a:rPr lang="zh-CN" altLang="en-US" sz="1800" dirty="0"/>
              <a:t>），是为了能够在多个应用程序间共享，如：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-</a:t>
            </a:r>
            <a:r>
              <a:rPr lang="en-US" altLang="zh-CN" sz="1800" dirty="0" err="1">
                <a:solidFill>
                  <a:srgbClr val="C00000"/>
                </a:solidFill>
              </a:rPr>
              <a:t>fPIC</a:t>
            </a:r>
            <a:r>
              <a:rPr lang="en-US" altLang="zh-CN" sz="1800" dirty="0">
                <a:solidFill>
                  <a:srgbClr val="C00000"/>
                </a:solidFill>
              </a:rPr>
              <a:t> -c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math_utils.c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lvl="1"/>
            <a:r>
              <a:rPr lang="zh-CN" altLang="en-US" sz="1800" dirty="0"/>
              <a:t>然后，生成动态库，此时要加链接器选项</a:t>
            </a:r>
            <a:r>
              <a:rPr lang="en-US" altLang="zh-CN" sz="1800" dirty="0">
                <a:solidFill>
                  <a:srgbClr val="0070C0"/>
                </a:solidFill>
              </a:rPr>
              <a:t>-shared</a:t>
            </a:r>
            <a:r>
              <a:rPr lang="zh-CN" altLang="en-US" sz="1800" dirty="0"/>
              <a:t>， 如：</a:t>
            </a:r>
            <a:endParaRPr lang="en-US" altLang="zh-CN" sz="18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-shared </a:t>
            </a:r>
            <a:r>
              <a:rPr lang="en-US" altLang="zh-CN" sz="1800" dirty="0">
                <a:solidFill>
                  <a:srgbClr val="0070C0"/>
                </a:solidFill>
              </a:rPr>
              <a:t>-o libmymath.so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math_utils.o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</a:p>
          <a:p>
            <a:r>
              <a:rPr lang="zh-CN" altLang="en-US" sz="2000" dirty="0"/>
              <a:t>使用动态库</a:t>
            </a:r>
            <a:endParaRPr lang="en-US" altLang="zh-CN" sz="2000" dirty="0"/>
          </a:p>
          <a:p>
            <a:pPr lvl="1"/>
            <a:r>
              <a:rPr lang="zh-CN" altLang="en-US" sz="1800" dirty="0"/>
              <a:t>引用动态库编译成可执行文件（跟静态库方式一样），如：</a:t>
            </a:r>
            <a:endParaRPr lang="en-US" altLang="zh-CN" sz="18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main.c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-L</a:t>
            </a:r>
            <a:r>
              <a:rPr lang="en-US" altLang="zh-CN" sz="1800" dirty="0">
                <a:solidFill>
                  <a:srgbClr val="0070C0"/>
                </a:solidFill>
              </a:rPr>
              <a:t>../</a:t>
            </a:r>
            <a:r>
              <a:rPr lang="en-US" altLang="zh-CN" sz="1800" dirty="0" err="1">
                <a:solidFill>
                  <a:srgbClr val="0070C0"/>
                </a:solidFill>
              </a:rPr>
              <a:t>DynamicLibrary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-</a:t>
            </a:r>
            <a:r>
              <a:rPr lang="en-US" altLang="zh-CN" sz="1800" dirty="0" err="1">
                <a:solidFill>
                  <a:srgbClr val="C00000"/>
                </a:solidFill>
              </a:rPr>
              <a:t>l</a:t>
            </a:r>
            <a:r>
              <a:rPr lang="en-US" altLang="zh-CN" sz="1800" dirty="0" err="1">
                <a:solidFill>
                  <a:srgbClr val="0070C0"/>
                </a:solidFill>
              </a:rPr>
              <a:t>mymath</a:t>
            </a:r>
            <a:endParaRPr lang="zh-CN" altLang="en-US" sz="1800" dirty="0">
              <a:solidFill>
                <a:srgbClr val="0070C0"/>
              </a:solidFill>
            </a:endParaRP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809696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2CA3B-77AA-407E-B936-9B56388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下创建与使用动态库（续）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63014-751B-4D70-B9F8-D8B5AC77A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268760"/>
            <a:ext cx="8540750" cy="5395809"/>
          </a:xfrm>
        </p:spPr>
        <p:txBody>
          <a:bodyPr/>
          <a:lstStyle/>
          <a:p>
            <a:r>
              <a:rPr lang="zh-CN" altLang="en-US" sz="2000" dirty="0"/>
              <a:t>程序执行时系统如何定位动态（共享）库文件：</a:t>
            </a:r>
            <a:endParaRPr lang="en-US" altLang="zh-CN" sz="2000" dirty="0"/>
          </a:p>
          <a:p>
            <a:pPr lvl="1"/>
            <a:r>
              <a:rPr lang="zh-CN" altLang="en-US" sz="1800" dirty="0"/>
              <a:t>当系统加载可执行代码时候，能够知道其所依赖的库的名字，但是还需要知道绝对路径，此时就需要加载器（</a:t>
            </a:r>
            <a:r>
              <a:rPr lang="en-US" altLang="zh-CN" sz="1800" dirty="0"/>
              <a:t>Loader</a:t>
            </a:r>
            <a:r>
              <a:rPr lang="zh-CN" altLang="en-US" sz="1800" dirty="0"/>
              <a:t>）完成动态库的载入</a:t>
            </a:r>
            <a:endParaRPr lang="en-US" altLang="zh-CN" sz="1800" dirty="0"/>
          </a:p>
          <a:p>
            <a:pPr lvl="1"/>
            <a:r>
              <a:rPr lang="zh-CN" altLang="en-US" sz="1800" dirty="0"/>
              <a:t>对于</a:t>
            </a:r>
            <a:r>
              <a:rPr lang="en-US" altLang="zh-CN" sz="1800" dirty="0"/>
              <a:t>ELF</a:t>
            </a:r>
            <a:r>
              <a:rPr lang="zh-CN" altLang="en-US" sz="1800" dirty="0"/>
              <a:t>格式的可执行程序，加载器依次搜索</a:t>
            </a:r>
            <a:r>
              <a:rPr lang="en-US" altLang="zh-CN" sz="1800" dirty="0"/>
              <a:t>ELF</a:t>
            </a:r>
            <a:r>
              <a:rPr lang="zh-CN" altLang="en-US" sz="1800" dirty="0"/>
              <a:t>文件的：</a:t>
            </a:r>
            <a:r>
              <a:rPr lang="en-US" altLang="zh-CN" sz="1800" dirty="0"/>
              <a:t>1) </a:t>
            </a:r>
            <a:r>
              <a:rPr lang="en-US" altLang="zh-CN" sz="1800" dirty="0">
                <a:solidFill>
                  <a:srgbClr val="0070C0"/>
                </a:solidFill>
              </a:rPr>
              <a:t>DT_RPATH</a:t>
            </a:r>
            <a:r>
              <a:rPr lang="zh-CN" altLang="en-US" sz="1800" dirty="0"/>
              <a:t>段；</a:t>
            </a:r>
            <a:r>
              <a:rPr lang="en-US" altLang="zh-CN" sz="1800" dirty="0"/>
              <a:t>2) </a:t>
            </a:r>
            <a:r>
              <a:rPr lang="zh-CN" altLang="en-US" sz="1800" dirty="0"/>
              <a:t>环境变量 </a:t>
            </a:r>
            <a:r>
              <a:rPr lang="en-US" altLang="zh-CN" sz="1800" dirty="0">
                <a:solidFill>
                  <a:srgbClr val="0070C0"/>
                </a:solidFill>
              </a:rPr>
              <a:t>LD_LIBRARY_PATH</a:t>
            </a:r>
            <a:r>
              <a:rPr lang="zh-CN" altLang="en-US" sz="1800" dirty="0"/>
              <a:t>；</a:t>
            </a:r>
            <a:r>
              <a:rPr lang="en-US" altLang="zh-CN" sz="1800" dirty="0"/>
              <a:t>3)  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</a:rPr>
              <a:t>etc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</a:rPr>
              <a:t>ld.so.cache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zh-CN" altLang="en-US" sz="1800" dirty="0"/>
              <a:t>文件列表；</a:t>
            </a:r>
            <a:r>
              <a:rPr lang="en-US" altLang="zh-CN" sz="1800" dirty="0"/>
              <a:t>4</a:t>
            </a:r>
            <a:r>
              <a:rPr lang="zh-CN" altLang="en-US" sz="1800" dirty="0"/>
              <a:t>）</a:t>
            </a:r>
            <a:r>
              <a:rPr lang="en-US" altLang="zh-CN" sz="1800" dirty="0">
                <a:solidFill>
                  <a:srgbClr val="0070C0"/>
                </a:solidFill>
              </a:rPr>
              <a:t>/lib/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</a:rPr>
              <a:t>usr</a:t>
            </a:r>
            <a:r>
              <a:rPr lang="en-US" altLang="zh-CN" sz="1800" dirty="0">
                <a:solidFill>
                  <a:srgbClr val="0070C0"/>
                </a:solidFill>
              </a:rPr>
              <a:t>/lib </a:t>
            </a:r>
            <a:r>
              <a:rPr lang="zh-CN" altLang="en-US" sz="1800" dirty="0"/>
              <a:t>目录；找到库文件后将其载入内存</a:t>
            </a:r>
            <a:endParaRPr lang="en-US" altLang="zh-CN" sz="1800" dirty="0"/>
          </a:p>
          <a:p>
            <a:r>
              <a:rPr lang="zh-CN" altLang="en-US" sz="2000" dirty="0"/>
              <a:t>如何让系统能够找到编译好的动态库文件：</a:t>
            </a:r>
            <a:endParaRPr lang="en-US" altLang="zh-CN" sz="2000" dirty="0"/>
          </a:p>
          <a:p>
            <a:pPr lvl="1"/>
            <a:r>
              <a:rPr lang="zh-CN" altLang="en-US" sz="1800" dirty="0"/>
              <a:t>编译时指定运行时搜索路径 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0070C0"/>
                </a:solidFill>
              </a:rPr>
              <a:t>-</a:t>
            </a:r>
            <a:r>
              <a:rPr lang="en-US" altLang="zh-CN" sz="1800" dirty="0" err="1">
                <a:solidFill>
                  <a:srgbClr val="0070C0"/>
                </a:solidFill>
              </a:rPr>
              <a:t>Wl</a:t>
            </a:r>
            <a:r>
              <a:rPr lang="en-US" altLang="zh-CN" sz="1800" dirty="0">
                <a:solidFill>
                  <a:srgbClr val="0070C0"/>
                </a:solidFill>
              </a:rPr>
              <a:t>,-</a:t>
            </a:r>
            <a:r>
              <a:rPr lang="en-US" altLang="zh-CN" sz="1800" dirty="0" err="1">
                <a:solidFill>
                  <a:srgbClr val="0070C0"/>
                </a:solidFill>
              </a:rPr>
              <a:t>rpath</a:t>
            </a:r>
            <a:r>
              <a:rPr lang="en-US" altLang="zh-CN" sz="1800" dirty="0"/>
              <a:t>)</a:t>
            </a:r>
            <a:r>
              <a:rPr lang="zh-CN" altLang="en-US" sz="1800" dirty="0"/>
              <a:t>，把搜索路径硬编码进了可执行文件里，如：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main.c</a:t>
            </a:r>
            <a:r>
              <a:rPr lang="en-US" altLang="zh-CN" sz="1800" dirty="0">
                <a:solidFill>
                  <a:srgbClr val="0070C0"/>
                </a:solidFill>
              </a:rPr>
              <a:t> -L. -</a:t>
            </a:r>
            <a:r>
              <a:rPr lang="en-US" altLang="zh-CN" sz="1800" dirty="0" err="1">
                <a:solidFill>
                  <a:srgbClr val="0070C0"/>
                </a:solidFill>
              </a:rPr>
              <a:t>lmymath</a:t>
            </a:r>
            <a:r>
              <a:rPr lang="en-US" altLang="zh-CN" sz="1800" dirty="0">
                <a:solidFill>
                  <a:srgbClr val="0070C0"/>
                </a:solidFill>
              </a:rPr>
              <a:t> -o </a:t>
            </a:r>
            <a:r>
              <a:rPr lang="en-US" altLang="zh-CN" sz="1800" dirty="0" err="1">
                <a:solidFill>
                  <a:srgbClr val="0070C0"/>
                </a:solidFill>
              </a:rPr>
              <a:t>myapp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-</a:t>
            </a:r>
            <a:r>
              <a:rPr lang="en-US" altLang="zh-CN" sz="1800" dirty="0" err="1">
                <a:solidFill>
                  <a:srgbClr val="C00000"/>
                </a:solidFill>
              </a:rPr>
              <a:t>Wl</a:t>
            </a:r>
            <a:r>
              <a:rPr lang="en-US" altLang="zh-CN" sz="1800" dirty="0">
                <a:solidFill>
                  <a:srgbClr val="C00000"/>
                </a:solidFill>
              </a:rPr>
              <a:t>,-</a:t>
            </a:r>
            <a:r>
              <a:rPr lang="en-US" altLang="zh-CN" sz="1800" dirty="0" err="1">
                <a:solidFill>
                  <a:srgbClr val="C00000"/>
                </a:solidFill>
              </a:rPr>
              <a:t>rpath</a:t>
            </a:r>
            <a:r>
              <a:rPr lang="en-US" altLang="zh-CN" sz="1800" dirty="0">
                <a:solidFill>
                  <a:srgbClr val="C00000"/>
                </a:solidFill>
              </a:rPr>
              <a:t>=.</a:t>
            </a:r>
          </a:p>
          <a:p>
            <a:pPr lvl="1"/>
            <a:r>
              <a:rPr lang="zh-CN" altLang="en-US" sz="1800" dirty="0">
                <a:highlight>
                  <a:srgbClr val="FFFF00"/>
                </a:highlight>
              </a:rPr>
              <a:t>设置 </a:t>
            </a:r>
            <a:r>
              <a:rPr lang="en-US" altLang="zh-CN" sz="1800" dirty="0">
                <a:solidFill>
                  <a:srgbClr val="0070C0"/>
                </a:solidFill>
                <a:highlight>
                  <a:srgbClr val="FFFF00"/>
                </a:highlight>
              </a:rPr>
              <a:t>LD_LIBRARY_PATH </a:t>
            </a:r>
            <a:r>
              <a:rPr lang="zh-CN" altLang="en-US" sz="1800" dirty="0">
                <a:highlight>
                  <a:srgbClr val="FFFF00"/>
                </a:highlight>
              </a:rPr>
              <a:t>环境变量，适合测试时临时添加路径：</a:t>
            </a:r>
            <a:endParaRPr lang="en-US" altLang="zh-CN" sz="1800" dirty="0">
              <a:highlight>
                <a:srgbClr val="FFFF00"/>
              </a:highlight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zh-CN" altLang="en-US" sz="1800" dirty="0">
                <a:highlight>
                  <a:srgbClr val="FFFF00"/>
                </a:highlight>
              </a:rPr>
              <a:t>     </a:t>
            </a:r>
            <a:r>
              <a:rPr lang="en-US" altLang="zh-CN" sz="1800" dirty="0">
                <a:solidFill>
                  <a:srgbClr val="0070C0"/>
                </a:solidFill>
                <a:highlight>
                  <a:srgbClr val="FFFF00"/>
                </a:highlight>
              </a:rPr>
              <a:t>export LD_LIBRARY_PATH=$LD_LIBRARY_PATH:.</a:t>
            </a:r>
          </a:p>
          <a:p>
            <a:pPr lvl="1"/>
            <a:r>
              <a:rPr lang="zh-CN" altLang="en-US" sz="1800" dirty="0"/>
              <a:t>编辑 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</a:rPr>
              <a:t>etc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</a:rPr>
              <a:t>ld.so.conf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zh-CN" altLang="en-US" sz="1800" dirty="0"/>
              <a:t>文件，加入库文件所在目录的路径，运行 </a:t>
            </a:r>
            <a:r>
              <a:rPr lang="en-US" altLang="zh-CN" sz="1800" dirty="0" err="1">
                <a:solidFill>
                  <a:srgbClr val="0070C0"/>
                </a:solidFill>
              </a:rPr>
              <a:t>ldconfig</a:t>
            </a:r>
            <a:r>
              <a:rPr lang="en-US" altLang="zh-CN" sz="1800" dirty="0"/>
              <a:t> </a:t>
            </a:r>
            <a:r>
              <a:rPr lang="zh-CN" altLang="en-US" sz="1800" dirty="0"/>
              <a:t>，该命令会重建 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</a:rPr>
              <a:t>etc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</a:rPr>
              <a:t>ld.so.cache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zh-CN" altLang="en-US" sz="1800" dirty="0"/>
              <a:t>文件</a:t>
            </a:r>
            <a:endParaRPr lang="en-US" altLang="zh-CN" sz="1800" dirty="0"/>
          </a:p>
          <a:p>
            <a:pPr lvl="1"/>
            <a:r>
              <a:rPr lang="zh-CN" altLang="en-US" sz="1800" dirty="0">
                <a:highlight>
                  <a:srgbClr val="FFFF00"/>
                </a:highlight>
              </a:rPr>
              <a:t>将文件拷贝到 </a:t>
            </a:r>
            <a:r>
              <a:rPr lang="en-US" altLang="zh-CN" sz="1800" dirty="0">
                <a:solidFill>
                  <a:srgbClr val="0070C0"/>
                </a:solidFill>
                <a:highlight>
                  <a:srgbClr val="FFFF00"/>
                </a:highlight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  <a:highlight>
                  <a:srgbClr val="FFFF00"/>
                </a:highlight>
              </a:rPr>
              <a:t>usr</a:t>
            </a:r>
            <a:r>
              <a:rPr lang="en-US" altLang="zh-CN" sz="1800" dirty="0">
                <a:solidFill>
                  <a:srgbClr val="0070C0"/>
                </a:solidFill>
                <a:highlight>
                  <a:srgbClr val="FFFF00"/>
                </a:highlight>
              </a:rPr>
              <a:t>/lib </a:t>
            </a:r>
            <a:r>
              <a:rPr lang="zh-CN" altLang="en-US" sz="1800" dirty="0">
                <a:highlight>
                  <a:srgbClr val="FFFF00"/>
                </a:highlight>
              </a:rPr>
              <a:t>或 </a:t>
            </a:r>
            <a:r>
              <a:rPr lang="en-US" altLang="zh-CN" sz="1800" dirty="0">
                <a:solidFill>
                  <a:srgbClr val="0070C0"/>
                </a:solidFill>
                <a:highlight>
                  <a:srgbClr val="FFFF00"/>
                </a:highlight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  <a:highlight>
                  <a:srgbClr val="FFFF00"/>
                </a:highlight>
              </a:rPr>
              <a:t>usr</a:t>
            </a:r>
            <a:r>
              <a:rPr lang="en-US" altLang="zh-CN" sz="1800" dirty="0">
                <a:solidFill>
                  <a:srgbClr val="0070C0"/>
                </a:solidFill>
                <a:highlight>
                  <a:srgbClr val="FFFF00"/>
                </a:highlight>
              </a:rPr>
              <a:t>/local/lib</a:t>
            </a:r>
            <a:r>
              <a:rPr lang="zh-CN" altLang="en-US" sz="1800" dirty="0">
                <a:highlight>
                  <a:srgbClr val="FFFF00"/>
                </a:highlight>
              </a:rPr>
              <a:t>，并运行 </a:t>
            </a:r>
            <a:r>
              <a:rPr lang="en-US" altLang="zh-CN" sz="1800" dirty="0" err="1">
                <a:solidFill>
                  <a:srgbClr val="0070C0"/>
                </a:solidFill>
                <a:highlight>
                  <a:srgbClr val="FFFF00"/>
                </a:highlight>
              </a:rPr>
              <a:t>sudo</a:t>
            </a:r>
            <a:r>
              <a:rPr lang="en-US" altLang="zh-CN" sz="1800" dirty="0">
                <a:solidFill>
                  <a:srgbClr val="0070C0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  <a:highlight>
                  <a:srgbClr val="FFFF00"/>
                </a:highlight>
              </a:rPr>
              <a:t>ldconfig</a:t>
            </a:r>
            <a:r>
              <a:rPr lang="en-US" altLang="zh-CN" sz="1800" dirty="0">
                <a:solidFill>
                  <a:srgbClr val="0070C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1800" dirty="0">
                <a:highlight>
                  <a:srgbClr val="FFFF00"/>
                </a:highlight>
              </a:rPr>
              <a:t>更新缓存（发布）</a:t>
            </a:r>
          </a:p>
        </p:txBody>
      </p:sp>
    </p:spTree>
    <p:extLst>
      <p:ext uri="{BB962C8B-B14F-4D97-AF65-F5344CB8AC3E}">
        <p14:creationId xmlns:p14="http://schemas.microsoft.com/office/powerpoint/2010/main" val="21499942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19677-F8AF-48A1-B696-29509C51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下创建与使用动态库（例）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A9ADFB-FC28-489A-AA7A-CCDAAE0FB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268760"/>
            <a:ext cx="8540750" cy="5263925"/>
          </a:xfrm>
        </p:spPr>
        <p:txBody>
          <a:bodyPr/>
          <a:lstStyle/>
          <a:p>
            <a:r>
              <a:rPr lang="zh-CN" altLang="en-US" sz="2000" dirty="0"/>
              <a:t>准备源码文件</a:t>
            </a:r>
            <a:endParaRPr lang="en-US" altLang="zh-CN" sz="2000" dirty="0"/>
          </a:p>
          <a:p>
            <a:pPr lvl="1"/>
            <a:r>
              <a:rPr lang="zh-CN" altLang="en-US" sz="1800" dirty="0"/>
              <a:t>创建头文件（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math_utils.h</a:t>
            </a:r>
            <a:r>
              <a:rPr lang="zh-CN" altLang="en-US" sz="1800" dirty="0"/>
              <a:t>）及函数实现（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math_utils.c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r>
              <a:rPr lang="zh-CN" altLang="en-US" sz="2000" dirty="0"/>
              <a:t>创建动态库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70C0"/>
                </a:solidFill>
              </a:rPr>
              <a:t>.so</a:t>
            </a:r>
            <a:r>
              <a:rPr lang="en-US" altLang="zh-CN" sz="2000" dirty="0"/>
              <a:t>)</a:t>
            </a:r>
          </a:p>
          <a:p>
            <a:pPr lvl="1"/>
            <a:r>
              <a:rPr lang="zh-CN" altLang="en-US" sz="1800" dirty="0"/>
              <a:t>生成位置无关的目标文件：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-</a:t>
            </a:r>
            <a:r>
              <a:rPr lang="en-US" altLang="zh-CN" sz="1800" dirty="0" err="1">
                <a:solidFill>
                  <a:srgbClr val="0070C0"/>
                </a:solidFill>
              </a:rPr>
              <a:t>fPIC</a:t>
            </a:r>
            <a:r>
              <a:rPr lang="en-US" altLang="zh-CN" sz="1800" dirty="0">
                <a:solidFill>
                  <a:srgbClr val="0070C0"/>
                </a:solidFill>
              </a:rPr>
              <a:t> -c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math_utils.c</a:t>
            </a:r>
            <a:r>
              <a:rPr lang="en-US" altLang="zh-CN" sz="1800" dirty="0">
                <a:solidFill>
                  <a:srgbClr val="0070C0"/>
                </a:solidFill>
              </a:rPr>
              <a:t> -o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math_utils.o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lvl="1"/>
            <a:r>
              <a:rPr lang="zh-CN" altLang="en-US" sz="1800" dirty="0"/>
              <a:t>生成共享库文件：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-shared -o libmymath.so </a:t>
            </a:r>
            <a:r>
              <a:rPr lang="en-US" altLang="zh-CN" sz="1800" dirty="0" err="1">
                <a:solidFill>
                  <a:srgbClr val="0070C0"/>
                </a:solidFill>
              </a:rPr>
              <a:t>math_utils.o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zh-CN" altLang="en-US" sz="2000" dirty="0"/>
              <a:t>编译并链接主程序</a:t>
            </a:r>
            <a:endParaRPr lang="en-US" altLang="zh-CN" sz="2000" dirty="0"/>
          </a:p>
          <a:p>
            <a:pPr lvl="1"/>
            <a:r>
              <a:rPr lang="zh-CN" altLang="en-US" sz="1800" dirty="0"/>
              <a:t>与编译静态库时完全一致：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main.c</a:t>
            </a:r>
            <a:r>
              <a:rPr lang="en-US" altLang="zh-CN" sz="1800" dirty="0">
                <a:solidFill>
                  <a:srgbClr val="0070C0"/>
                </a:solidFill>
              </a:rPr>
              <a:t> -L. -</a:t>
            </a:r>
            <a:r>
              <a:rPr lang="en-US" altLang="zh-CN" sz="1800" dirty="0" err="1">
                <a:solidFill>
                  <a:srgbClr val="0070C0"/>
                </a:solidFill>
              </a:rPr>
              <a:t>lmymath</a:t>
            </a:r>
            <a:r>
              <a:rPr lang="en-US" altLang="zh-CN" sz="1800" dirty="0">
                <a:solidFill>
                  <a:srgbClr val="0070C0"/>
                </a:solidFill>
              </a:rPr>
              <a:t> -o </a:t>
            </a:r>
            <a:r>
              <a:rPr lang="en-US" altLang="zh-CN" sz="1800" dirty="0" err="1">
                <a:solidFill>
                  <a:srgbClr val="0070C0"/>
                </a:solidFill>
              </a:rPr>
              <a:t>myapp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zh-CN" altLang="en-US" sz="2000" dirty="0"/>
              <a:t>运行程序</a:t>
            </a:r>
            <a:endParaRPr lang="en-US" altLang="zh-CN" sz="2000" dirty="0"/>
          </a:p>
          <a:p>
            <a:pPr lvl="1"/>
            <a:r>
              <a:rPr lang="zh-CN" altLang="en-US" sz="1800" dirty="0"/>
              <a:t>默认情况下，加载器只会在系统标准路径（如 </a:t>
            </a:r>
            <a:r>
              <a:rPr lang="en-US" altLang="zh-CN" sz="1800" dirty="0">
                <a:solidFill>
                  <a:srgbClr val="0070C0"/>
                </a:solidFill>
              </a:rPr>
              <a:t>/</a:t>
            </a:r>
            <a:r>
              <a:rPr lang="en-US" altLang="zh-CN" sz="1800" dirty="0" err="1">
                <a:solidFill>
                  <a:srgbClr val="0070C0"/>
                </a:solidFill>
              </a:rPr>
              <a:t>usr</a:t>
            </a:r>
            <a:r>
              <a:rPr lang="en-US" altLang="zh-CN" sz="1800" dirty="0">
                <a:solidFill>
                  <a:srgbClr val="0070C0"/>
                </a:solidFill>
              </a:rPr>
              <a:t>/lib</a:t>
            </a:r>
            <a:r>
              <a:rPr lang="zh-CN" altLang="en-US" sz="1800" dirty="0"/>
              <a:t>）下寻找，而不会看当前目录，需要添加：</a:t>
            </a:r>
            <a:r>
              <a:rPr lang="en-US" altLang="zh-CN" sz="1800" dirty="0">
                <a:solidFill>
                  <a:srgbClr val="0070C0"/>
                </a:solidFill>
              </a:rPr>
              <a:t>export LD_LIBRARY_PATH=$LD_LIBRARY_PATH:.</a:t>
            </a:r>
          </a:p>
          <a:p>
            <a:pPr>
              <a:spcBef>
                <a:spcPts val="0"/>
              </a:spcBef>
            </a:pPr>
            <a:r>
              <a:rPr lang="zh-CN" altLang="en-US" sz="2000" dirty="0"/>
              <a:t>检查工具</a:t>
            </a:r>
            <a:endParaRPr lang="en-US" altLang="zh-CN" sz="2000" dirty="0"/>
          </a:p>
          <a:p>
            <a:pPr lvl="1">
              <a:spcBef>
                <a:spcPts val="0"/>
              </a:spcBef>
            </a:pPr>
            <a:r>
              <a:rPr lang="en-US" altLang="zh-CN" sz="1800" dirty="0" err="1">
                <a:solidFill>
                  <a:srgbClr val="0070C0"/>
                </a:solidFill>
              </a:rPr>
              <a:t>ldd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myapp</a:t>
            </a:r>
            <a:r>
              <a:rPr lang="zh-CN" altLang="en-US" sz="1800" dirty="0"/>
              <a:t>：查看程序运行需要哪些 </a:t>
            </a:r>
            <a:r>
              <a:rPr lang="en-US" altLang="zh-CN" sz="1800" dirty="0">
                <a:solidFill>
                  <a:srgbClr val="0070C0"/>
                </a:solidFill>
              </a:rPr>
              <a:t>.so</a:t>
            </a:r>
            <a:r>
              <a:rPr lang="zh-CN" altLang="en-US" sz="1800" dirty="0"/>
              <a:t>，以及它们目前被定位到了哪里</a:t>
            </a:r>
            <a:endParaRPr lang="en-US" altLang="zh-CN" sz="1800" dirty="0"/>
          </a:p>
          <a:p>
            <a:pPr lvl="1">
              <a:spcBef>
                <a:spcPts val="0"/>
              </a:spcBef>
            </a:pPr>
            <a:r>
              <a:rPr lang="en-US" altLang="zh-CN" sz="1800" dirty="0">
                <a:solidFill>
                  <a:srgbClr val="0070C0"/>
                </a:solidFill>
              </a:rPr>
              <a:t>nm -D libmymath.so</a:t>
            </a:r>
            <a:r>
              <a:rPr lang="zh-CN" altLang="en-US" sz="1800" dirty="0"/>
              <a:t>：查看动态库导出了哪些函数接口（符号表）</a:t>
            </a:r>
            <a:endParaRPr lang="en-US" altLang="zh-CN" sz="1800" dirty="0"/>
          </a:p>
          <a:p>
            <a:endParaRPr lang="en-US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1743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96FBA-AC57-4F62-A490-340D6D6D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CMake</a:t>
            </a:r>
            <a:r>
              <a:rPr lang="zh-CN" altLang="en-US" dirty="0"/>
              <a:t>中编译静态库和动态库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3D7497-F625-4096-8F54-A972BA1E1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3"/>
            <a:ext cx="8455513" cy="518192"/>
          </a:xfrm>
        </p:spPr>
        <p:txBody>
          <a:bodyPr/>
          <a:lstStyle/>
          <a:p>
            <a:r>
              <a:rPr lang="zh-CN" altLang="en-US" sz="2000" dirty="0"/>
              <a:t>在 </a:t>
            </a:r>
            <a:r>
              <a:rPr lang="en-US" altLang="zh-CN" sz="2000" dirty="0">
                <a:solidFill>
                  <a:srgbClr val="0070C0"/>
                </a:solidFill>
              </a:rPr>
              <a:t>CMakeLists.txt </a:t>
            </a:r>
            <a:r>
              <a:rPr lang="zh-CN" altLang="en-US" sz="2000" dirty="0"/>
              <a:t>中通过 </a:t>
            </a:r>
            <a:r>
              <a:rPr lang="en-US" altLang="zh-CN" sz="2000" dirty="0">
                <a:solidFill>
                  <a:srgbClr val="0070C0"/>
                </a:solidFill>
              </a:rPr>
              <a:t>STATIC</a:t>
            </a:r>
            <a:r>
              <a:rPr lang="en-US" altLang="zh-CN" sz="2000" dirty="0"/>
              <a:t> </a:t>
            </a:r>
            <a:r>
              <a:rPr lang="zh-CN" altLang="en-US" sz="2000" dirty="0"/>
              <a:t>或 </a:t>
            </a:r>
            <a:r>
              <a:rPr lang="en-US" altLang="zh-CN" sz="2000" dirty="0">
                <a:solidFill>
                  <a:srgbClr val="0070C0"/>
                </a:solidFill>
              </a:rPr>
              <a:t>SHARED</a:t>
            </a:r>
            <a:r>
              <a:rPr lang="en-US" altLang="zh-CN" sz="2000" dirty="0"/>
              <a:t> </a:t>
            </a:r>
            <a:r>
              <a:rPr lang="zh-CN" altLang="en-US" sz="2000" dirty="0"/>
              <a:t>关键字来决定库的类型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D49AF22A-E619-48AE-94E2-0DF821B37D55}"/>
              </a:ext>
            </a:extLst>
          </p:cNvPr>
          <p:cNvSpPr/>
          <p:nvPr/>
        </p:nvSpPr>
        <p:spPr bwMode="auto">
          <a:xfrm>
            <a:off x="697279" y="2074985"/>
            <a:ext cx="7857636" cy="4391365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cmake_minimum_required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(VERSION 3.10)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project(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LibraryExample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设置头文件路径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include_directories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(include)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 1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编译静态库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libmy_static.a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add_library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my_static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STATIC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src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math_lib.c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2.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编译动态库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(libmy_shared.so)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add_library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my_shared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SHARED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src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math_lib.c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# 3.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编译主程序并链接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add_executable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app_static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src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main.c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target_link_libraries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app_static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my_static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add_executable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app_shared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src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main.c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target_link_libraries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app_shared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my_shared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7339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A523D-0C67-4FD3-9588-C4248C86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CMake</a:t>
            </a:r>
            <a:r>
              <a:rPr lang="zh-CN" altLang="en-US" dirty="0"/>
              <a:t>中编译静态库和动态库（续）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ED5F2-B4C0-42FB-9B59-FA078C5A1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415562"/>
            <a:ext cx="8540750" cy="4832838"/>
          </a:xfrm>
        </p:spPr>
        <p:txBody>
          <a:bodyPr/>
          <a:lstStyle/>
          <a:p>
            <a:r>
              <a:rPr lang="zh-CN" altLang="en-US" sz="2000" dirty="0"/>
              <a:t>或者通过</a:t>
            </a:r>
            <a:r>
              <a:rPr lang="en-US" altLang="zh-CN" sz="2000" dirty="0" err="1">
                <a:solidFill>
                  <a:srgbClr val="0070C0"/>
                </a:solidFill>
              </a:rPr>
              <a:t>CMake</a:t>
            </a:r>
            <a:r>
              <a:rPr lang="zh-CN" altLang="en-US" sz="2000" dirty="0"/>
              <a:t>变量 </a:t>
            </a:r>
            <a:r>
              <a:rPr lang="en-US" altLang="zh-CN" sz="2000" dirty="0">
                <a:solidFill>
                  <a:srgbClr val="0070C0"/>
                </a:solidFill>
              </a:rPr>
              <a:t>BUILD_SHARED_LIBS</a:t>
            </a:r>
            <a:r>
              <a:rPr lang="zh-CN" altLang="en-US" sz="2000" dirty="0">
                <a:solidFill>
                  <a:srgbClr val="0070C0"/>
                </a:solidFill>
              </a:rPr>
              <a:t> </a:t>
            </a:r>
            <a:r>
              <a:rPr lang="zh-CN" altLang="en-US" sz="2000" dirty="0"/>
              <a:t>来全局控制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1800" dirty="0"/>
              <a:t>编译为静态库： </a:t>
            </a:r>
            <a:r>
              <a:rPr lang="en-US" altLang="zh-CN" sz="1800" dirty="0" err="1">
                <a:solidFill>
                  <a:srgbClr val="0070C0"/>
                </a:solidFill>
              </a:rPr>
              <a:t>cmake</a:t>
            </a:r>
            <a:r>
              <a:rPr lang="en-US" altLang="zh-CN" sz="1800" dirty="0">
                <a:solidFill>
                  <a:srgbClr val="0070C0"/>
                </a:solidFill>
              </a:rPr>
              <a:t> .. -DBUILD_SHARED_LIBS=</a:t>
            </a:r>
            <a:r>
              <a:rPr lang="en-US" altLang="zh-CN" sz="1800" dirty="0">
                <a:solidFill>
                  <a:srgbClr val="C00000"/>
                </a:solidFill>
              </a:rPr>
              <a:t>OFF</a:t>
            </a:r>
          </a:p>
          <a:p>
            <a:pPr lvl="1"/>
            <a:r>
              <a:rPr lang="zh-CN" altLang="en-US" sz="1800" dirty="0"/>
              <a:t>编译为动态库： </a:t>
            </a:r>
            <a:r>
              <a:rPr lang="en-US" altLang="zh-CN" sz="1800" dirty="0" err="1">
                <a:solidFill>
                  <a:srgbClr val="0070C0"/>
                </a:solidFill>
              </a:rPr>
              <a:t>cmake</a:t>
            </a:r>
            <a:r>
              <a:rPr lang="en-US" altLang="zh-CN" sz="1800" dirty="0">
                <a:solidFill>
                  <a:srgbClr val="0070C0"/>
                </a:solidFill>
              </a:rPr>
              <a:t> .. -DBUILD_SHARED_LIBS=</a:t>
            </a:r>
            <a:r>
              <a:rPr lang="en-US" altLang="zh-CN" sz="1800" dirty="0">
                <a:solidFill>
                  <a:srgbClr val="C00000"/>
                </a:solidFill>
              </a:rPr>
              <a:t>ON</a:t>
            </a:r>
            <a:endParaRPr lang="zh-CN" altLang="en-US" sz="1800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82FEFF7F-0528-4491-9EA7-6C7EF3D55C13}"/>
              </a:ext>
            </a:extLst>
          </p:cNvPr>
          <p:cNvSpPr/>
          <p:nvPr/>
        </p:nvSpPr>
        <p:spPr bwMode="auto">
          <a:xfrm>
            <a:off x="753451" y="1832803"/>
            <a:ext cx="7054117" cy="3572071"/>
          </a:xfrm>
          <a:prstGeom prst="verticalScroll">
            <a:avLst>
              <a:gd name="adj" fmla="val 2230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 CMakeLists.txt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cmake_minimum_required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(VERSION 3.10)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project(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FlexibleLib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sz="1600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确保在安装后的可执行文件也包含库的搜索路径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set(CMAKE_INSTALL_RPATH "${CMAKE_INSTALL_PREFIX}/lib")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set(CMAKE_INSTALL_RPATH_USE_LINK_PATH TRUE)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如果不指定类型，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CMake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会根据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BUILD_SHARED_LIBS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变量来决定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默认通常是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STATIC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add_library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my_lib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src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math_lib.c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add_executable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myapp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src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main.c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target_link_libraries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myapp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my_lib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1885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01F0A-DD4A-4838-A342-786C05DE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静态库与动态库小结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2A46E9-2F5D-4221-9D2E-8C3C95328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354016"/>
            <a:ext cx="8540750" cy="4745160"/>
          </a:xfrm>
        </p:spPr>
        <p:txBody>
          <a:bodyPr/>
          <a:lstStyle/>
          <a:p>
            <a:r>
              <a:rPr lang="zh-CN" altLang="en-US" sz="2000" dirty="0"/>
              <a:t>静态库与动态库对比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开发时如何选择</a:t>
            </a:r>
            <a:endParaRPr lang="en-US" altLang="zh-CN" sz="2000" dirty="0"/>
          </a:p>
          <a:p>
            <a:pPr lvl="1"/>
            <a:r>
              <a:rPr lang="zh-CN" altLang="en-US" sz="1800" dirty="0"/>
              <a:t>选择静态库： 如果软件比较小，或者希望用户“下载即用”，不希望用户因为缺少环境而报错，静态库是首选</a:t>
            </a:r>
            <a:endParaRPr lang="en-US" altLang="zh-CN" sz="1800" dirty="0"/>
          </a:p>
          <a:p>
            <a:pPr lvl="1"/>
            <a:r>
              <a:rPr lang="zh-CN" altLang="en-US" sz="1800" dirty="0"/>
              <a:t>选择动态库： 对于大型系统（如 </a:t>
            </a:r>
            <a:r>
              <a:rPr lang="en-US" altLang="zh-CN" sz="1800" dirty="0"/>
              <a:t>Linux </a:t>
            </a:r>
            <a:r>
              <a:rPr lang="zh-CN" altLang="en-US" sz="1800" dirty="0"/>
              <a:t>内核、大型游戏引擎），或者需要频繁插件化更新的项目，动态库是不二之选</a:t>
            </a:r>
            <a:endParaRPr lang="en-US" altLang="zh-CN" sz="1800" dirty="0"/>
          </a:p>
          <a:p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5288BC8-A6FC-4ECE-AA8C-5750CC44F0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9478690"/>
              </p:ext>
            </p:extLst>
          </p:nvPr>
        </p:nvGraphicFramePr>
        <p:xfrm>
          <a:off x="474787" y="1777147"/>
          <a:ext cx="8367588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14498">
                  <a:extLst>
                    <a:ext uri="{9D8B030D-6E8A-4147-A177-3AD203B41FA5}">
                      <a16:colId xmlns:a16="http://schemas.microsoft.com/office/drawing/2014/main" val="521542877"/>
                    </a:ext>
                  </a:extLst>
                </a:gridCol>
                <a:gridCol w="3806174">
                  <a:extLst>
                    <a:ext uri="{9D8B030D-6E8A-4147-A177-3AD203B41FA5}">
                      <a16:colId xmlns:a16="http://schemas.microsoft.com/office/drawing/2014/main" val="3668572950"/>
                    </a:ext>
                  </a:extLst>
                </a:gridCol>
                <a:gridCol w="2846916">
                  <a:extLst>
                    <a:ext uri="{9D8B030D-6E8A-4147-A177-3AD203B41FA5}">
                      <a16:colId xmlns:a16="http://schemas.microsoft.com/office/drawing/2014/main" val="2264438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静态库 </a:t>
                      </a:r>
                      <a:r>
                        <a:rPr lang="en-US" altLang="zh-CN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(.</a:t>
                      </a:r>
                      <a:r>
                        <a:rPr lang="en-US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/ .lib)</a:t>
                      </a:r>
                      <a:endParaRPr lang="en-US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动态库 </a:t>
                      </a:r>
                      <a:r>
                        <a:rPr lang="en-US" altLang="zh-CN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(.</a:t>
                      </a:r>
                      <a:r>
                        <a:rPr lang="en-US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 / .dll)</a:t>
                      </a:r>
                      <a:endParaRPr lang="en-US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97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链接时间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编译链接阶段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程序运行阶段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435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文件大小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生成的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exe 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文件较大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生成的 </a:t>
                      </a: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exe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文件较小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83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内存占用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每个进程独立拷贝，浪费内存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多个进程共享，节省内存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476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部署便捷性</a:t>
                      </a:r>
                      <a:endParaRPr lang="zh-CN" altLang="en-US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极高（单文件运行）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一般（需携带库文件）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79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更新维护</a:t>
                      </a:r>
                      <a:endParaRPr lang="zh-CN" altLang="en-US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需要重新编译主程序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替换库文件即可生效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59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1241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3A8B8-CA5A-429B-9EF0-4C2D192D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9327B-0E72-49E8-94BF-612DED7E0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位运算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宏操作（带参数、系统宏）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静态与动态库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编程优化方法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514968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39F23-A946-490A-89EA-B31FD5AD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编程优化概述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C7580-32C0-4025-92F0-3DEDD04F4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2"/>
            <a:ext cx="8540750" cy="5019854"/>
          </a:xfrm>
        </p:spPr>
        <p:txBody>
          <a:bodyPr/>
          <a:lstStyle/>
          <a:p>
            <a:r>
              <a:rPr lang="zh-CN" altLang="en-US" sz="2000" dirty="0"/>
              <a:t>优化是一门平衡艺术，需要在</a:t>
            </a:r>
            <a:r>
              <a:rPr lang="zh-CN" altLang="en-US" sz="2000" dirty="0">
                <a:solidFill>
                  <a:srgbClr val="C00000"/>
                </a:solidFill>
              </a:rPr>
              <a:t>执行速度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C00000"/>
                </a:solidFill>
              </a:rPr>
              <a:t>内存消耗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C00000"/>
                </a:solidFill>
              </a:rPr>
              <a:t>代码可读性</a:t>
            </a:r>
            <a:r>
              <a:rPr lang="zh-CN" altLang="en-US" sz="2000" dirty="0"/>
              <a:t>之间寻找最优解，对高性能或资源受限的嵌入式开发至关重要</a:t>
            </a:r>
            <a:endParaRPr lang="en-US" altLang="zh-CN" sz="2000" dirty="0"/>
          </a:p>
          <a:p>
            <a:r>
              <a:rPr lang="zh-CN" altLang="en-US" sz="2000" dirty="0"/>
              <a:t>编程中常用的优化方法，分为四个维度：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数据结构与算法优化</a:t>
            </a:r>
            <a:r>
              <a:rPr lang="zh-CN" altLang="en-US" sz="2000" dirty="0"/>
              <a:t>：比任何底层的代码微调都要高效，例如大规模数据的二分查找比普通的顺序查找性能要高得多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函数级优化</a:t>
            </a:r>
            <a:r>
              <a:rPr lang="zh-CN" altLang="en-US" sz="2000" dirty="0"/>
              <a:t>：函数调用的开销虽然微小（入栈、跳转、出栈），但在高性能计算或高频调用的内层循环中，这些开销会积少成多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控制指令级优化</a:t>
            </a:r>
            <a:r>
              <a:rPr lang="zh-CN" altLang="en-US" sz="2000" dirty="0"/>
              <a:t>：分支和循环是程序逻辑的骨架，由于</a:t>
            </a:r>
            <a:r>
              <a:rPr lang="en-US" altLang="zh-CN" sz="2000" dirty="0"/>
              <a:t>CPU</a:t>
            </a:r>
            <a:r>
              <a:rPr lang="zh-CN" altLang="en-US" sz="2000" dirty="0"/>
              <a:t>的指令流水线和分支预测实现，不当的编写方式往往会成为性能瓶颈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运算指令级优化</a:t>
            </a:r>
            <a:r>
              <a:rPr lang="zh-CN" altLang="en-US" sz="2000" dirty="0"/>
              <a:t>：算术运算指令的执行开销差异巨大，用低开销的指令组合替代高开销的单条指令</a:t>
            </a:r>
          </a:p>
        </p:txBody>
      </p:sp>
    </p:spTree>
    <p:extLst>
      <p:ext uri="{BB962C8B-B14F-4D97-AF65-F5344CB8AC3E}">
        <p14:creationId xmlns:p14="http://schemas.microsoft.com/office/powerpoint/2010/main" val="28883254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3074E-4F8E-4EB6-AE87-CE69D46DD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函数级优化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2C4F3D-D54D-4D1B-9586-C7A7BB28A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核心思路是：减少调用开销、优化数据交换方式、以及辅助编译器决策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0070C0"/>
                </a:solidFill>
              </a:rPr>
              <a:t>调用级</a:t>
            </a:r>
            <a:r>
              <a:rPr lang="zh-CN" altLang="en-US" sz="2000" dirty="0"/>
              <a:t>：减少函数调用，消除栈帧开销</a:t>
            </a:r>
            <a:endParaRPr lang="en-US" altLang="zh-CN" sz="2000" dirty="0"/>
          </a:p>
          <a:p>
            <a:pPr lvl="1"/>
            <a:r>
              <a:rPr lang="zh-CN" altLang="en-US" sz="2000" dirty="0"/>
              <a:t>使用</a:t>
            </a:r>
            <a:r>
              <a:rPr lang="zh-CN" altLang="en-US" sz="2000" dirty="0">
                <a:solidFill>
                  <a:srgbClr val="FF0000"/>
                </a:solidFill>
              </a:rPr>
              <a:t>内联函数 </a:t>
            </a:r>
            <a:r>
              <a:rPr lang="en-US" altLang="zh-CN" sz="2000" dirty="0">
                <a:solidFill>
                  <a:srgbClr val="FF0000"/>
                </a:solidFill>
              </a:rPr>
              <a:t>(inline) </a:t>
            </a:r>
            <a:r>
              <a:rPr lang="zh-CN" altLang="en-US" sz="2000" dirty="0"/>
              <a:t>或者带参数的宏</a:t>
            </a:r>
            <a:endParaRPr lang="en-US" altLang="zh-CN" sz="2000" dirty="0"/>
          </a:p>
          <a:p>
            <a:pPr lvl="1"/>
            <a:r>
              <a:rPr lang="zh-CN" altLang="en-US" sz="2000" dirty="0"/>
              <a:t>尾递归优化 </a:t>
            </a:r>
            <a:r>
              <a:rPr lang="en-US" altLang="zh-CN" sz="2000" dirty="0"/>
              <a:t>(Tail Recursion)</a:t>
            </a:r>
          </a:p>
          <a:p>
            <a:r>
              <a:rPr lang="zh-CN" altLang="en-US" sz="2000" dirty="0">
                <a:solidFill>
                  <a:srgbClr val="0070C0"/>
                </a:solidFill>
              </a:rPr>
              <a:t>数据级</a:t>
            </a:r>
            <a:r>
              <a:rPr lang="zh-CN" altLang="en-US" sz="2000" dirty="0"/>
              <a:t>：减少拷贝、消除内存依赖</a:t>
            </a:r>
            <a:endParaRPr lang="en-US" altLang="zh-CN" sz="2000" dirty="0"/>
          </a:p>
          <a:p>
            <a:pPr lvl="1"/>
            <a:r>
              <a:rPr lang="zh-CN" altLang="en-US" sz="2000" dirty="0"/>
              <a:t>减少参数传递开销（传值 </a:t>
            </a:r>
            <a:r>
              <a:rPr lang="en-US" altLang="zh-CN" sz="2000" dirty="0"/>
              <a:t>vs </a:t>
            </a:r>
            <a:r>
              <a:rPr lang="zh-CN" altLang="en-US" sz="2000" dirty="0"/>
              <a:t>传址）</a:t>
            </a:r>
            <a:endParaRPr lang="en-US" altLang="zh-CN" sz="2000" dirty="0"/>
          </a:p>
          <a:p>
            <a:pPr lvl="1"/>
            <a:r>
              <a:rPr lang="zh-CN" altLang="en-US" sz="2000" dirty="0"/>
              <a:t>利用 </a:t>
            </a:r>
            <a:r>
              <a:rPr lang="en-US" altLang="zh-CN" sz="2000" dirty="0">
                <a:solidFill>
                  <a:srgbClr val="0070C0"/>
                </a:solidFill>
              </a:rPr>
              <a:t>restrict</a:t>
            </a:r>
            <a:r>
              <a:rPr lang="en-US" altLang="zh-CN" sz="2000" dirty="0"/>
              <a:t> </a:t>
            </a:r>
            <a:r>
              <a:rPr lang="zh-CN" altLang="en-US" sz="2000" dirty="0"/>
              <a:t>关键字消除别名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0070C0"/>
                </a:solidFill>
              </a:rPr>
              <a:t>编译器级</a:t>
            </a:r>
            <a:r>
              <a:rPr lang="zh-CN" altLang="en-US" sz="2000" dirty="0"/>
              <a:t>：帮助编译器进行死代码删除或循环外提</a:t>
            </a:r>
            <a:endParaRPr lang="en-US" altLang="zh-CN" sz="2000" dirty="0"/>
          </a:p>
          <a:p>
            <a:pPr lvl="1"/>
            <a:r>
              <a:rPr lang="zh-CN" altLang="en-US" sz="2000" dirty="0"/>
              <a:t>使用 </a:t>
            </a:r>
            <a:r>
              <a:rPr lang="en-US" altLang="zh-CN" sz="2000" dirty="0">
                <a:solidFill>
                  <a:srgbClr val="0070C0"/>
                </a:solidFill>
              </a:rPr>
              <a:t>static</a:t>
            </a:r>
            <a:r>
              <a:rPr lang="en-US" altLang="zh-CN" sz="2000" dirty="0"/>
              <a:t> </a:t>
            </a:r>
            <a:r>
              <a:rPr lang="zh-CN" altLang="en-US" sz="2000" dirty="0"/>
              <a:t>关键字限制函数作用域及 </a:t>
            </a:r>
            <a:r>
              <a:rPr lang="en-US" altLang="zh-CN" sz="2000" dirty="0">
                <a:solidFill>
                  <a:srgbClr val="0070C0"/>
                </a:solidFill>
              </a:rPr>
              <a:t>const</a:t>
            </a:r>
            <a:r>
              <a:rPr lang="en-US" altLang="zh-CN" sz="2000" dirty="0"/>
              <a:t> </a:t>
            </a:r>
            <a:r>
              <a:rPr lang="zh-CN" altLang="en-US" sz="2000" dirty="0"/>
              <a:t>关键字优化内存访问</a:t>
            </a:r>
            <a:endParaRPr lang="en-US" altLang="zh-CN" sz="2000" dirty="0"/>
          </a:p>
          <a:p>
            <a:pPr lvl="1"/>
            <a:r>
              <a:rPr lang="zh-CN" altLang="en-US" sz="2000" dirty="0"/>
              <a:t>使用编译器属性告知编译器函数的特殊行为</a:t>
            </a:r>
          </a:p>
        </p:txBody>
      </p:sp>
    </p:spTree>
    <p:extLst>
      <p:ext uri="{BB962C8B-B14F-4D97-AF65-F5344CB8AC3E}">
        <p14:creationId xmlns:p14="http://schemas.microsoft.com/office/powerpoint/2010/main" val="14113386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B9B85-2FA2-4C12-9D0E-3901D6D6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内联函数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297AED-DB77-4235-97AF-0C4D48A7D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内联函数（</a:t>
            </a:r>
            <a:r>
              <a:rPr lang="en-US" altLang="zh-CN" dirty="0"/>
              <a:t>C99</a:t>
            </a:r>
            <a:r>
              <a:rPr lang="zh-CN" altLang="en-US" dirty="0"/>
              <a:t>）：告诉编译器将函数代码直接“嵌入”到调用点，消除函数调用的压栈、跳转和返回开销</a:t>
            </a:r>
            <a:endParaRPr lang="en-US" altLang="zh-CN" dirty="0"/>
          </a:p>
          <a:p>
            <a:pPr lvl="1"/>
            <a:r>
              <a:rPr lang="zh-CN" altLang="en-US" sz="2000" dirty="0"/>
              <a:t>适用场景： 函数体非常小（如 </a:t>
            </a:r>
            <a:r>
              <a:rPr lang="en-US" altLang="zh-CN" sz="2000" dirty="0"/>
              <a:t>1-5 </a:t>
            </a:r>
            <a:r>
              <a:rPr lang="zh-CN" altLang="en-US" sz="2000" dirty="0"/>
              <a:t>行）且被频繁调用</a:t>
            </a:r>
            <a:endParaRPr lang="en-US" altLang="zh-CN" sz="2000" dirty="0"/>
          </a:p>
          <a:p>
            <a:pPr lvl="1"/>
            <a:r>
              <a:rPr lang="zh-CN" altLang="en-US" sz="2000" dirty="0"/>
              <a:t>与带参数宏的差异：</a:t>
            </a:r>
            <a:r>
              <a:rPr lang="zh-CN" altLang="en-US" sz="2000" dirty="0">
                <a:solidFill>
                  <a:srgbClr val="FF0000"/>
                </a:solidFill>
              </a:rPr>
              <a:t>编译器会检查函数的有效性</a:t>
            </a:r>
            <a:r>
              <a:rPr lang="zh-CN" altLang="en-US" sz="2000" dirty="0"/>
              <a:t>，没有宏的副作用</a:t>
            </a:r>
            <a:endParaRPr lang="en-US" altLang="zh-CN" sz="2000" dirty="0"/>
          </a:p>
          <a:p>
            <a:pPr lvl="1"/>
            <a:r>
              <a:rPr lang="zh-CN" altLang="en-US" sz="2000" dirty="0"/>
              <a:t>注意： </a:t>
            </a:r>
            <a:r>
              <a:rPr lang="en-US" altLang="zh-CN" sz="2000" dirty="0">
                <a:solidFill>
                  <a:srgbClr val="0070C0"/>
                </a:solidFill>
              </a:rPr>
              <a:t>inline</a:t>
            </a:r>
            <a:r>
              <a:rPr lang="en-US" altLang="zh-CN" sz="2000" dirty="0"/>
              <a:t> </a:t>
            </a:r>
            <a:r>
              <a:rPr lang="zh-CN" altLang="en-US" sz="2000" dirty="0"/>
              <a:t>只是给编译器的建议，并不保证该函数一定会被内联。现代编译器（如开启 </a:t>
            </a:r>
            <a:r>
              <a:rPr lang="en-US" altLang="zh-CN" sz="2000" dirty="0">
                <a:solidFill>
                  <a:srgbClr val="0070C0"/>
                </a:solidFill>
              </a:rPr>
              <a:t>-O2</a:t>
            </a:r>
            <a:r>
              <a:rPr lang="zh-CN" altLang="en-US" sz="2000" dirty="0"/>
              <a:t>）通常会自动内联它认为合适的函数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54DCC0BA-92E8-4588-8EC9-1FE96680AE7F}"/>
              </a:ext>
            </a:extLst>
          </p:cNvPr>
          <p:cNvSpPr/>
          <p:nvPr/>
        </p:nvSpPr>
        <p:spPr bwMode="auto">
          <a:xfrm>
            <a:off x="643182" y="4378568"/>
            <a:ext cx="7857636" cy="2136531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内联函数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static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inline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int max(int a, int b)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return (a &gt; b) ? a : b;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带函数的宏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,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思考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: MAX(a++, b++)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会有什么结果？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#define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MAX(a, b) (((a) &gt;(b)) ? (a) : (b))</a:t>
            </a:r>
          </a:p>
        </p:txBody>
      </p:sp>
    </p:spTree>
    <p:extLst>
      <p:ext uri="{BB962C8B-B14F-4D97-AF65-F5344CB8AC3E}">
        <p14:creationId xmlns:p14="http://schemas.microsoft.com/office/powerpoint/2010/main" val="36856347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C323D-759C-4815-A0D7-7D316E0D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尾递归优化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CEC31-E635-4DAF-8D09-F98FD5DA2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如果函数的最后动作是调用自身，编译器可以将其转化为 </a:t>
            </a:r>
            <a:r>
              <a:rPr lang="en-US" altLang="zh-CN" sz="2000" dirty="0" err="1">
                <a:solidFill>
                  <a:srgbClr val="0070C0"/>
                </a:solidFill>
              </a:rPr>
              <a:t>jmp</a:t>
            </a:r>
            <a:r>
              <a:rPr lang="en-US" altLang="zh-CN" sz="2000" dirty="0"/>
              <a:t> </a:t>
            </a:r>
            <a:r>
              <a:rPr lang="zh-CN" altLang="en-US" sz="2000" dirty="0"/>
              <a:t>指令，而不是建立新的栈帧，防止栈溢出并提升速度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ADFF2703-C60A-4F16-A190-278FCA39A399}"/>
              </a:ext>
            </a:extLst>
          </p:cNvPr>
          <p:cNvSpPr/>
          <p:nvPr/>
        </p:nvSpPr>
        <p:spPr bwMode="auto">
          <a:xfrm>
            <a:off x="643182" y="2549769"/>
            <a:ext cx="7857636" cy="3314699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普通递归：需要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O(n)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栈空间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factorial(int n)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if (n == 0) return 1;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return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 * factorial(n - 1)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尾递归：编译器可优化为循环，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O(1)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栈空间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factorial_tail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(int n, int accumulator)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if (n == 0) return accumulator;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return 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factorial_tail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(n - 1, n * accumulator)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290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1F5BC-1859-491C-98F7-C443B5BE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参数地址传递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6FA72F-5C35-4892-8829-0F8F81258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函数参数默认是“值传递”。如果传递大型结构体，会发生内存拷贝。改用指针（地址传递）只需拷贝一个机器字长（</a:t>
            </a:r>
            <a:r>
              <a:rPr lang="en-US" altLang="zh-CN" sz="2000" dirty="0"/>
              <a:t>4 </a:t>
            </a:r>
            <a:r>
              <a:rPr lang="zh-CN" altLang="en-US" sz="2000" dirty="0"/>
              <a:t>或 </a:t>
            </a:r>
            <a:r>
              <a:rPr lang="en-US" altLang="zh-CN" sz="2000" dirty="0"/>
              <a:t>8 </a:t>
            </a:r>
            <a:r>
              <a:rPr lang="zh-CN" altLang="en-US" sz="2000" dirty="0"/>
              <a:t>字节）</a:t>
            </a:r>
            <a:endParaRPr lang="en-US" altLang="zh-CN" sz="2000" dirty="0"/>
          </a:p>
          <a:p>
            <a:r>
              <a:rPr lang="zh-CN" altLang="en-US" sz="2000" dirty="0"/>
              <a:t>传递结构体指针，如不需要修改结构体，可使用 </a:t>
            </a:r>
            <a:r>
              <a:rPr lang="en-US" altLang="zh-CN" sz="2000" dirty="0">
                <a:solidFill>
                  <a:srgbClr val="0070C0"/>
                </a:solidFill>
              </a:rPr>
              <a:t>const</a:t>
            </a:r>
            <a:r>
              <a:rPr lang="en-US" altLang="zh-CN" sz="2000" dirty="0"/>
              <a:t> </a:t>
            </a:r>
            <a:r>
              <a:rPr lang="zh-CN" altLang="en-US" sz="2000" dirty="0"/>
              <a:t>修饰以保证安全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6DADF58D-9D86-4507-922A-9232B662AE3D}"/>
              </a:ext>
            </a:extLst>
          </p:cNvPr>
          <p:cNvSpPr/>
          <p:nvPr/>
        </p:nvSpPr>
        <p:spPr bwMode="auto">
          <a:xfrm>
            <a:off x="643182" y="2933701"/>
            <a:ext cx="7857636" cy="3314699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typedef struct {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double matrix[100][100];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BigData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不推荐：拷贝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80,000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字节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void process(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BigData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data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);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BigData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update_value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推荐：仅拷贝一个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8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字节指针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void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process_optimized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const 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BigData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*data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void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update_value_optimized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BigData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*data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792943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D53CD-A42C-42A8-9D86-14FB6CAB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消除指针别名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42C08-154A-449D-BF39-2DF0E0326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0070C0"/>
                </a:solidFill>
              </a:rPr>
              <a:t>restrict</a:t>
            </a:r>
            <a:r>
              <a:rPr lang="en-US" altLang="zh-CN" sz="2000" dirty="0"/>
              <a:t> </a:t>
            </a:r>
            <a:r>
              <a:rPr lang="zh-CN" altLang="en-US" sz="2000" dirty="0"/>
              <a:t>关键字（</a:t>
            </a:r>
            <a:r>
              <a:rPr lang="en-US" altLang="zh-CN" sz="2000" dirty="0"/>
              <a:t>C99</a:t>
            </a:r>
            <a:r>
              <a:rPr lang="zh-CN" altLang="en-US" sz="2000" dirty="0"/>
              <a:t>）用于修饰指针，表示在该指针的生命周期内，它所指向的内存地址不会被其他指针访问，解决“指针别名”问题</a:t>
            </a:r>
            <a:endParaRPr lang="en-US" altLang="zh-CN" sz="2000" dirty="0"/>
          </a:p>
          <a:p>
            <a:r>
              <a:rPr lang="zh-CN" altLang="en-US" sz="2000" dirty="0"/>
              <a:t>此时，编译器不需要在每次操作后重新从内存加载数据，可以直接利用寄存器中的缓存。这是编译器实现 </a:t>
            </a:r>
            <a:r>
              <a:rPr lang="en-US" altLang="zh-CN" sz="2000" dirty="0"/>
              <a:t>SIMD</a:t>
            </a:r>
            <a:r>
              <a:rPr lang="zh-CN" altLang="en-US" sz="2000" dirty="0"/>
              <a:t>（向量化） 优化的前提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C7C3651E-F8CA-41A6-A09D-4816AA514E6D}"/>
              </a:ext>
            </a:extLst>
          </p:cNvPr>
          <p:cNvSpPr/>
          <p:nvPr/>
        </p:nvSpPr>
        <p:spPr bwMode="auto">
          <a:xfrm>
            <a:off x="643182" y="3290193"/>
            <a:ext cx="7857636" cy="2958207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告诉编译器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a, b, result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指向的内存绝不重叠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void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add_arrays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(int *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restrict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a, int *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restrict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b, int *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restrict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result, int n)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n;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result[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 = a[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 + b[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];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编译器现在可以放心地使用向量化指令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(SIMD)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a[10] = {1, 2, 3, 4, 5};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错误用法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：让两个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restrict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指针指向了同一个数组重叠的区域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add_arrays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(a, a + 1, a, 5);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错误使用时，会导致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结果不确定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6992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27948-0E1C-4F01-AFB9-9A9A5A92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编译器函数属性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06FB9-F1CF-4223-BDD9-DF93D5DEB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GCC </a:t>
            </a:r>
            <a:r>
              <a:rPr lang="zh-CN" altLang="en-US" sz="2000" dirty="0"/>
              <a:t>和 </a:t>
            </a:r>
            <a:r>
              <a:rPr lang="en-US" altLang="zh-CN" sz="2000" dirty="0"/>
              <a:t>Clang </a:t>
            </a:r>
            <a:r>
              <a:rPr lang="zh-CN" altLang="en-US" sz="2000" dirty="0"/>
              <a:t>提供了一些非标准的属性，告知编译器函数的特殊行为</a:t>
            </a:r>
            <a:endParaRPr lang="en-US" altLang="zh-CN" sz="2000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__attribute__((const)) </a:t>
            </a:r>
            <a:r>
              <a:rPr lang="zh-CN" altLang="en-US" sz="1800" dirty="0"/>
              <a:t>：告知编译器该函数不读取也不修改任何全局内存，输出仅依赖于输入参数（如 </a:t>
            </a:r>
            <a:r>
              <a:rPr lang="en-US" altLang="zh-CN" sz="1800" dirty="0">
                <a:solidFill>
                  <a:srgbClr val="0070C0"/>
                </a:solidFill>
              </a:rPr>
              <a:t>abs()</a:t>
            </a:r>
            <a:r>
              <a:rPr lang="zh-CN" altLang="en-US" sz="1800" dirty="0"/>
              <a:t>），如果多次调用该函数且参数相同，编译器会将多次调用合并为一次</a:t>
            </a:r>
            <a:endParaRPr lang="en-US" altLang="zh-CN" sz="1800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__attribute__((pure)) </a:t>
            </a:r>
            <a:r>
              <a:rPr lang="zh-CN" altLang="en-US" sz="1800" dirty="0"/>
              <a:t>：告知编译器该函数虽然可能读取全局内存，但不会修改任何内存（无副作用），如果循环中调用该函数且没有修改内存的操作，编译器可以将调用移出循环</a:t>
            </a:r>
            <a:endParaRPr lang="en-US" altLang="zh-CN" sz="1800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__attribute__((</a:t>
            </a:r>
            <a:r>
              <a:rPr lang="en-US" altLang="zh-CN" sz="1800" dirty="0" err="1">
                <a:solidFill>
                  <a:srgbClr val="0070C0"/>
                </a:solidFill>
              </a:rPr>
              <a:t>noreturn</a:t>
            </a:r>
            <a:r>
              <a:rPr lang="en-US" altLang="zh-CN" sz="1800" dirty="0">
                <a:solidFill>
                  <a:srgbClr val="0070C0"/>
                </a:solidFill>
              </a:rPr>
              <a:t>)) </a:t>
            </a:r>
            <a:r>
              <a:rPr lang="zh-CN" altLang="en-US" sz="1800" dirty="0"/>
              <a:t>：告知编译器该函数执行后不会返回（如 </a:t>
            </a:r>
            <a:r>
              <a:rPr lang="en-US" altLang="zh-CN" sz="1800" dirty="0">
                <a:solidFill>
                  <a:srgbClr val="0070C0"/>
                </a:solidFill>
              </a:rPr>
              <a:t>exit() </a:t>
            </a:r>
            <a:r>
              <a:rPr lang="zh-CN" altLang="en-US" sz="1800" dirty="0"/>
              <a:t>或死循环），编译器可以优化调用后的控制流，减少不必要的清理代码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DF0A6FF7-C70F-4EF6-88BC-3C2DA15ED879}"/>
              </a:ext>
            </a:extLst>
          </p:cNvPr>
          <p:cNvSpPr/>
          <p:nvPr/>
        </p:nvSpPr>
        <p:spPr bwMode="auto">
          <a:xfrm>
            <a:off x="1082797" y="4976447"/>
            <a:ext cx="7551249" cy="1776046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square(int x)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__attribute__((const))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100;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编译器发现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square(10)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结果不变，只会计算一次，不会重复调用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sum += square(10);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3573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9F64D-9B37-43F3-BA60-61358973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控制指令级优化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C7B8E-634C-4497-B559-1640862BA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rgbClr val="0070C0"/>
                </a:solidFill>
              </a:rPr>
              <a:t>分支语句优化</a:t>
            </a:r>
            <a:r>
              <a:rPr lang="zh-CN" altLang="en-US" sz="2000" dirty="0"/>
              <a:t>：由于现代 </a:t>
            </a:r>
            <a:r>
              <a:rPr lang="en-US" altLang="zh-CN" sz="2000" dirty="0"/>
              <a:t>CPU </a:t>
            </a:r>
            <a:r>
              <a:rPr lang="zh-CN" altLang="en-US" sz="2000" dirty="0"/>
              <a:t>采用分支预测技术，一旦分支预测失败，</a:t>
            </a:r>
            <a:r>
              <a:rPr lang="en-US" altLang="zh-CN" sz="2000" dirty="0"/>
              <a:t>CPU </a:t>
            </a:r>
            <a:r>
              <a:rPr lang="zh-CN" altLang="en-US" sz="2000" dirty="0"/>
              <a:t>就必须清空流水线并重新加载指令，这会导致严重的性能损耗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分支排布</a:t>
            </a:r>
            <a:r>
              <a:rPr lang="zh-CN" altLang="en-US" sz="2000" dirty="0"/>
              <a:t>：排布得当可以显著提升</a:t>
            </a:r>
            <a:r>
              <a:rPr lang="en-US" altLang="zh-CN" sz="2000" dirty="0"/>
              <a:t>CPU</a:t>
            </a:r>
            <a:r>
              <a:rPr lang="zh-CN" altLang="en-US" sz="2000" dirty="0"/>
              <a:t>分支预测器的命中率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分支暗示</a:t>
            </a:r>
            <a:r>
              <a:rPr lang="zh-CN" altLang="en-US" sz="2000" dirty="0"/>
              <a:t>：使用内置函数告诉编译器分支的概率，提高预取成功率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无分支编程</a:t>
            </a:r>
            <a:r>
              <a:rPr lang="zh-CN" altLang="en-US" sz="2000" dirty="0"/>
              <a:t>：通过其它方式直接计算出结果，彻底消除分支语句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0070C0"/>
                </a:solidFill>
              </a:rPr>
              <a:t>循环语句优化</a:t>
            </a:r>
            <a:r>
              <a:rPr lang="zh-CN" altLang="en-US" sz="2000" dirty="0"/>
              <a:t>：循环通常占据了程序 </a:t>
            </a:r>
            <a:r>
              <a:rPr lang="en-US" altLang="zh-CN" sz="2000" dirty="0"/>
              <a:t>80% </a:t>
            </a:r>
            <a:r>
              <a:rPr lang="zh-CN" altLang="en-US" sz="2000" dirty="0"/>
              <a:t>以上的执行时间，优化循环能减少 </a:t>
            </a:r>
            <a:r>
              <a:rPr lang="en-US" altLang="zh-CN" sz="2000" dirty="0"/>
              <a:t>CPU </a:t>
            </a:r>
            <a:r>
              <a:rPr lang="zh-CN" altLang="en-US" sz="2000" dirty="0"/>
              <a:t>的跳转开销，并为 </a:t>
            </a:r>
            <a:r>
              <a:rPr lang="en-US" altLang="zh-CN" sz="2000" dirty="0"/>
              <a:t>CPU </a:t>
            </a:r>
            <a:r>
              <a:rPr lang="zh-CN" altLang="en-US" sz="2000" dirty="0"/>
              <a:t>提供了更多的指令级并行空间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循环展开与融合</a:t>
            </a:r>
            <a:r>
              <a:rPr lang="zh-CN" altLang="en-US" sz="2000" dirty="0"/>
              <a:t>：展开或融合小的循环体，减少判断和跳转开销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循环外提与交换</a:t>
            </a:r>
            <a:r>
              <a:rPr lang="zh-CN" altLang="en-US" sz="2000" dirty="0"/>
              <a:t>：外提不变量或交换多层循环，减少冗余计算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终点判断优化</a:t>
            </a:r>
            <a:r>
              <a:rPr lang="zh-CN" altLang="en-US" sz="2000" dirty="0"/>
              <a:t>：循环判断条件优化，减少不必要的循环</a:t>
            </a:r>
          </a:p>
        </p:txBody>
      </p:sp>
    </p:spTree>
    <p:extLst>
      <p:ext uri="{BB962C8B-B14F-4D97-AF65-F5344CB8AC3E}">
        <p14:creationId xmlns:p14="http://schemas.microsoft.com/office/powerpoint/2010/main" val="4640552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FC717-1641-4243-A86B-645FF059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分支排布优化（一）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9B2AF-6CEB-417E-95F2-57239FE85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rgbClr val="0070C0"/>
                </a:solidFill>
              </a:rPr>
              <a:t>频率优先原则</a:t>
            </a:r>
            <a:r>
              <a:rPr lang="zh-CN" altLang="en-US" sz="2000" dirty="0"/>
              <a:t>：</a:t>
            </a:r>
            <a:r>
              <a:rPr lang="en-US" altLang="zh-CN" sz="2000" dirty="0"/>
              <a:t>C </a:t>
            </a:r>
            <a:r>
              <a:rPr lang="zh-CN" altLang="en-US" sz="2000" dirty="0"/>
              <a:t>语言的 </a:t>
            </a:r>
            <a:r>
              <a:rPr lang="en-US" altLang="zh-CN" sz="2000" dirty="0">
                <a:solidFill>
                  <a:srgbClr val="0070C0"/>
                </a:solidFill>
              </a:rPr>
              <a:t>if </a:t>
            </a:r>
            <a:r>
              <a:rPr lang="zh-CN" altLang="en-US" sz="2000" dirty="0"/>
              <a:t>链是按顺序执行的，一旦首个条件命中，后续所有的 </a:t>
            </a:r>
            <a:r>
              <a:rPr lang="en-US" altLang="zh-CN" sz="2000" dirty="0" err="1">
                <a:solidFill>
                  <a:srgbClr val="0070C0"/>
                </a:solidFill>
              </a:rPr>
              <a:t>cmp</a:t>
            </a:r>
            <a:r>
              <a:rPr lang="en-US" altLang="zh-CN" sz="2000" dirty="0"/>
              <a:t> </a:t>
            </a:r>
            <a:r>
              <a:rPr lang="zh-CN" altLang="en-US" sz="2000" dirty="0"/>
              <a:t>指令都会被跳过，应当将最可能发生的条件放在最前面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2C773A7B-6388-489A-B5CC-7AA8E2BFA0C2}"/>
              </a:ext>
            </a:extLst>
          </p:cNvPr>
          <p:cNvSpPr/>
          <p:nvPr/>
        </p:nvSpPr>
        <p:spPr bwMode="auto">
          <a:xfrm>
            <a:off x="643182" y="2516470"/>
            <a:ext cx="7857636" cy="2958207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效率低：如果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80%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的情况是普通用户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is_admin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(user)) { ... }      		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5%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概率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else if (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is_guest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(user)) { ... } 		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15%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概率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else { ... }                     		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80%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概率（普通用户）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zh-CN" altLang="en-US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效率高：将大概率分支置顶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is_normal_user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(user)) { ... } 	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80%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概率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else if (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is_guest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(user)) { ... }  		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15%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概率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else { ... }                      		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5%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概率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2405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53FEF-0E3C-413E-9D5F-9EB4CA51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分支排布优化（二）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BECA59-BF04-474D-B4C8-C292F122C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rgbClr val="0070C0"/>
                </a:solidFill>
              </a:rPr>
              <a:t>先过滤“少数派”</a:t>
            </a:r>
            <a:r>
              <a:rPr lang="zh-CN" altLang="en-US" sz="2000" dirty="0"/>
              <a:t>：当逻辑中包含异常处理或边界检查，使用卫语句 </a:t>
            </a:r>
            <a:r>
              <a:rPr lang="en-US" altLang="zh-CN" sz="2000" dirty="0"/>
              <a:t>(Guard Clauses) </a:t>
            </a:r>
            <a:r>
              <a:rPr lang="zh-CN" altLang="en-US" sz="2000" dirty="0"/>
              <a:t>提前退出，而不是将核心逻辑嵌套在庞大的 </a:t>
            </a:r>
            <a:r>
              <a:rPr lang="en-US" altLang="zh-CN" sz="2000" dirty="0">
                <a:solidFill>
                  <a:srgbClr val="0070C0"/>
                </a:solidFill>
              </a:rPr>
              <a:t>if</a:t>
            </a:r>
            <a:r>
              <a:rPr lang="en-US" altLang="zh-CN" sz="2000" dirty="0"/>
              <a:t> </a:t>
            </a:r>
            <a:r>
              <a:rPr lang="zh-CN" altLang="en-US" sz="2000" dirty="0"/>
              <a:t>块中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A9F68DC0-F942-4489-BDB2-494005C35DFE}"/>
              </a:ext>
            </a:extLst>
          </p:cNvPr>
          <p:cNvSpPr/>
          <p:nvPr/>
        </p:nvSpPr>
        <p:spPr bwMode="auto">
          <a:xfrm>
            <a:off x="643182" y="2428547"/>
            <a:ext cx="7857636" cy="4279984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不推荐：深层嵌套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void process(data)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if (data != NULL)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if (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is_ready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(data))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  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核心逻辑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...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推荐：</a:t>
            </a:r>
            <a:r>
              <a:rPr lang="zh-CN" altLang="en-US" kern="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卫语句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，快速失败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void process(data)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if (data == NULL) return;   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异常情况提前退出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(!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is_ready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(data)) return;   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异常情况提前退出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核心逻辑保持在函数主层级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5796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50AFC-B657-483A-B5A2-1381C4A7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分支排布优化（三）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92C4F-4AC3-48FC-A8DC-2124B44B7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2"/>
            <a:ext cx="8540750" cy="4691608"/>
          </a:xfrm>
        </p:spPr>
        <p:txBody>
          <a:bodyPr/>
          <a:lstStyle/>
          <a:p>
            <a:r>
              <a:rPr lang="zh-CN" altLang="en-US" sz="2000" dirty="0"/>
              <a:t>逻辑短路的布局：</a:t>
            </a:r>
            <a:endParaRPr lang="en-US" altLang="zh-CN" sz="2000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&amp;&amp;</a:t>
            </a:r>
            <a:r>
              <a:rPr lang="en-US" altLang="zh-CN" sz="1800" dirty="0"/>
              <a:t> (</a:t>
            </a:r>
            <a:r>
              <a:rPr lang="zh-CN" altLang="en-US" sz="1800" dirty="0"/>
              <a:t>与</a:t>
            </a:r>
            <a:r>
              <a:rPr lang="en-US" altLang="zh-CN" sz="1800" dirty="0"/>
              <a:t>)</a:t>
            </a:r>
            <a:r>
              <a:rPr lang="zh-CN" altLang="en-US" sz="1800" dirty="0"/>
              <a:t> ：将</a:t>
            </a:r>
            <a:r>
              <a:rPr lang="zh-CN" altLang="en-US" sz="1800" dirty="0">
                <a:solidFill>
                  <a:srgbClr val="0070C0"/>
                </a:solidFill>
              </a:rPr>
              <a:t>最可能为假</a:t>
            </a:r>
            <a:r>
              <a:rPr lang="zh-CN" altLang="en-US" sz="1800" dirty="0"/>
              <a:t>或</a:t>
            </a:r>
            <a:r>
              <a:rPr lang="zh-CN" altLang="en-US" sz="1800" dirty="0">
                <a:solidFill>
                  <a:srgbClr val="0070C0"/>
                </a:solidFill>
              </a:rPr>
              <a:t>计算开销最小</a:t>
            </a:r>
            <a:r>
              <a:rPr lang="zh-CN" altLang="en-US" sz="1800" dirty="0"/>
              <a:t>的表达式放在左侧</a:t>
            </a:r>
            <a:endParaRPr lang="en-US" altLang="zh-CN" sz="1800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  ||   </a:t>
            </a:r>
            <a:r>
              <a:rPr lang="en-US" altLang="zh-CN" sz="1800" dirty="0"/>
              <a:t>(</a:t>
            </a:r>
            <a:r>
              <a:rPr lang="zh-CN" altLang="en-US" sz="1800" dirty="0"/>
              <a:t>或</a:t>
            </a:r>
            <a:r>
              <a:rPr lang="en-US" altLang="zh-CN" sz="1800" dirty="0"/>
              <a:t>)</a:t>
            </a:r>
            <a:r>
              <a:rPr lang="zh-CN" altLang="en-US" sz="1800" dirty="0"/>
              <a:t> ：将</a:t>
            </a:r>
            <a:r>
              <a:rPr lang="zh-CN" altLang="en-US" sz="1800" dirty="0">
                <a:solidFill>
                  <a:srgbClr val="0070C0"/>
                </a:solidFill>
              </a:rPr>
              <a:t>最可能为真</a:t>
            </a:r>
            <a:r>
              <a:rPr lang="zh-CN" altLang="en-US" sz="1800" dirty="0"/>
              <a:t>或</a:t>
            </a:r>
            <a:r>
              <a:rPr lang="zh-CN" altLang="en-US" sz="1800" dirty="0">
                <a:solidFill>
                  <a:srgbClr val="0070C0"/>
                </a:solidFill>
              </a:rPr>
              <a:t>计算开销最小</a:t>
            </a:r>
            <a:r>
              <a:rPr lang="zh-CN" altLang="en-US" sz="1800" dirty="0"/>
              <a:t>的表达式放在左侧</a:t>
            </a:r>
            <a:endParaRPr lang="en-US" altLang="zh-CN" sz="1800" dirty="0"/>
          </a:p>
          <a:p>
            <a:r>
              <a:rPr lang="en-US" altLang="zh-CN" sz="2000" dirty="0">
                <a:solidFill>
                  <a:srgbClr val="0070C0"/>
                </a:solidFill>
              </a:rPr>
              <a:t>switch-case</a:t>
            </a:r>
            <a:r>
              <a:rPr lang="en-US" altLang="zh-CN" sz="2000" dirty="0"/>
              <a:t> </a:t>
            </a:r>
            <a:r>
              <a:rPr lang="zh-CN" altLang="en-US" sz="2000" dirty="0"/>
              <a:t>的排布：</a:t>
            </a:r>
            <a:endParaRPr lang="en-US" altLang="zh-CN" sz="2000" dirty="0"/>
          </a:p>
          <a:p>
            <a:pPr lvl="1"/>
            <a:r>
              <a:rPr lang="zh-CN" altLang="en-US" sz="1800" dirty="0">
                <a:solidFill>
                  <a:srgbClr val="0070C0"/>
                </a:solidFill>
              </a:rPr>
              <a:t>紧凑数值</a:t>
            </a:r>
            <a:r>
              <a:rPr lang="zh-CN" altLang="en-US" sz="1800" dirty="0"/>
              <a:t>：尽量让 </a:t>
            </a:r>
            <a:r>
              <a:rPr lang="en-US" altLang="zh-CN" sz="1800" dirty="0">
                <a:solidFill>
                  <a:srgbClr val="0070C0"/>
                </a:solidFill>
              </a:rPr>
              <a:t>case</a:t>
            </a:r>
            <a:r>
              <a:rPr lang="en-US" altLang="zh-CN" sz="1800" dirty="0"/>
              <a:t> </a:t>
            </a:r>
            <a:r>
              <a:rPr lang="zh-CN" altLang="en-US" sz="1800" dirty="0"/>
              <a:t>的值连续（如 </a:t>
            </a:r>
            <a:r>
              <a:rPr lang="en-US" altLang="zh-CN" sz="1800" dirty="0"/>
              <a:t>1, 2, 3</a:t>
            </a:r>
            <a:r>
              <a:rPr lang="zh-CN" altLang="en-US" sz="1800" dirty="0"/>
              <a:t>），编译器会生成</a:t>
            </a:r>
            <a:r>
              <a:rPr lang="zh-CN" altLang="en-US" sz="1800" dirty="0">
                <a:solidFill>
                  <a:srgbClr val="0070C0"/>
                </a:solidFill>
              </a:rPr>
              <a:t>跳转表 </a:t>
            </a:r>
            <a:r>
              <a:rPr lang="en-US" altLang="zh-CN" sz="1800" dirty="0">
                <a:solidFill>
                  <a:srgbClr val="0070C0"/>
                </a:solidFill>
              </a:rPr>
              <a:t>(Jump Table)</a:t>
            </a:r>
            <a:r>
              <a:rPr lang="zh-CN" altLang="en-US" sz="1800" dirty="0"/>
              <a:t>，查找效率极高 </a:t>
            </a:r>
            <a:r>
              <a:rPr lang="en-US" altLang="zh-CN" sz="1800" dirty="0"/>
              <a:t>O(1)</a:t>
            </a:r>
            <a:r>
              <a:rPr lang="zh-CN" altLang="en-US" sz="1800" dirty="0"/>
              <a:t>，与分支排布顺序无关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0070C0"/>
                </a:solidFill>
              </a:rPr>
              <a:t>离散数值</a:t>
            </a:r>
            <a:r>
              <a:rPr lang="zh-CN" altLang="en-US" sz="1800" dirty="0"/>
              <a:t>：如果值很分散（如 </a:t>
            </a:r>
            <a:r>
              <a:rPr lang="en-US" altLang="zh-CN" sz="1800" dirty="0"/>
              <a:t>1, 100, 5000</a:t>
            </a:r>
            <a:r>
              <a:rPr lang="zh-CN" altLang="en-US" sz="1800" dirty="0"/>
              <a:t>），编译器不会生成跳转表，而会将其转为类似</a:t>
            </a:r>
            <a:r>
              <a:rPr lang="zh-CN" altLang="en-US" sz="1800" dirty="0">
                <a:solidFill>
                  <a:srgbClr val="0070C0"/>
                </a:solidFill>
              </a:rPr>
              <a:t>二分查找树</a:t>
            </a:r>
            <a:r>
              <a:rPr lang="zh-CN" altLang="en-US" sz="1800" dirty="0"/>
              <a:t>，将它们集中在数值较近的范围内会有所帮助</a:t>
            </a:r>
            <a:endParaRPr lang="en-US" altLang="zh-CN" sz="2000" dirty="0"/>
          </a:p>
          <a:p>
            <a:pPr lvl="2"/>
            <a:r>
              <a:rPr lang="zh-CN" altLang="en-US" sz="1800" dirty="0">
                <a:solidFill>
                  <a:srgbClr val="0070C0"/>
                </a:solidFill>
              </a:rPr>
              <a:t>手动分组</a:t>
            </a:r>
            <a:r>
              <a:rPr lang="zh-CN" altLang="en-US" sz="1800" dirty="0"/>
              <a:t>：如果分散数值有明显的“集群”特征，可以通过一个简单的 </a:t>
            </a:r>
            <a:r>
              <a:rPr lang="en-US" altLang="zh-CN" sz="1800" dirty="0">
                <a:solidFill>
                  <a:srgbClr val="0070C0"/>
                </a:solidFill>
              </a:rPr>
              <a:t>if</a:t>
            </a:r>
            <a:r>
              <a:rPr lang="en-US" altLang="zh-CN" sz="1800" dirty="0"/>
              <a:t> </a:t>
            </a:r>
            <a:r>
              <a:rPr lang="zh-CN" altLang="en-US" sz="1800" dirty="0"/>
              <a:t>分组判断，人为减少了每个 </a:t>
            </a:r>
            <a:r>
              <a:rPr lang="en-US" altLang="zh-CN" sz="1800" dirty="0">
                <a:solidFill>
                  <a:srgbClr val="0070C0"/>
                </a:solidFill>
              </a:rPr>
              <a:t>switch</a:t>
            </a:r>
            <a:r>
              <a:rPr lang="en-US" altLang="zh-CN" sz="1800" dirty="0"/>
              <a:t> </a:t>
            </a:r>
            <a:r>
              <a:rPr lang="zh-CN" altLang="en-US" sz="1800" dirty="0"/>
              <a:t>内部的搜索深度分组</a:t>
            </a:r>
            <a:endParaRPr lang="en-US" altLang="zh-CN" sz="1800" dirty="0"/>
          </a:p>
          <a:p>
            <a:pPr lvl="2"/>
            <a:r>
              <a:rPr lang="zh-CN" altLang="en-US" sz="1800" dirty="0">
                <a:solidFill>
                  <a:srgbClr val="0070C0"/>
                </a:solidFill>
              </a:rPr>
              <a:t>热点优先</a:t>
            </a:r>
            <a:r>
              <a:rPr lang="zh-CN" altLang="en-US" sz="1800" dirty="0"/>
              <a:t>：如果知道某个值（比如 </a:t>
            </a:r>
            <a:r>
              <a:rPr lang="en-US" altLang="zh-CN" sz="1800" dirty="0"/>
              <a:t>1</a:t>
            </a:r>
            <a:r>
              <a:rPr lang="zh-CN" altLang="en-US" sz="1800" dirty="0"/>
              <a:t>）占了大量的调用频率，那么把它留在 </a:t>
            </a:r>
            <a:r>
              <a:rPr lang="en-US" altLang="zh-CN" sz="1800" dirty="0">
                <a:solidFill>
                  <a:srgbClr val="0070C0"/>
                </a:solidFill>
              </a:rPr>
              <a:t>switch</a:t>
            </a:r>
            <a:r>
              <a:rPr lang="en-US" altLang="zh-CN" sz="1800" dirty="0"/>
              <a:t> </a:t>
            </a:r>
            <a:r>
              <a:rPr lang="zh-CN" altLang="en-US" sz="1800" dirty="0"/>
              <a:t>树里是不划算的，可以通过一个</a:t>
            </a:r>
            <a:r>
              <a:rPr lang="zh-CN" altLang="en-US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>
                <a:solidFill>
                  <a:srgbClr val="0070C0"/>
                </a:solidFill>
              </a:rPr>
              <a:t>if </a:t>
            </a:r>
            <a:r>
              <a:rPr lang="zh-CN" altLang="en-US" sz="1800" dirty="0"/>
              <a:t>判断移出 </a:t>
            </a:r>
            <a:r>
              <a:rPr lang="en-US" altLang="zh-CN" sz="1800" dirty="0">
                <a:solidFill>
                  <a:srgbClr val="0070C0"/>
                </a:solidFill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7843709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E450F-26A4-478A-BDDC-36F581DD4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编译器分支暗示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43794-BB62-42EF-8D5B-10271A7B0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如果非常确定某个条件在大多数情况下都会发生（或不发生），可以使用 </a:t>
            </a:r>
            <a:r>
              <a:rPr lang="en-US" altLang="zh-CN" sz="2000" dirty="0"/>
              <a:t>GCC/Clang </a:t>
            </a:r>
            <a:r>
              <a:rPr lang="zh-CN" altLang="en-US" sz="2000" dirty="0"/>
              <a:t>提供的内置函数告诉编译器，帮助编译器优化汇编代码的排布，提高指令预取的成功率。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B71C98BB-F897-4869-9EB8-EDF1DA9A649B}"/>
              </a:ext>
            </a:extLst>
          </p:cNvPr>
          <p:cNvSpPr/>
          <p:nvPr/>
        </p:nvSpPr>
        <p:spPr bwMode="auto">
          <a:xfrm>
            <a:off x="643182" y="2868162"/>
            <a:ext cx="7857636" cy="2958207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__</a:t>
            </a:r>
            <a:r>
              <a:rPr lang="en-US" altLang="zh-CN" kern="0" dirty="0" err="1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builtin_expect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：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告诉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CPU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哪条路径是“高速公路”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#define LIKELY(x)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__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builtin_expect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(!!(x), 1)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#define UNLIKELY(x)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__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builtin_expect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(!!(x), 0)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UNLIKELY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ptr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== NULL))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这里的汇编代码会被编译器移出热点区域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return ERROR;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主逻辑保持指令流的连续性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8226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EF6D5-0CFA-4F66-A77E-B8E309D4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无分支编程（一）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987A9B-D98C-42D4-9544-89300C17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使用</a:t>
            </a:r>
            <a:r>
              <a:rPr lang="zh-CN" altLang="en-US" sz="2000" dirty="0">
                <a:solidFill>
                  <a:srgbClr val="0070C0"/>
                </a:solidFill>
              </a:rPr>
              <a:t>查表法 </a:t>
            </a:r>
            <a:r>
              <a:rPr lang="en-US" altLang="zh-CN" sz="2000" dirty="0">
                <a:solidFill>
                  <a:srgbClr val="0070C0"/>
                </a:solidFill>
              </a:rPr>
              <a:t>(Lookup Table) </a:t>
            </a:r>
            <a:r>
              <a:rPr lang="zh-CN" altLang="en-US" sz="2000" dirty="0"/>
              <a:t>代替分支：如果分支的作用</a:t>
            </a:r>
            <a:r>
              <a:rPr lang="zh-CN" altLang="en-US" sz="2000" dirty="0">
                <a:highlight>
                  <a:srgbClr val="FFFF00"/>
                </a:highlight>
              </a:rPr>
              <a:t>只是根据一个输入值映射到一个输出值</a:t>
            </a:r>
            <a:r>
              <a:rPr lang="zh-CN" altLang="en-US" sz="2000" dirty="0"/>
              <a:t>，那么数组查表是最高效的方案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5AAA7627-0005-49E6-BAC3-9F4836D46ED4}"/>
              </a:ext>
            </a:extLst>
          </p:cNvPr>
          <p:cNvSpPr/>
          <p:nvPr/>
        </p:nvSpPr>
        <p:spPr bwMode="auto">
          <a:xfrm>
            <a:off x="643182" y="2391508"/>
            <a:ext cx="7857636" cy="4070838"/>
          </a:xfrm>
          <a:prstGeom prst="verticalScroll">
            <a:avLst>
              <a:gd name="adj" fmla="val 1403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优化前：冗长的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switch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get_days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(int month)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switch(month)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case 1: case 3: case 5: return 31;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case 4: case 6: return 30;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...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其他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case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优化后：查表法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static const 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days_table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[] = {0, 31, 28, 31, 30, 31, 30, 31, 31, 30, 31, 30, 31};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get_days_fast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(int month)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return 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days_table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[month]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O(1)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时间复杂度，零分支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100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881BB-BA8E-43E7-956A-06FBE3B9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无分支编程（二）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28096-DE5C-48D5-A50B-C61D43B53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使用</a:t>
            </a:r>
            <a:r>
              <a:rPr lang="zh-CN" altLang="en-US" sz="2000" dirty="0">
                <a:solidFill>
                  <a:srgbClr val="0070C0"/>
                </a:solidFill>
              </a:rPr>
              <a:t>三元运算符 </a:t>
            </a:r>
            <a:r>
              <a:rPr lang="en-US" altLang="zh-CN" sz="2000" dirty="0">
                <a:solidFill>
                  <a:srgbClr val="0070C0"/>
                </a:solidFill>
              </a:rPr>
              <a:t>(a ? b : c)</a:t>
            </a:r>
            <a:r>
              <a:rPr lang="zh-CN" altLang="en-US" sz="2000" dirty="0"/>
              <a:t>：在许多现代编译器中，三元运算符 会被编译成 </a:t>
            </a:r>
            <a:r>
              <a:rPr lang="en-US" altLang="zh-CN" sz="2000" dirty="0" err="1">
                <a:solidFill>
                  <a:srgbClr val="0070C0"/>
                </a:solidFill>
              </a:rPr>
              <a:t>cmov</a:t>
            </a:r>
            <a:r>
              <a:rPr lang="zh-CN" altLang="en-US" sz="2000" dirty="0"/>
              <a:t>（条件移动）指令，不涉及分支预测和 </a:t>
            </a:r>
            <a:r>
              <a:rPr lang="en-US" altLang="zh-CN" sz="2000" dirty="0" err="1">
                <a:solidFill>
                  <a:srgbClr val="0070C0"/>
                </a:solidFill>
              </a:rPr>
              <a:t>jmp</a:t>
            </a:r>
            <a:r>
              <a:rPr lang="zh-CN" altLang="en-US" sz="2000" dirty="0"/>
              <a:t>（跳转）指令，因此在处理逻辑简单但结果随机的情况时，效率更高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利用</a:t>
            </a:r>
            <a:r>
              <a:rPr lang="zh-CN" altLang="en-US" sz="2000" dirty="0">
                <a:solidFill>
                  <a:srgbClr val="0070C0"/>
                </a:solidFill>
              </a:rPr>
              <a:t>算术运算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0070C0"/>
                </a:solidFill>
              </a:rPr>
              <a:t>位运算</a:t>
            </a:r>
            <a:r>
              <a:rPr lang="zh-CN" altLang="en-US" sz="2000" dirty="0"/>
              <a:t>或</a:t>
            </a:r>
            <a:r>
              <a:rPr lang="zh-CN" altLang="en-US" sz="2000" dirty="0">
                <a:solidFill>
                  <a:srgbClr val="0070C0"/>
                </a:solidFill>
              </a:rPr>
              <a:t>逻辑运算</a:t>
            </a:r>
            <a:r>
              <a:rPr lang="zh-CN" altLang="en-US" sz="2000" dirty="0"/>
              <a:t>来消除 </a:t>
            </a:r>
            <a:r>
              <a:rPr lang="en-US" altLang="zh-CN" sz="2000" dirty="0">
                <a:solidFill>
                  <a:srgbClr val="0070C0"/>
                </a:solidFill>
              </a:rPr>
              <a:t>if</a:t>
            </a:r>
            <a:r>
              <a:rPr lang="en-US" altLang="zh-CN" sz="2000" dirty="0"/>
              <a:t> </a:t>
            </a:r>
            <a:r>
              <a:rPr lang="zh-CN" altLang="en-US" sz="2000" dirty="0"/>
              <a:t>语句，在处理大规模随机数据时效率极高，可以避免 </a:t>
            </a:r>
            <a:r>
              <a:rPr lang="en-US" altLang="zh-CN" sz="2000" dirty="0"/>
              <a:t>CPU </a:t>
            </a:r>
            <a:r>
              <a:rPr lang="zh-CN" altLang="en-US" sz="2000" dirty="0"/>
              <a:t>分支预测失败导致的指令流水线清空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9208B936-4E61-4891-8C0F-09E99114F4B2}"/>
              </a:ext>
            </a:extLst>
          </p:cNvPr>
          <p:cNvSpPr/>
          <p:nvPr/>
        </p:nvSpPr>
        <p:spPr bwMode="auto">
          <a:xfrm>
            <a:off x="704728" y="2816868"/>
            <a:ext cx="7857636" cy="1095709"/>
          </a:xfrm>
          <a:prstGeom prst="verticalScroll">
            <a:avLst>
              <a:gd name="adj" fmla="val 7020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将数值限制在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[min, max]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区间内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(x &lt; min) x = min; else if (x &gt; max) x = max;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传统做法：使用分支语句</a:t>
            </a: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x = (x &lt; min) ? min : ((x &gt;max) ? max : x);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无分支版：使用三元运算符</a:t>
            </a:r>
          </a:p>
        </p:txBody>
      </p:sp>
      <p:sp>
        <p:nvSpPr>
          <p:cNvPr id="5" name="卷形: 垂直 4">
            <a:extLst>
              <a:ext uri="{FF2B5EF4-FFF2-40B4-BE49-F238E27FC236}">
                <a16:creationId xmlns:a16="http://schemas.microsoft.com/office/drawing/2014/main" id="{1A7ED87F-BAB5-4969-983E-0D3D7EED8DD4}"/>
              </a:ext>
            </a:extLst>
          </p:cNvPr>
          <p:cNvSpPr/>
          <p:nvPr/>
        </p:nvSpPr>
        <p:spPr bwMode="auto">
          <a:xfrm>
            <a:off x="704728" y="4924336"/>
            <a:ext cx="7857636" cy="1828156"/>
          </a:xfrm>
          <a:prstGeom prst="verticalScroll">
            <a:avLst>
              <a:gd name="adj" fmla="val 433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大规模排序算法中整数值的条件交换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(a &gt; b) { int temp = a; a = b; b = temp; }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传统做法：使用分支语句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无分支版：使用位运算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mask = -(a &gt; b);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如果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a &gt; b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mask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为全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zh-CN" altLang="en-US" kern="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  <a:cs typeface="Times New Roman" panose="02020603050405020304" pitchFamily="18" charset="0"/>
              </a:rPr>
              <a:t>二进制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）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t = (a ^ b) &amp; mask; a ^= t; b ^= t;</a:t>
            </a:r>
            <a:endParaRPr lang="zh-CN" altLang="en-US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1652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53111-A2DD-43D6-B200-BCE6C23FC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循环展开与融合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73740-6B88-4034-95EE-9ADC065C7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2"/>
            <a:ext cx="4270375" cy="4542383"/>
          </a:xfrm>
        </p:spPr>
        <p:txBody>
          <a:bodyPr/>
          <a:lstStyle/>
          <a:p>
            <a:r>
              <a:rPr lang="zh-CN" altLang="en-US" sz="2000" dirty="0"/>
              <a:t>循环展开：通过减少循环次数，增加单次循环内的操作量，从而减少循环计数和条件跳转的次数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E24FAE75-90B2-4E82-AB2F-CF8D2B205A51}"/>
              </a:ext>
            </a:extLst>
          </p:cNvPr>
          <p:cNvSpPr/>
          <p:nvPr/>
        </p:nvSpPr>
        <p:spPr bwMode="auto">
          <a:xfrm>
            <a:off x="472403" y="2840558"/>
            <a:ext cx="3928818" cy="3478425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展开前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i = 0; i &lt; 1000; i++)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sum += data[i];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nn-NO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展开后：减少了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75%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的循环开销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i = 0; i &lt; 1000; i += 4)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sum += data[i];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sum += data[i+1];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sum += data[i+2];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sum += data[i+3];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lang="zh-CN" altLang="en-US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A5825A7-F0C3-4751-B075-4F2FE633D898}"/>
              </a:ext>
            </a:extLst>
          </p:cNvPr>
          <p:cNvSpPr txBox="1">
            <a:spLocks/>
          </p:cNvSpPr>
          <p:nvPr/>
        </p:nvSpPr>
        <p:spPr bwMode="auto">
          <a:xfrm>
            <a:off x="4559482" y="1556791"/>
            <a:ext cx="4270375" cy="4542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24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4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2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循环融合：如果两个循环遍历相同的范围，合并它们可以减少循环控制开销，并提高数据重用率</a:t>
            </a:r>
          </a:p>
        </p:txBody>
      </p:sp>
      <p:sp>
        <p:nvSpPr>
          <p:cNvPr id="7" name="卷形: 垂直 6">
            <a:extLst>
              <a:ext uri="{FF2B5EF4-FFF2-40B4-BE49-F238E27FC236}">
                <a16:creationId xmlns:a16="http://schemas.microsoft.com/office/drawing/2014/main" id="{4DD0818B-7B49-436F-B4C1-4BFF7992BE5B}"/>
              </a:ext>
            </a:extLst>
          </p:cNvPr>
          <p:cNvSpPr/>
          <p:nvPr/>
        </p:nvSpPr>
        <p:spPr bwMode="auto">
          <a:xfrm>
            <a:off x="4730261" y="2840558"/>
            <a:ext cx="3928818" cy="3478425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融合前：遍历两次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i=0; i&lt;n; i++)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a[i] = b[i] + 1;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i=0; i&lt;n; i++)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c[i] = a[i] * 2;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nn-NO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融合后：遍历一次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i=0; i&lt;n; i++)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a[i] = b[i] + 1;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c[i] = a[i] * 2;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lang="zh-CN" altLang="en-US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210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8CF07-39C6-4215-9473-87356FF4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循环外提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F4BFBB-8223-4992-AA50-0F110A8F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循环外提：将循环中不随循环变量变化的代码（常量计算、重复的指针寻址、函数调用等）移到循环外面，减少冗余计算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DFF5FBA8-7C8F-4650-9D37-B9D84A02B40B}"/>
              </a:ext>
            </a:extLst>
          </p:cNvPr>
          <p:cNvSpPr/>
          <p:nvPr/>
        </p:nvSpPr>
        <p:spPr bwMode="auto">
          <a:xfrm>
            <a:off x="606670" y="2453568"/>
            <a:ext cx="3763108" cy="2434826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外提前：每次循环都在重复计算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i = 0; i &lt; n; i++)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data[i] = i * 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(a + b) / scale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nn-NO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外提后：提炼出常量因子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double factor = (a + b) / scale; </a:t>
            </a:r>
            <a:endParaRPr lang="zh-CN" altLang="en-US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i = 0; i &lt; n; i++)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data[i] = i * 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factor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卷形: 垂直 4">
            <a:extLst>
              <a:ext uri="{FF2B5EF4-FFF2-40B4-BE49-F238E27FC236}">
                <a16:creationId xmlns:a16="http://schemas.microsoft.com/office/drawing/2014/main" id="{8F2CD9B0-5B84-4A0A-B9FF-E1FBAD715A43}"/>
              </a:ext>
            </a:extLst>
          </p:cNvPr>
          <p:cNvSpPr/>
          <p:nvPr/>
        </p:nvSpPr>
        <p:spPr bwMode="auto">
          <a:xfrm>
            <a:off x="4724522" y="2453568"/>
            <a:ext cx="3965331" cy="2434826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外提前：每次循环都要写入内存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i = 0; i &lt; n; i++) 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*res += arr[i]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</a:t>
            </a:r>
            <a:r>
              <a:rPr lang="zh-CN" altLang="en-US" sz="16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（</a:t>
            </a:r>
            <a:r>
              <a:rPr lang="zh-CN" altLang="en-US" sz="1600" kern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读指针访问内存</a:t>
            </a:r>
            <a:r>
              <a:rPr lang="zh-CN" altLang="en-US" sz="16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）</a:t>
            </a: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外提后：只写一次内存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temp = 0; </a:t>
            </a:r>
            <a:r>
              <a:rPr lang="nn-NO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使用</a:t>
            </a:r>
            <a:r>
              <a:rPr lang="zh-CN" altLang="en-US" kern="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  <a:cs typeface="Times New Roman" panose="02020603050405020304" pitchFamily="18" charset="0"/>
              </a:rPr>
              <a:t>寄存器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暂存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i = 0; i &lt; n; i++) temp += arr[i];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*res = temp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</a:t>
            </a:r>
            <a:r>
              <a:rPr lang="nn-NO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最后一次性写回内存</a:t>
            </a:r>
          </a:p>
        </p:txBody>
      </p:sp>
      <p:sp>
        <p:nvSpPr>
          <p:cNvPr id="6" name="卷形: 垂直 5">
            <a:extLst>
              <a:ext uri="{FF2B5EF4-FFF2-40B4-BE49-F238E27FC236}">
                <a16:creationId xmlns:a16="http://schemas.microsoft.com/office/drawing/2014/main" id="{202CF7B5-3FA0-4CB4-B90C-782EA39002D5}"/>
              </a:ext>
            </a:extLst>
          </p:cNvPr>
          <p:cNvSpPr/>
          <p:nvPr/>
        </p:nvSpPr>
        <p:spPr bwMode="auto">
          <a:xfrm>
            <a:off x="606670" y="5176426"/>
            <a:ext cx="8083183" cy="1528075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my_strchr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(char * s, char c) {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思考：该实现有什么问题？该如何优化？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strlen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(s)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- 1;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++)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if (s[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 == c) return 1;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看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s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中是否包含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c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return 0;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（最前面调用一次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strlen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）</a:t>
            </a: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4302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26B5D-0AA1-4FED-ADEF-2DE2E2F29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循环交换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08B64-B8B9-4226-98B8-087270690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循环交换：在嵌套循环中，改变内外循环的顺序，最忙的循环放最里面，并确保内存访问是连续的，提高缓存命中率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B590EA33-3B0B-4818-90A4-D91A02AA41C9}"/>
              </a:ext>
            </a:extLst>
          </p:cNvPr>
          <p:cNvSpPr/>
          <p:nvPr/>
        </p:nvSpPr>
        <p:spPr bwMode="auto">
          <a:xfrm>
            <a:off x="650631" y="2592374"/>
            <a:ext cx="8009791" cy="3794833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交换前：内存跳跃极大，</a:t>
            </a:r>
            <a:r>
              <a:rPr lang="nn-NO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Cache Missing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严重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column = 0; 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column &lt; 1000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column 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for 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row = 0; 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row &lt; 5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row++)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sum += table[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row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][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column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]; 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nn-NO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交换后：连续访问内存，速度提升可达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10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倍以上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row = 0; 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row &lt; 5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row++)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for 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column = 0; 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column &lt; 1000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column 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	sum += table[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row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][</a:t>
            </a:r>
            <a:r>
              <a:rPr lang="nn-NO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column</a:t>
            </a: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];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	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nn-NO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43605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C8DA2-8458-4B92-B97B-BE6358E1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终点判断优化（一）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BA3E6-BA81-4E81-8C41-5908A260F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将循环判断条件优化为</a:t>
            </a:r>
            <a:r>
              <a:rPr lang="zh-CN" altLang="en-US" sz="2000" dirty="0">
                <a:solidFill>
                  <a:srgbClr val="0070C0"/>
                </a:solidFill>
              </a:rPr>
              <a:t>与 </a:t>
            </a:r>
            <a:r>
              <a:rPr lang="en-US" altLang="zh-CN" sz="2000" dirty="0">
                <a:solidFill>
                  <a:srgbClr val="0070C0"/>
                </a:solidFill>
              </a:rPr>
              <a:t>0 </a:t>
            </a:r>
            <a:r>
              <a:rPr lang="zh-CN" altLang="en-US" sz="2000" dirty="0">
                <a:solidFill>
                  <a:srgbClr val="0070C0"/>
                </a:solidFill>
              </a:rPr>
              <a:t>比较</a:t>
            </a:r>
            <a:r>
              <a:rPr lang="zh-CN" altLang="en-US" sz="2000" dirty="0"/>
              <a:t>，大多数</a:t>
            </a:r>
            <a:r>
              <a:rPr lang="en-US" altLang="zh-CN" sz="2000" dirty="0"/>
              <a:t>CPU</a:t>
            </a:r>
            <a:r>
              <a:rPr lang="zh-CN" altLang="en-US" sz="2000" dirty="0"/>
              <a:t>都有</a:t>
            </a:r>
            <a:r>
              <a:rPr lang="en-US" altLang="zh-CN" sz="2000" dirty="0"/>
              <a:t> </a:t>
            </a:r>
            <a:r>
              <a:rPr lang="en-US" altLang="zh-CN" sz="2000" dirty="0" err="1"/>
              <a:t>jz</a:t>
            </a:r>
            <a:r>
              <a:rPr lang="en-US" altLang="zh-CN" sz="2000" dirty="0"/>
              <a:t> </a:t>
            </a:r>
            <a:r>
              <a:rPr lang="zh-CN" altLang="en-US" sz="2000" dirty="0"/>
              <a:t>指令来</a:t>
            </a:r>
            <a:r>
              <a:rPr lang="zh-CN" altLang="en-US" sz="2000" dirty="0">
                <a:highlight>
                  <a:srgbClr val="FFFF00"/>
                </a:highlight>
              </a:rPr>
              <a:t>检查计算结果是否为 </a:t>
            </a:r>
            <a:r>
              <a:rPr lang="en-US" altLang="zh-CN" sz="2000" dirty="0">
                <a:highlight>
                  <a:srgbClr val="FFFF00"/>
                </a:highlight>
              </a:rPr>
              <a:t>0</a:t>
            </a:r>
            <a:r>
              <a:rPr lang="zh-CN" altLang="en-US" sz="2000" dirty="0"/>
              <a:t>，比两个非零变量的比较（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n</a:t>
            </a:r>
            <a:r>
              <a:rPr lang="zh-CN" altLang="en-US" sz="2000" dirty="0"/>
              <a:t>）少一条 </a:t>
            </a:r>
            <a:r>
              <a:rPr lang="en-US" altLang="zh-CN" sz="2000" dirty="0" err="1"/>
              <a:t>cmp</a:t>
            </a:r>
            <a:r>
              <a:rPr lang="en-US" altLang="zh-CN" sz="2000" dirty="0"/>
              <a:t> </a:t>
            </a:r>
            <a:r>
              <a:rPr lang="zh-CN" altLang="en-US" sz="2000" dirty="0"/>
              <a:t>指令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AB4B9588-AA25-4D56-B7CC-B12640109BDC}"/>
              </a:ext>
            </a:extLst>
          </p:cNvPr>
          <p:cNvSpPr/>
          <p:nvPr/>
        </p:nvSpPr>
        <p:spPr bwMode="auto">
          <a:xfrm>
            <a:off x="571500" y="2611276"/>
            <a:ext cx="8001000" cy="2689932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传统做法：需要执行 </a:t>
            </a:r>
            <a:r>
              <a:rPr lang="en-US" altLang="zh-CN" kern="0" dirty="0" err="1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 &lt; n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的比较操作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++) {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process(data[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]);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优化做法：如果顺序不重要，递减到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0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n; 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-- &gt; 0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) {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process(data[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]);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lang="nn-NO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2980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EF512-A0D7-4700-9751-9180178F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终点判断优化（二）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D1F0C-7173-4470-A694-91A756DD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DC59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哨兵位技术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：在数组搜索等逻辑中，通过在数组末尾放置一个“哨兵”，将“越界检查”和“值检查”合并为一个检查，减少了大量的分支判断</a:t>
            </a:r>
          </a:p>
          <a:p>
            <a:endParaRPr lang="zh-CN" altLang="en-US" dirty="0"/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71233AB2-7922-4421-89E4-ABC24AA8E3F1}"/>
              </a:ext>
            </a:extLst>
          </p:cNvPr>
          <p:cNvSpPr/>
          <p:nvPr/>
        </p:nvSpPr>
        <p:spPr bwMode="auto">
          <a:xfrm>
            <a:off x="571500" y="2514561"/>
            <a:ext cx="8001000" cy="4070877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传统做法：当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n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非常大时，每次都要判断 </a:t>
            </a:r>
            <a:r>
              <a:rPr lang="en-US" altLang="zh-CN" kern="0" dirty="0" err="1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 &lt; n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和 是否找到目标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find(int *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arr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, int n, int target)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++)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if (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arr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 == target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 return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return -1;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优化做法：哨兵位（假设数组空间足够）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find_optimized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(int *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arr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, int n, int target)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int last =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arr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[n-1];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arr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[n-1] = target;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设置哨兵 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 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//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把结束判断和目标判断放在一起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arr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 != target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++);  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循环内只需一次判断</a:t>
            </a:r>
            <a:endParaRPr lang="en-US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arr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[n-1] = last;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恢复数据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n - 1 || last == target) return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else return -1;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lang="nn-NO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2043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9BBF-0EFD-4D42-B105-7603E9C3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运算指令级优化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E7AED5-C661-4C80-AEC4-02CF5E9DF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不同的算术运算对 </a:t>
            </a:r>
            <a:r>
              <a:rPr lang="en-US" altLang="zh-CN" sz="2000" dirty="0"/>
              <a:t>CPU </a:t>
            </a:r>
            <a:r>
              <a:rPr lang="zh-CN" altLang="en-US" sz="2000" dirty="0"/>
              <a:t>产生的开销差异极大，通常情况下，加法、减法、位运算只需要 </a:t>
            </a:r>
            <a:r>
              <a:rPr lang="en-US" altLang="zh-CN" sz="2000" dirty="0"/>
              <a:t>1 </a:t>
            </a:r>
            <a:r>
              <a:rPr lang="zh-CN" altLang="en-US" sz="2000" dirty="0"/>
              <a:t>个 </a:t>
            </a:r>
            <a:r>
              <a:rPr lang="en-US" altLang="zh-CN" sz="2000" dirty="0"/>
              <a:t>CPU </a:t>
            </a:r>
            <a:r>
              <a:rPr lang="zh-CN" altLang="en-US" sz="2000" dirty="0"/>
              <a:t>时钟周期，而乘法可能需要 </a:t>
            </a:r>
            <a:r>
              <a:rPr lang="en-US" altLang="zh-CN" sz="2000" dirty="0"/>
              <a:t>3-10 </a:t>
            </a:r>
            <a:r>
              <a:rPr lang="zh-CN" altLang="en-US" sz="2000" dirty="0"/>
              <a:t>个周期，除法和求余则可能需要 </a:t>
            </a:r>
            <a:r>
              <a:rPr lang="en-US" altLang="zh-CN" sz="2000" dirty="0"/>
              <a:t>20-80 </a:t>
            </a:r>
            <a:r>
              <a:rPr lang="zh-CN" altLang="en-US" sz="2000" dirty="0"/>
              <a:t>个周期</a:t>
            </a:r>
            <a:endParaRPr lang="en-US" altLang="zh-CN" sz="2000" dirty="0"/>
          </a:p>
          <a:p>
            <a:r>
              <a:rPr lang="zh-CN" altLang="en-US" sz="2000" dirty="0"/>
              <a:t>指令级优化的核心思想是：用低开销的指令组合替代高开销的单条指令</a:t>
            </a:r>
            <a:endParaRPr lang="en-US" altLang="zh-CN" sz="2000" dirty="0"/>
          </a:p>
          <a:p>
            <a:pPr lvl="1"/>
            <a:r>
              <a:rPr lang="zh-CN" altLang="en-US" sz="1800" dirty="0"/>
              <a:t>极低开销运算（通常</a:t>
            </a:r>
            <a:r>
              <a:rPr lang="en-US" altLang="zh-CN" sz="1800" dirty="0"/>
              <a:t>1</a:t>
            </a:r>
            <a:r>
              <a:rPr lang="zh-CN" altLang="en-US" sz="1800" dirty="0"/>
              <a:t>个机器周期或更少）：位运算、赋值（</a:t>
            </a:r>
            <a:r>
              <a:rPr lang="en-US" altLang="zh-CN" sz="1800" dirty="0">
                <a:solidFill>
                  <a:srgbClr val="0070C0"/>
                </a:solidFill>
              </a:rPr>
              <a:t>=</a:t>
            </a:r>
            <a:r>
              <a:rPr lang="zh-CN" altLang="en-US" sz="1800" dirty="0"/>
              <a:t>）、加减法</a:t>
            </a:r>
            <a:endParaRPr lang="en-US" altLang="zh-CN" sz="1800" dirty="0"/>
          </a:p>
          <a:p>
            <a:pPr lvl="1"/>
            <a:r>
              <a:rPr lang="zh-CN" altLang="en-US" sz="1800" dirty="0"/>
              <a:t>低开销运算（</a:t>
            </a:r>
            <a:r>
              <a:rPr lang="en-US" altLang="zh-CN" sz="1800" dirty="0"/>
              <a:t>1-</a:t>
            </a:r>
            <a:r>
              <a:rPr lang="zh-CN" altLang="en-US" sz="1800" dirty="0"/>
              <a:t>数个机器周期）：乘法（</a:t>
            </a:r>
            <a:r>
              <a:rPr lang="en-US" altLang="zh-CN" sz="1800" dirty="0">
                <a:solidFill>
                  <a:srgbClr val="0070C0"/>
                </a:solidFill>
              </a:rPr>
              <a:t>*</a:t>
            </a:r>
            <a:r>
              <a:rPr lang="zh-CN" altLang="en-US" sz="1800" dirty="0"/>
              <a:t>）、逻辑运算（</a:t>
            </a:r>
            <a:r>
              <a:rPr lang="en-US" altLang="zh-CN" sz="1800" dirty="0">
                <a:solidFill>
                  <a:srgbClr val="0070C0"/>
                </a:solidFill>
              </a:rPr>
              <a:t>&amp;&amp;</a:t>
            </a:r>
            <a:r>
              <a:rPr lang="zh-CN" altLang="en-US" sz="1800" dirty="0">
                <a:solidFill>
                  <a:srgbClr val="0070C0"/>
                </a:solidFill>
              </a:rPr>
              <a:t>、</a:t>
            </a:r>
            <a:r>
              <a:rPr lang="en-US" altLang="zh-CN" sz="1800" dirty="0">
                <a:solidFill>
                  <a:srgbClr val="0070C0"/>
                </a:solidFill>
              </a:rPr>
              <a:t>||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/>
            <a:r>
              <a:rPr lang="zh-CN" altLang="en-US" sz="1800" dirty="0"/>
              <a:t>中开销运算（数十个机器周期）：除法与取模（</a:t>
            </a:r>
            <a:r>
              <a:rPr lang="en-US" altLang="zh-CN" sz="1800" dirty="0">
                <a:solidFill>
                  <a:srgbClr val="0070C0"/>
                </a:solidFill>
              </a:rPr>
              <a:t>/, %</a:t>
            </a:r>
            <a:r>
              <a:rPr lang="zh-CN" altLang="en-US" sz="1800" dirty="0"/>
              <a:t>）、分支判断（</a:t>
            </a:r>
            <a:r>
              <a:rPr lang="en-US" altLang="zh-CN" sz="1800" dirty="0">
                <a:solidFill>
                  <a:srgbClr val="0070C0"/>
                </a:solidFill>
              </a:rPr>
              <a:t>if-else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/>
            <a:r>
              <a:rPr lang="zh-CN" altLang="en-US" sz="1800" dirty="0"/>
              <a:t>高开销运算（函数调用及内存访问开销）：</a:t>
            </a:r>
            <a:r>
              <a:rPr lang="en-US" altLang="zh-CN" sz="1800" dirty="0">
                <a:solidFill>
                  <a:srgbClr val="0070C0"/>
                </a:solidFill>
              </a:rPr>
              <a:t>sin()</a:t>
            </a:r>
            <a:r>
              <a:rPr lang="zh-CN" altLang="en-US" sz="1800" dirty="0">
                <a:solidFill>
                  <a:srgbClr val="0070C0"/>
                </a:solidFill>
              </a:rPr>
              <a:t>、</a:t>
            </a:r>
            <a:r>
              <a:rPr lang="en-US" altLang="zh-CN" sz="1800" dirty="0">
                <a:solidFill>
                  <a:srgbClr val="0070C0"/>
                </a:solidFill>
              </a:rPr>
              <a:t>cos()</a:t>
            </a:r>
            <a:r>
              <a:rPr lang="zh-CN" altLang="en-US" sz="1800" dirty="0">
                <a:solidFill>
                  <a:srgbClr val="0070C0"/>
                </a:solidFill>
              </a:rPr>
              <a:t>、</a:t>
            </a:r>
            <a:r>
              <a:rPr lang="en-US" altLang="zh-CN" sz="1800" dirty="0">
                <a:solidFill>
                  <a:srgbClr val="0070C0"/>
                </a:solidFill>
              </a:rPr>
              <a:t>log()</a:t>
            </a:r>
            <a:r>
              <a:rPr lang="zh-CN" altLang="en-US" sz="1800" dirty="0">
                <a:solidFill>
                  <a:srgbClr val="0070C0"/>
                </a:solidFill>
              </a:rPr>
              <a:t>、</a:t>
            </a:r>
            <a:r>
              <a:rPr lang="en-US" altLang="zh-CN" sz="1800" dirty="0">
                <a:solidFill>
                  <a:srgbClr val="0070C0"/>
                </a:solidFill>
              </a:rPr>
              <a:t>pow()</a:t>
            </a:r>
          </a:p>
          <a:p>
            <a:pPr lvl="1"/>
            <a:r>
              <a:rPr lang="zh-CN" altLang="en-US" sz="1800" dirty="0"/>
              <a:t>极高开销运算（动态内存分配与文件操作）：</a:t>
            </a:r>
            <a:r>
              <a:rPr lang="en-US" altLang="zh-CN" sz="1800" dirty="0">
                <a:solidFill>
                  <a:srgbClr val="0070C0"/>
                </a:solidFill>
              </a:rPr>
              <a:t>malloc()</a:t>
            </a:r>
            <a:r>
              <a:rPr lang="zh-CN" altLang="en-US" sz="1800" dirty="0">
                <a:solidFill>
                  <a:srgbClr val="0070C0"/>
                </a:solidFill>
              </a:rPr>
              <a:t>、</a:t>
            </a:r>
            <a:r>
              <a:rPr lang="en-US" altLang="zh-CN" sz="1800" dirty="0" err="1">
                <a:solidFill>
                  <a:srgbClr val="0070C0"/>
                </a:solidFill>
              </a:rPr>
              <a:t>printf</a:t>
            </a:r>
            <a:r>
              <a:rPr lang="en-US" altLang="zh-CN" sz="1800" dirty="0">
                <a:solidFill>
                  <a:srgbClr val="0070C0"/>
                </a:solidFill>
              </a:rPr>
              <a:t>()</a:t>
            </a:r>
            <a:r>
              <a:rPr lang="zh-CN" altLang="en-US" sz="1800" dirty="0">
                <a:solidFill>
                  <a:srgbClr val="0070C0"/>
                </a:solidFill>
              </a:rPr>
              <a:t>、</a:t>
            </a:r>
            <a:r>
              <a:rPr lang="en-US" altLang="zh-CN" sz="1800" dirty="0" err="1">
                <a:solidFill>
                  <a:srgbClr val="0070C0"/>
                </a:solidFill>
              </a:rPr>
              <a:t>fread</a:t>
            </a:r>
            <a:r>
              <a:rPr lang="en-US" altLang="zh-CN" sz="1800" dirty="0">
                <a:solidFill>
                  <a:srgbClr val="0070C0"/>
                </a:solidFill>
              </a:rPr>
              <a:t>()</a:t>
            </a:r>
          </a:p>
          <a:p>
            <a:pPr marL="457200" lvl="1" indent="0">
              <a:buNone/>
            </a:pPr>
            <a:endParaRPr lang="en-US" altLang="zh-CN" sz="18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0070C0"/>
                </a:solidFill>
              </a:rPr>
              <a:t>位运算 </a:t>
            </a:r>
            <a:r>
              <a:rPr lang="en-US" altLang="zh-CN" sz="2000" dirty="0">
                <a:solidFill>
                  <a:srgbClr val="0070C0"/>
                </a:solidFill>
              </a:rPr>
              <a:t>&lt; </a:t>
            </a:r>
            <a:r>
              <a:rPr lang="zh-CN" altLang="en-US" sz="2000" dirty="0">
                <a:solidFill>
                  <a:srgbClr val="0070C0"/>
                </a:solidFill>
              </a:rPr>
              <a:t>整数加减 </a:t>
            </a:r>
            <a:r>
              <a:rPr lang="en-US" altLang="zh-CN" sz="2000" dirty="0">
                <a:solidFill>
                  <a:srgbClr val="0070C0"/>
                </a:solidFill>
              </a:rPr>
              <a:t>&lt; </a:t>
            </a:r>
            <a:r>
              <a:rPr lang="zh-CN" altLang="en-US" sz="2000" dirty="0">
                <a:solidFill>
                  <a:srgbClr val="0070C0"/>
                </a:solidFill>
              </a:rPr>
              <a:t>乘法 </a:t>
            </a:r>
            <a:r>
              <a:rPr lang="en-US" altLang="zh-CN" sz="2000" dirty="0">
                <a:solidFill>
                  <a:srgbClr val="0070C0"/>
                </a:solidFill>
              </a:rPr>
              <a:t>&lt; </a:t>
            </a:r>
            <a:r>
              <a:rPr lang="zh-CN" altLang="en-US" sz="2000" dirty="0">
                <a:solidFill>
                  <a:srgbClr val="0070C0"/>
                </a:solidFill>
              </a:rPr>
              <a:t>除法 </a:t>
            </a:r>
            <a:r>
              <a:rPr lang="en-US" altLang="zh-CN" sz="2000" dirty="0">
                <a:solidFill>
                  <a:srgbClr val="0070C0"/>
                </a:solidFill>
              </a:rPr>
              <a:t>&lt; </a:t>
            </a:r>
            <a:r>
              <a:rPr lang="zh-CN" altLang="en-US" sz="2000" dirty="0">
                <a:solidFill>
                  <a:srgbClr val="0070C0"/>
                </a:solidFill>
              </a:rPr>
              <a:t>函数调用 </a:t>
            </a:r>
            <a:r>
              <a:rPr lang="en-US" altLang="zh-CN" sz="2000" dirty="0">
                <a:solidFill>
                  <a:srgbClr val="0070C0"/>
                </a:solidFill>
              </a:rPr>
              <a:t>&lt; </a:t>
            </a:r>
            <a:r>
              <a:rPr lang="zh-CN" altLang="en-US" sz="2000" dirty="0">
                <a:solidFill>
                  <a:srgbClr val="0070C0"/>
                </a:solidFill>
              </a:rPr>
              <a:t>内存读取 </a:t>
            </a:r>
            <a:r>
              <a:rPr lang="en-US" altLang="zh-CN" sz="2000" dirty="0">
                <a:solidFill>
                  <a:srgbClr val="0070C0"/>
                </a:solidFill>
              </a:rPr>
              <a:t>&lt; </a:t>
            </a:r>
            <a:r>
              <a:rPr lang="zh-CN" altLang="en-US" sz="2000" dirty="0">
                <a:solidFill>
                  <a:srgbClr val="0070C0"/>
                </a:solidFill>
              </a:rPr>
              <a:t>系统调用</a:t>
            </a:r>
          </a:p>
        </p:txBody>
      </p:sp>
    </p:spTree>
    <p:extLst>
      <p:ext uri="{BB962C8B-B14F-4D97-AF65-F5344CB8AC3E}">
        <p14:creationId xmlns:p14="http://schemas.microsoft.com/office/powerpoint/2010/main" val="13396024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3BF95-17DE-46F9-88B9-646217FB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乘除法转位运算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54F420-FF79-4CE5-9C1D-2728A2122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65584"/>
            <a:ext cx="8540750" cy="4542383"/>
          </a:xfrm>
        </p:spPr>
        <p:txBody>
          <a:bodyPr/>
          <a:lstStyle/>
          <a:p>
            <a:r>
              <a:rPr lang="zh-CN" altLang="en-US" dirty="0"/>
              <a:t>对于 </a:t>
            </a:r>
            <a:r>
              <a:rPr lang="en-US" altLang="zh-CN" dirty="0">
                <a:solidFill>
                  <a:srgbClr val="0070C0"/>
                </a:solidFill>
              </a:rPr>
              <a:t>2</a:t>
            </a:r>
            <a:r>
              <a:rPr lang="en-US" altLang="zh-CN" baseline="30000" dirty="0">
                <a:solidFill>
                  <a:srgbClr val="0070C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的乘除法，位移运算几乎是瞬间完成的</a:t>
            </a:r>
            <a:endParaRPr lang="en-US" altLang="zh-CN" dirty="0"/>
          </a:p>
          <a:p>
            <a:pPr lvl="1"/>
            <a:r>
              <a:rPr lang="zh-CN" altLang="en-US" sz="2000" dirty="0"/>
              <a:t>乘法： </a:t>
            </a:r>
            <a:r>
              <a:rPr lang="en-US" altLang="zh-CN" sz="2000" dirty="0">
                <a:solidFill>
                  <a:srgbClr val="0070C0"/>
                </a:solidFill>
              </a:rPr>
              <a:t>x * 2</a:t>
            </a:r>
            <a:r>
              <a:rPr lang="en-US" altLang="zh-CN" sz="2000" baseline="30000" dirty="0">
                <a:solidFill>
                  <a:srgbClr val="0070C0"/>
                </a:solidFill>
              </a:rPr>
              <a:t>n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en-US" sz="2000" dirty="0"/>
              <a:t>转化为 </a:t>
            </a:r>
            <a:r>
              <a:rPr lang="en-US" altLang="zh-CN" sz="2000" dirty="0">
                <a:solidFill>
                  <a:srgbClr val="0070C0"/>
                </a:solidFill>
              </a:rPr>
              <a:t>x &lt;&lt; n</a:t>
            </a:r>
          </a:p>
          <a:p>
            <a:pPr lvl="1"/>
            <a:r>
              <a:rPr lang="zh-CN" altLang="en-US" sz="2000" dirty="0"/>
              <a:t>除法： </a:t>
            </a:r>
            <a:r>
              <a:rPr lang="en-US" altLang="zh-CN" sz="2000" dirty="0">
                <a:solidFill>
                  <a:srgbClr val="0070C0"/>
                </a:solidFill>
              </a:rPr>
              <a:t>x / 2</a:t>
            </a:r>
            <a:r>
              <a:rPr lang="en-US" altLang="zh-CN" sz="2000" baseline="30000" dirty="0">
                <a:solidFill>
                  <a:srgbClr val="0070C0"/>
                </a:solidFill>
              </a:rPr>
              <a:t>n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en-US" sz="2000" dirty="0"/>
              <a:t>转化为 </a:t>
            </a:r>
            <a:r>
              <a:rPr lang="en-US" altLang="zh-CN" sz="2000" dirty="0">
                <a:solidFill>
                  <a:srgbClr val="0070C0"/>
                </a:solidFill>
              </a:rPr>
              <a:t>x &gt;&gt; n</a:t>
            </a:r>
          </a:p>
          <a:p>
            <a:pPr lvl="1"/>
            <a:r>
              <a:rPr lang="zh-CN" altLang="en-US" sz="2000" dirty="0"/>
              <a:t>取模： </a:t>
            </a:r>
            <a:r>
              <a:rPr lang="en-US" altLang="zh-CN" sz="2000" dirty="0">
                <a:solidFill>
                  <a:srgbClr val="0070C0"/>
                </a:solidFill>
              </a:rPr>
              <a:t>x % 2</a:t>
            </a:r>
            <a:r>
              <a:rPr lang="en-US" altLang="zh-CN" sz="2000" baseline="30000" dirty="0">
                <a:solidFill>
                  <a:srgbClr val="0070C0"/>
                </a:solidFill>
              </a:rPr>
              <a:t>n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en-US" sz="2000" dirty="0"/>
              <a:t>转化为 </a:t>
            </a:r>
            <a:r>
              <a:rPr lang="en-US" altLang="zh-CN" sz="2000" dirty="0">
                <a:solidFill>
                  <a:srgbClr val="0070C0"/>
                </a:solidFill>
              </a:rPr>
              <a:t>x &amp; (2</a:t>
            </a:r>
            <a:r>
              <a:rPr lang="en-US" altLang="zh-CN" sz="2000" baseline="30000" dirty="0">
                <a:solidFill>
                  <a:srgbClr val="0070C0"/>
                </a:solidFill>
              </a:rPr>
              <a:t>n </a:t>
            </a:r>
            <a:r>
              <a:rPr lang="en-US" altLang="zh-CN" sz="2000" dirty="0">
                <a:solidFill>
                  <a:srgbClr val="0070C0"/>
                </a:solidFill>
              </a:rPr>
              <a:t>- 1)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17836EFF-EC40-4005-B0DF-D22C7BA5E779}"/>
              </a:ext>
            </a:extLst>
          </p:cNvPr>
          <p:cNvSpPr/>
          <p:nvPr/>
        </p:nvSpPr>
        <p:spPr bwMode="auto">
          <a:xfrm>
            <a:off x="1055077" y="3558468"/>
            <a:ext cx="4721469" cy="2689932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优化前：使用乘、除和取模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a =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 * 8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c =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 / 4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e =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 % 16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优化后：使用位运算中的移位和与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a =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 &lt;&lt; 3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c =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 &gt;&gt; 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e =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 &amp; 15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仅限正数</a:t>
            </a:r>
            <a:endParaRPr lang="nn-NO" altLang="zh-CN" kern="0" dirty="0">
              <a:solidFill>
                <a:srgbClr val="00B05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8654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C343D-439C-4A62-AD56-570EFBD9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除法转乘法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69B21F-5E7E-48CD-8E11-B1F15033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除法是 </a:t>
            </a:r>
            <a:r>
              <a:rPr lang="en-US" altLang="zh-CN" sz="2000" dirty="0"/>
              <a:t>CPU </a:t>
            </a:r>
            <a:r>
              <a:rPr lang="zh-CN" altLang="en-US" sz="2000" dirty="0"/>
              <a:t>运算中的“性能杀手”，需要多次除以同一个常数，可以将其转化为乘以该常数的倒数，即：</a:t>
            </a:r>
            <a:r>
              <a:rPr lang="en-US" altLang="zh-CN" sz="2000" dirty="0">
                <a:solidFill>
                  <a:srgbClr val="0070C0"/>
                </a:solidFill>
              </a:rPr>
              <a:t>x/y</a:t>
            </a:r>
            <a:r>
              <a:rPr lang="zh-CN" altLang="en-US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>
                <a:solidFill>
                  <a:srgbClr val="0070C0"/>
                </a:solidFill>
              </a:rPr>
              <a:t>=</a:t>
            </a:r>
            <a:r>
              <a:rPr lang="zh-CN" altLang="en-US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>
                <a:solidFill>
                  <a:srgbClr val="0070C0"/>
                </a:solidFill>
              </a:rPr>
              <a:t>x*(1/y)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现代编译器在处理整数常数除法时（如 </a:t>
            </a:r>
            <a:r>
              <a:rPr lang="en-US" altLang="zh-CN" sz="2000" dirty="0"/>
              <a:t>n / 3</a:t>
            </a:r>
            <a:r>
              <a:rPr lang="zh-CN" altLang="en-US" sz="2000" dirty="0"/>
              <a:t>），会自动将其转化为复杂的乘法加位移组合，不需要手动优化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66A986BB-657C-4EA4-A6F4-3348510A28DA}"/>
              </a:ext>
            </a:extLst>
          </p:cNvPr>
          <p:cNvSpPr/>
          <p:nvPr/>
        </p:nvSpPr>
        <p:spPr bwMode="auto">
          <a:xfrm>
            <a:off x="720969" y="2483016"/>
            <a:ext cx="4721469" cy="2933045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优化前：在循环中频繁除法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n;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data[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/= 1.25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优化后：预计算倒数，转为乘法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double inv = 1.0 / 1.25;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0.8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for (int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0;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&lt; n;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++) 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data[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*= inv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}</a:t>
            </a:r>
            <a:endParaRPr lang="nn-NO" altLang="zh-CN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060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294465-E896-4D86-B1F2-B322681C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代数恒等式简化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2FC5E7-AA9C-4AC9-9B4E-2B66A2D0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268760"/>
            <a:ext cx="8540750" cy="4830415"/>
          </a:xfrm>
        </p:spPr>
        <p:txBody>
          <a:bodyPr/>
          <a:lstStyle/>
          <a:p>
            <a:r>
              <a:rPr lang="zh-CN" altLang="en-US" sz="2000" dirty="0"/>
              <a:t>避开平方根： 在比较长度时，比较平方值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合并公共项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定点数运算代替浮点数</a:t>
            </a:r>
          </a:p>
        </p:txBody>
      </p:sp>
      <p:sp>
        <p:nvSpPr>
          <p:cNvPr id="4" name="卷形: 垂直 3">
            <a:extLst>
              <a:ext uri="{FF2B5EF4-FFF2-40B4-BE49-F238E27FC236}">
                <a16:creationId xmlns:a16="http://schemas.microsoft.com/office/drawing/2014/main" id="{3DC1AFAD-2DC6-43FB-ADA9-46774AABA9FD}"/>
              </a:ext>
            </a:extLst>
          </p:cNvPr>
          <p:cNvSpPr/>
          <p:nvPr/>
        </p:nvSpPr>
        <p:spPr bwMode="auto">
          <a:xfrm>
            <a:off x="716573" y="1669052"/>
            <a:ext cx="7710854" cy="1324054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优化前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sqrt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(x*x + y*y) &gt; radius) { ... }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优化后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 ((x*x + y*y) &gt; (radius 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radius)) { ... }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消除昂贵的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sqrt()</a:t>
            </a:r>
            <a:endParaRPr lang="nn-NO" altLang="zh-CN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卷形: 垂直 4">
            <a:extLst>
              <a:ext uri="{FF2B5EF4-FFF2-40B4-BE49-F238E27FC236}">
                <a16:creationId xmlns:a16="http://schemas.microsoft.com/office/drawing/2014/main" id="{5ABF83FA-C4D5-4890-A08F-14A57220A5AB}"/>
              </a:ext>
            </a:extLst>
          </p:cNvPr>
          <p:cNvSpPr/>
          <p:nvPr/>
        </p:nvSpPr>
        <p:spPr bwMode="auto">
          <a:xfrm>
            <a:off x="716573" y="3451067"/>
            <a:ext cx="7710854" cy="1324054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优化前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y = a * b * c + a * b * d;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优化后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y = (a * b) * (c + d);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减少了一次乘法</a:t>
            </a:r>
            <a:endParaRPr lang="nn-NO" altLang="zh-CN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卷形: 垂直 5">
            <a:extLst>
              <a:ext uri="{FF2B5EF4-FFF2-40B4-BE49-F238E27FC236}">
                <a16:creationId xmlns:a16="http://schemas.microsoft.com/office/drawing/2014/main" id="{34B6B5A9-12C9-4D0F-8AAD-B9D25B494E71}"/>
              </a:ext>
            </a:extLst>
          </p:cNvPr>
          <p:cNvSpPr/>
          <p:nvPr/>
        </p:nvSpPr>
        <p:spPr bwMode="auto">
          <a:xfrm>
            <a:off x="716573" y="5309075"/>
            <a:ext cx="7710854" cy="1248061"/>
          </a:xfrm>
          <a:prstGeom prst="verticalScroll">
            <a:avLst>
              <a:gd name="adj" fmla="val 2881"/>
            </a:avLst>
          </a:prstGeom>
          <a:solidFill>
            <a:sysClr val="window" lastClr="FFFFFF"/>
          </a:solidFill>
          <a:ln w="1270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处理货币，不使用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float 1.25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元，使用 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int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表示“分”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在没有浮点运算单元的设备中，</a:t>
            </a:r>
            <a:r>
              <a:rPr lang="en-US" altLang="zh-CN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float </a:t>
            </a:r>
            <a:r>
              <a:rPr lang="zh-CN" altLang="en-US" kern="0" dirty="0">
                <a:solidFill>
                  <a:srgbClr val="00B050"/>
                </a:solidFill>
                <a:latin typeface="+mn-ea"/>
                <a:cs typeface="Times New Roman" panose="02020603050405020304" pitchFamily="18" charset="0"/>
              </a:rPr>
              <a:t>运算由软件库模拟，速度极慢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price_in_cents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= 125;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 total =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price_in_cents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* quantity;</a:t>
            </a:r>
            <a:endParaRPr lang="nn-NO" altLang="zh-CN" kern="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4890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73AA6-1447-4A76-9FB8-BE472208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程序性能分析工具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52CE20-7EDB-4F3F-BB12-D00E2E870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在 开发中，</a:t>
            </a:r>
            <a:r>
              <a:rPr lang="zh-CN" altLang="en-US" sz="2000" dirty="0">
                <a:solidFill>
                  <a:srgbClr val="0070C0"/>
                </a:solidFill>
              </a:rPr>
              <a:t>“过早优化是万恶之源”</a:t>
            </a:r>
            <a:r>
              <a:rPr lang="en-US" altLang="zh-CN" sz="2000" dirty="0">
                <a:solidFill>
                  <a:srgbClr val="0070C0"/>
                </a:solidFill>
              </a:rPr>
              <a:t>-- Donald Knuth</a:t>
            </a:r>
            <a:r>
              <a:rPr lang="zh-CN" altLang="en-US" sz="2000" dirty="0"/>
              <a:t>，进行优化的前提是找到瓶颈。</a:t>
            </a:r>
            <a:r>
              <a:rPr lang="en-US" altLang="zh-CN" sz="2000" dirty="0" err="1">
                <a:solidFill>
                  <a:srgbClr val="0070C0"/>
                </a:solidFill>
              </a:rPr>
              <a:t>gprof</a:t>
            </a:r>
            <a:r>
              <a:rPr lang="en-US" altLang="zh-CN" sz="2000" dirty="0"/>
              <a:t> </a:t>
            </a:r>
            <a:r>
              <a:rPr lang="zh-CN" altLang="en-US" sz="2000" dirty="0"/>
              <a:t>和 </a:t>
            </a:r>
            <a:r>
              <a:rPr lang="en-US" altLang="zh-CN" sz="2000" dirty="0">
                <a:solidFill>
                  <a:srgbClr val="0070C0"/>
                </a:solidFill>
              </a:rPr>
              <a:t>perf</a:t>
            </a:r>
            <a:r>
              <a:rPr lang="en-US" altLang="zh-CN" sz="2000" dirty="0"/>
              <a:t> </a:t>
            </a:r>
            <a:r>
              <a:rPr lang="zh-CN" altLang="en-US" sz="2000" dirty="0"/>
              <a:t>是 </a:t>
            </a:r>
            <a:r>
              <a:rPr lang="en-US" altLang="zh-CN" sz="2000" dirty="0"/>
              <a:t>Linux </a:t>
            </a:r>
            <a:r>
              <a:rPr lang="zh-CN" altLang="en-US" sz="2000" dirty="0"/>
              <a:t>下最常用的两款性能分析利器</a:t>
            </a:r>
            <a:endParaRPr lang="en-US" altLang="zh-CN" sz="2000" dirty="0"/>
          </a:p>
          <a:p>
            <a:r>
              <a:rPr lang="zh-CN" altLang="en-US" sz="2000" dirty="0"/>
              <a:t>性能分析工具 </a:t>
            </a:r>
            <a:r>
              <a:rPr lang="en-US" altLang="zh-CN" sz="2000" dirty="0" err="1">
                <a:solidFill>
                  <a:srgbClr val="0070C0"/>
                </a:solidFill>
              </a:rPr>
              <a:t>gprof</a:t>
            </a:r>
            <a:r>
              <a:rPr lang="en-US" altLang="zh-CN" sz="2000" dirty="0"/>
              <a:t> </a:t>
            </a:r>
            <a:r>
              <a:rPr lang="zh-CN" altLang="en-US" sz="2000" dirty="0"/>
              <a:t>与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70C0"/>
                </a:solidFill>
              </a:rPr>
              <a:t>perf</a:t>
            </a:r>
            <a:r>
              <a:rPr lang="en-US" altLang="zh-CN" sz="2000" dirty="0"/>
              <a:t> </a:t>
            </a:r>
            <a:r>
              <a:rPr lang="zh-CN" altLang="en-US" sz="2000" dirty="0"/>
              <a:t>的特性对比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简单来说：</a:t>
            </a:r>
            <a:r>
              <a:rPr lang="en-US" altLang="zh-CN" sz="2000" dirty="0" err="1">
                <a:solidFill>
                  <a:srgbClr val="0070C0"/>
                </a:solidFill>
              </a:rPr>
              <a:t>gprof</a:t>
            </a:r>
            <a:r>
              <a:rPr lang="en-US" altLang="zh-CN" sz="2000" dirty="0"/>
              <a:t> </a:t>
            </a:r>
            <a:r>
              <a:rPr lang="zh-CN" altLang="en-US" sz="2000" dirty="0"/>
              <a:t>适合查看函数调用频率，</a:t>
            </a:r>
            <a:r>
              <a:rPr lang="en-US" altLang="zh-CN" sz="2000" dirty="0">
                <a:solidFill>
                  <a:srgbClr val="0070C0"/>
                </a:solidFill>
              </a:rPr>
              <a:t>perf</a:t>
            </a:r>
            <a:r>
              <a:rPr lang="en-US" altLang="zh-CN" sz="2000" dirty="0"/>
              <a:t> </a:t>
            </a:r>
            <a:r>
              <a:rPr lang="zh-CN" altLang="en-US" sz="2000" dirty="0"/>
              <a:t>能深入内核和硬件层面</a:t>
            </a:r>
            <a:endParaRPr lang="en-US" altLang="zh-CN" sz="2000" dirty="0"/>
          </a:p>
          <a:p>
            <a:endParaRPr lang="zh-CN" altLang="en-US" sz="20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9F23419-8646-4D93-8A62-1BAF90478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086396"/>
              </p:ext>
            </p:extLst>
          </p:nvPr>
        </p:nvGraphicFramePr>
        <p:xfrm>
          <a:off x="641838" y="2875084"/>
          <a:ext cx="8044962" cy="242612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63869">
                  <a:extLst>
                    <a:ext uri="{9D8B030D-6E8A-4147-A177-3AD203B41FA5}">
                      <a16:colId xmlns:a16="http://schemas.microsoft.com/office/drawing/2014/main" val="1142013430"/>
                    </a:ext>
                  </a:extLst>
                </a:gridCol>
                <a:gridCol w="2751992">
                  <a:extLst>
                    <a:ext uri="{9D8B030D-6E8A-4147-A177-3AD203B41FA5}">
                      <a16:colId xmlns:a16="http://schemas.microsoft.com/office/drawing/2014/main" val="3987850998"/>
                    </a:ext>
                  </a:extLst>
                </a:gridCol>
                <a:gridCol w="4229101">
                  <a:extLst>
                    <a:ext uri="{9D8B030D-6E8A-4147-A177-3AD203B41FA5}">
                      <a16:colId xmlns:a16="http://schemas.microsoft.com/office/drawing/2014/main" val="1525254477"/>
                    </a:ext>
                  </a:extLst>
                </a:gridCol>
              </a:tblGrid>
              <a:tr h="40435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  <a:endParaRPr lang="zh-CN" alt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gprof</a:t>
                      </a:r>
                      <a:endParaRPr 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perf</a:t>
                      </a:r>
                      <a:endParaRPr lang="en-US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420440"/>
                  </a:ext>
                </a:extLst>
              </a:tr>
              <a:tr h="40435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原理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编译时插桩（修改代码）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内核采样（不修改代码）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200196"/>
                  </a:ext>
                </a:extLst>
              </a:tr>
              <a:tr h="40435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开销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较大，可能影响运行逻辑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极小，适合生产环境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678136"/>
                  </a:ext>
                </a:extLst>
              </a:tr>
              <a:tr h="40435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仅限用户层函数调用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用户层 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内核 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 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Cache Miss 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705029"/>
                  </a:ext>
                </a:extLst>
              </a:tr>
              <a:tr h="40435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随 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gcc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携带，几乎都有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需要额外安装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linux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085584"/>
                  </a:ext>
                </a:extLst>
              </a:tr>
              <a:tr h="40435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优点</a:t>
                      </a:r>
                      <a:endParaRPr lang="zh-CN" altLang="en-US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调用次数统计非常精准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能看到 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 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周期、指令跳转等深层信息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81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0123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6FBCF-CD03-45B6-A29F-B41E0A9DF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gprof</a:t>
            </a:r>
            <a:r>
              <a:rPr lang="en-US" altLang="zh-CN" dirty="0"/>
              <a:t> </a:t>
            </a:r>
            <a:r>
              <a:rPr lang="zh-CN" altLang="en-US" dirty="0"/>
              <a:t>进行性能分析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0C7C9-1AFE-4D2B-94DD-8C2446FCC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err="1">
                <a:solidFill>
                  <a:srgbClr val="0070C0"/>
                </a:solidFill>
              </a:rPr>
              <a:t>gprof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en-US" sz="2000" dirty="0"/>
              <a:t>的原理是插桩，即在编译时往每个函数里塞入统计代码</a:t>
            </a:r>
            <a:endParaRPr lang="en-US" altLang="zh-CN" sz="2000" dirty="0"/>
          </a:p>
          <a:p>
            <a:r>
              <a:rPr lang="zh-CN" altLang="en-US" sz="2000" dirty="0"/>
              <a:t>使用步骤：</a:t>
            </a:r>
            <a:endParaRPr lang="en-US" altLang="zh-CN" sz="2000" dirty="0"/>
          </a:p>
          <a:p>
            <a:pPr lvl="1"/>
            <a:r>
              <a:rPr lang="zh-CN" altLang="en-US" sz="1800" dirty="0"/>
              <a:t>编译（必须加上 </a:t>
            </a:r>
            <a:r>
              <a:rPr lang="en-US" altLang="zh-CN" sz="1800" dirty="0">
                <a:solidFill>
                  <a:srgbClr val="0070C0"/>
                </a:solidFill>
              </a:rPr>
              <a:t>-</a:t>
            </a:r>
            <a:r>
              <a:rPr lang="en-US" altLang="zh-CN" sz="1800" dirty="0" err="1">
                <a:solidFill>
                  <a:srgbClr val="0070C0"/>
                </a:solidFill>
              </a:rPr>
              <a:t>pg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zh-CN" altLang="en-US" sz="1800" dirty="0"/>
              <a:t>参数）：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-</a:t>
            </a:r>
            <a:r>
              <a:rPr lang="en-US" altLang="zh-CN" sz="1800" dirty="0" err="1">
                <a:solidFill>
                  <a:srgbClr val="0070C0"/>
                </a:solidFill>
              </a:rPr>
              <a:t>pg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test.c</a:t>
            </a:r>
            <a:r>
              <a:rPr lang="en-US" altLang="zh-CN" sz="1800" dirty="0">
                <a:solidFill>
                  <a:srgbClr val="0070C0"/>
                </a:solidFill>
              </a:rPr>
              <a:t> -o </a:t>
            </a:r>
            <a:r>
              <a:rPr lang="en-US" altLang="zh-CN" sz="1800" dirty="0" err="1">
                <a:solidFill>
                  <a:srgbClr val="0070C0"/>
                </a:solidFill>
              </a:rPr>
              <a:t>my_gprof_app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lvl="1"/>
            <a:r>
              <a:rPr lang="zh-CN" altLang="en-US" sz="1800" dirty="0"/>
              <a:t>正常运行程序，运行结束后，目录下会生成一个 </a:t>
            </a:r>
            <a:r>
              <a:rPr lang="en-US" altLang="zh-CN" sz="1800" dirty="0" err="1">
                <a:solidFill>
                  <a:srgbClr val="0070C0"/>
                </a:solidFill>
              </a:rPr>
              <a:t>gmon.out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zh-CN" altLang="en-US" sz="1800" dirty="0"/>
              <a:t>的二进制文件</a:t>
            </a:r>
            <a:endParaRPr lang="en-US" altLang="zh-CN" sz="1800" dirty="0"/>
          </a:p>
          <a:p>
            <a:pPr lvl="1"/>
            <a:r>
              <a:rPr lang="zh-CN" altLang="en-US" sz="1800" dirty="0"/>
              <a:t>使用 </a:t>
            </a:r>
            <a:r>
              <a:rPr lang="en-US" altLang="zh-CN" sz="1800" dirty="0" err="1">
                <a:solidFill>
                  <a:srgbClr val="0070C0"/>
                </a:solidFill>
              </a:rPr>
              <a:t>gprof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zh-CN" altLang="en-US" sz="1800" dirty="0"/>
              <a:t>进行分析：</a:t>
            </a:r>
            <a:r>
              <a:rPr lang="en-US" altLang="zh-CN" sz="1800" dirty="0" err="1">
                <a:solidFill>
                  <a:srgbClr val="0070C0"/>
                </a:solidFill>
              </a:rPr>
              <a:t>gprof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my_gprof_app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gmon.out</a:t>
            </a:r>
            <a:r>
              <a:rPr lang="en-US" altLang="zh-CN" sz="1800" dirty="0">
                <a:solidFill>
                  <a:srgbClr val="0070C0"/>
                </a:solidFill>
              </a:rPr>
              <a:t> &gt; analysis.txt</a:t>
            </a:r>
          </a:p>
          <a:p>
            <a:r>
              <a:rPr lang="zh-CN" altLang="en-US" sz="2000" dirty="0"/>
              <a:t>查看结果（打开 </a:t>
            </a:r>
            <a:r>
              <a:rPr lang="en-US" altLang="zh-CN" sz="2000" dirty="0">
                <a:solidFill>
                  <a:srgbClr val="0070C0"/>
                </a:solidFill>
              </a:rPr>
              <a:t>analysis.txt </a:t>
            </a:r>
            <a:r>
              <a:rPr lang="zh-CN" altLang="en-US" sz="2000" dirty="0"/>
              <a:t>文件）：</a:t>
            </a:r>
            <a:endParaRPr lang="en-US" altLang="zh-CN" sz="2000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Flat Profile</a:t>
            </a:r>
            <a:r>
              <a:rPr lang="zh-CN" altLang="en-US" sz="1800" dirty="0"/>
              <a:t>：每个函数耗时占比（函数运行时间百分比）</a:t>
            </a:r>
            <a:endParaRPr lang="en-US" altLang="zh-CN" sz="1800" dirty="0"/>
          </a:p>
          <a:p>
            <a:pPr lvl="1"/>
            <a:r>
              <a:rPr lang="en-US" altLang="zh-CN" sz="1800" dirty="0">
                <a:solidFill>
                  <a:srgbClr val="0070C0"/>
                </a:solidFill>
              </a:rPr>
              <a:t>Call Graph</a:t>
            </a:r>
            <a:r>
              <a:rPr lang="zh-CN" altLang="en-US" sz="1800" dirty="0"/>
              <a:t>：函数调用链，报告谁调用了谁，以及调用了多少次</a:t>
            </a:r>
          </a:p>
        </p:txBody>
      </p:sp>
    </p:spTree>
    <p:extLst>
      <p:ext uri="{BB962C8B-B14F-4D97-AF65-F5344CB8AC3E}">
        <p14:creationId xmlns:p14="http://schemas.microsoft.com/office/powerpoint/2010/main" val="7584338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76D9A-A871-49AD-858F-BFB618F7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perf </a:t>
            </a:r>
            <a:r>
              <a:rPr lang="zh-CN" altLang="en-US" dirty="0"/>
              <a:t>进行性能分析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35C6E-D1F0-4EC8-84DA-903CF42A5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0070C0"/>
                </a:solidFill>
              </a:rPr>
              <a:t>perf</a:t>
            </a:r>
            <a:r>
              <a:rPr lang="en-US" altLang="zh-CN" sz="2000" dirty="0"/>
              <a:t> </a:t>
            </a:r>
            <a:r>
              <a:rPr lang="zh-CN" altLang="en-US" sz="2000" dirty="0"/>
              <a:t>是基于采样的分析工具，不修改程序代码，而是利用 </a:t>
            </a:r>
            <a:r>
              <a:rPr lang="en-US" altLang="zh-CN" sz="2000" dirty="0"/>
              <a:t>Linux </a:t>
            </a:r>
            <a:r>
              <a:rPr lang="zh-CN" altLang="en-US" sz="2000" dirty="0"/>
              <a:t>内核周期性地查看 </a:t>
            </a:r>
            <a:r>
              <a:rPr lang="en-US" altLang="zh-CN" sz="2000" dirty="0"/>
              <a:t>CPU </a:t>
            </a:r>
            <a:r>
              <a:rPr lang="zh-CN" altLang="en-US" sz="2000" dirty="0"/>
              <a:t>正在执行哪行代码</a:t>
            </a:r>
            <a:endParaRPr lang="en-US" altLang="zh-CN" sz="2000" dirty="0"/>
          </a:p>
          <a:p>
            <a:r>
              <a:rPr lang="zh-CN" altLang="en-US" sz="2000" dirty="0"/>
              <a:t>使用步骤：</a:t>
            </a:r>
            <a:endParaRPr lang="en-US" altLang="zh-CN" sz="2000" dirty="0"/>
          </a:p>
          <a:p>
            <a:pPr lvl="1"/>
            <a:r>
              <a:rPr lang="zh-CN" altLang="en-US" sz="1800" dirty="0"/>
              <a:t>编译： 建议加上 </a:t>
            </a:r>
            <a:r>
              <a:rPr lang="en-US" altLang="zh-CN" sz="1800" dirty="0">
                <a:solidFill>
                  <a:srgbClr val="0070C0"/>
                </a:solidFill>
              </a:rPr>
              <a:t>-g</a:t>
            </a:r>
            <a:r>
              <a:rPr lang="zh-CN" altLang="en-US" sz="1800" dirty="0"/>
              <a:t>（保留调试信息），方便看源码行号</a:t>
            </a:r>
            <a:endParaRPr lang="en-US" altLang="zh-CN" sz="18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-g </a:t>
            </a:r>
            <a:r>
              <a:rPr lang="en-US" altLang="zh-CN" sz="1800" dirty="0" err="1">
                <a:solidFill>
                  <a:srgbClr val="0070C0"/>
                </a:solidFill>
              </a:rPr>
              <a:t>test.c</a:t>
            </a:r>
            <a:r>
              <a:rPr lang="en-US" altLang="zh-CN" sz="1800" dirty="0">
                <a:solidFill>
                  <a:srgbClr val="0070C0"/>
                </a:solidFill>
              </a:rPr>
              <a:t> -o </a:t>
            </a:r>
            <a:r>
              <a:rPr lang="en-US" altLang="zh-CN" sz="1800" dirty="0" err="1">
                <a:solidFill>
                  <a:srgbClr val="0070C0"/>
                </a:solidFill>
              </a:rPr>
              <a:t>my_perf_app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lvl="1"/>
            <a:r>
              <a:rPr lang="zh-CN" altLang="en-US" sz="1800" dirty="0"/>
              <a:t>实时查看（类似 </a:t>
            </a:r>
            <a:r>
              <a:rPr lang="en-US" altLang="zh-CN" sz="1800" dirty="0">
                <a:solidFill>
                  <a:srgbClr val="0070C0"/>
                </a:solidFill>
              </a:rPr>
              <a:t>top</a:t>
            </a:r>
            <a:r>
              <a:rPr lang="zh-CN" altLang="en-US" sz="1800" dirty="0"/>
              <a:t>）：</a:t>
            </a:r>
            <a:r>
              <a:rPr lang="en-US" altLang="zh-CN" sz="1800" dirty="0" err="1">
                <a:solidFill>
                  <a:srgbClr val="0070C0"/>
                </a:solidFill>
              </a:rPr>
              <a:t>sudo</a:t>
            </a:r>
            <a:r>
              <a:rPr lang="en-US" altLang="zh-CN" sz="1800" dirty="0">
                <a:solidFill>
                  <a:srgbClr val="0070C0"/>
                </a:solidFill>
              </a:rPr>
              <a:t> perf top -p $(</a:t>
            </a:r>
            <a:r>
              <a:rPr lang="en-US" altLang="zh-CN" sz="1800" dirty="0" err="1">
                <a:solidFill>
                  <a:srgbClr val="0070C0"/>
                </a:solidFill>
              </a:rPr>
              <a:t>pidof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my_perf_app</a:t>
            </a:r>
            <a:r>
              <a:rPr lang="en-US" altLang="zh-CN" sz="1800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zh-CN" altLang="en-US" sz="1800" dirty="0"/>
              <a:t>记录并报告（最常用）：</a:t>
            </a:r>
            <a:endParaRPr lang="en-US" altLang="zh-CN" sz="1800" dirty="0"/>
          </a:p>
          <a:p>
            <a:pPr lvl="2"/>
            <a:r>
              <a:rPr lang="zh-CN" altLang="en-US" sz="1600" dirty="0"/>
              <a:t>录制（生成一个 </a:t>
            </a:r>
            <a:r>
              <a:rPr lang="en-US" altLang="zh-CN" sz="1600" dirty="0" err="1">
                <a:solidFill>
                  <a:srgbClr val="0070C0"/>
                </a:solidFill>
              </a:rPr>
              <a:t>perf.data</a:t>
            </a:r>
            <a:r>
              <a:rPr lang="en-US" altLang="zh-CN" sz="1600" dirty="0">
                <a:solidFill>
                  <a:srgbClr val="0070C0"/>
                </a:solidFill>
              </a:rPr>
              <a:t> </a:t>
            </a:r>
            <a:r>
              <a:rPr lang="zh-CN" altLang="en-US" sz="1600" dirty="0"/>
              <a:t>文件）：</a:t>
            </a:r>
            <a:r>
              <a:rPr lang="en-US" altLang="zh-CN" sz="1600" dirty="0" err="1">
                <a:solidFill>
                  <a:srgbClr val="0070C0"/>
                </a:solidFill>
              </a:rPr>
              <a:t>sudo</a:t>
            </a:r>
            <a:r>
              <a:rPr lang="en-US" altLang="zh-CN" sz="1600" dirty="0">
                <a:solidFill>
                  <a:srgbClr val="0070C0"/>
                </a:solidFill>
              </a:rPr>
              <a:t> perf record -g ./</a:t>
            </a:r>
            <a:r>
              <a:rPr lang="en-US" altLang="zh-CN" sz="1600" dirty="0" err="1">
                <a:solidFill>
                  <a:srgbClr val="0070C0"/>
                </a:solidFill>
              </a:rPr>
              <a:t>my_perf_app</a:t>
            </a:r>
            <a:endParaRPr lang="en-US" altLang="zh-CN" sz="1600" dirty="0">
              <a:solidFill>
                <a:srgbClr val="0070C0"/>
              </a:solidFill>
            </a:endParaRPr>
          </a:p>
          <a:p>
            <a:pPr lvl="2"/>
            <a:r>
              <a:rPr lang="zh-CN" altLang="en-US" sz="1600" dirty="0"/>
              <a:t>分析：</a:t>
            </a:r>
            <a:r>
              <a:rPr lang="en-US" altLang="zh-CN" sz="1600" dirty="0" err="1">
                <a:solidFill>
                  <a:srgbClr val="0070C0"/>
                </a:solidFill>
              </a:rPr>
              <a:t>sudo</a:t>
            </a:r>
            <a:r>
              <a:rPr lang="en-US" altLang="zh-CN" sz="1600" dirty="0">
                <a:solidFill>
                  <a:srgbClr val="0070C0"/>
                </a:solidFill>
              </a:rPr>
              <a:t> perf report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zh-CN" altLang="en-US" sz="1600" dirty="0"/>
              <a:t>    进入交互界面后，你可以选中某个函数按 </a:t>
            </a:r>
            <a:r>
              <a:rPr lang="en-US" altLang="zh-CN" sz="1600" dirty="0"/>
              <a:t>Enter</a:t>
            </a:r>
            <a:r>
              <a:rPr lang="zh-CN" altLang="en-US" sz="1600" dirty="0"/>
              <a:t>，选择 </a:t>
            </a:r>
            <a:r>
              <a:rPr lang="en-US" altLang="zh-CN" sz="1600" dirty="0"/>
              <a:t>Annotate</a:t>
            </a:r>
            <a:r>
              <a:rPr lang="zh-CN" altLang="en-US" sz="1600" dirty="0"/>
              <a:t>（注释），</a:t>
            </a:r>
            <a:endParaRPr lang="en-US" altLang="zh-CN" sz="1600" dirty="0"/>
          </a:p>
          <a:p>
            <a:pPr marL="914400" lvl="2" indent="0">
              <a:spcBef>
                <a:spcPts val="0"/>
              </a:spcBef>
              <a:buNone/>
            </a:pPr>
            <a:r>
              <a:rPr lang="en-US" altLang="zh-CN" sz="1600" dirty="0"/>
              <a:t>    perf </a:t>
            </a:r>
            <a:r>
              <a:rPr lang="zh-CN" altLang="en-US" sz="1600" dirty="0"/>
              <a:t>会直接把源码展示出来，并在每一行前面标出耗时百分比</a:t>
            </a:r>
          </a:p>
        </p:txBody>
      </p:sp>
    </p:spTree>
    <p:extLst>
      <p:ext uri="{BB962C8B-B14F-4D97-AF65-F5344CB8AC3E}">
        <p14:creationId xmlns:p14="http://schemas.microsoft.com/office/powerpoint/2010/main" val="40528632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92F10-70D2-48E5-A41E-AC32C132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gcc</a:t>
            </a:r>
            <a:r>
              <a:rPr lang="en-US" altLang="zh-CN" dirty="0"/>
              <a:t> </a:t>
            </a:r>
            <a:r>
              <a:rPr lang="zh-CN" altLang="en-US" dirty="0"/>
              <a:t>进行性能优化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71976A-8B41-4210-BFD6-D03607160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268760"/>
            <a:ext cx="8540750" cy="4830415"/>
          </a:xfrm>
        </p:spPr>
        <p:txBody>
          <a:bodyPr/>
          <a:lstStyle/>
          <a:p>
            <a:r>
              <a:rPr lang="en-US" altLang="zh-CN" sz="2000" dirty="0" err="1">
                <a:solidFill>
                  <a:srgbClr val="0070C0"/>
                </a:solidFill>
              </a:rPr>
              <a:t>gcc</a:t>
            </a:r>
            <a:r>
              <a:rPr lang="en-US" altLang="zh-CN" sz="2000" dirty="0"/>
              <a:t> </a:t>
            </a:r>
            <a:r>
              <a:rPr lang="zh-CN" altLang="en-US" sz="2000" dirty="0"/>
              <a:t>编译器通过不同的优化选项，你可以指示它在编译时间、程序运行速度、二进制文件大小以及调试易用性之间进行权衡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18689BA-2F1C-4BA3-9335-9C5AC92B0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352441"/>
              </p:ext>
            </p:extLst>
          </p:nvPr>
        </p:nvGraphicFramePr>
        <p:xfrm>
          <a:off x="719626" y="2108625"/>
          <a:ext cx="8024445" cy="4216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14046">
                  <a:extLst>
                    <a:ext uri="{9D8B030D-6E8A-4147-A177-3AD203B41FA5}">
                      <a16:colId xmlns:a16="http://schemas.microsoft.com/office/drawing/2014/main" val="865573165"/>
                    </a:ext>
                  </a:extLst>
                </a:gridCol>
                <a:gridCol w="1679331">
                  <a:extLst>
                    <a:ext uri="{9D8B030D-6E8A-4147-A177-3AD203B41FA5}">
                      <a16:colId xmlns:a16="http://schemas.microsoft.com/office/drawing/2014/main" val="436368751"/>
                    </a:ext>
                  </a:extLst>
                </a:gridCol>
                <a:gridCol w="5331068">
                  <a:extLst>
                    <a:ext uri="{9D8B030D-6E8A-4147-A177-3AD203B41FA5}">
                      <a16:colId xmlns:a16="http://schemas.microsoft.com/office/drawing/2014/main" val="758268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选项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目的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702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不优化</a:t>
                      </a:r>
                      <a:endParaRPr lang="zh-CN" altLang="en-US" sz="16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默认选项。编译最快，生成的代码最易于调试（变量与源码一一对应）。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008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-O1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基础优化</a:t>
                      </a:r>
                      <a:endParaRPr lang="zh-CN" altLang="en-US" sz="16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尝试减少代码大小和运行时间，但不进行耗时较长的优化。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922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-O2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推荐级别</a:t>
                      </a:r>
                      <a:endParaRPr lang="zh-CN" altLang="en-US" sz="16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大多数生产环境的选择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。开启了几乎所有不涉及“空间换时间”的优化，平衡了性能与文件大小。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63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-O3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激进优化</a:t>
                      </a:r>
                      <a:endParaRPr lang="zh-CN" altLang="en-US" sz="16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开启循环向量化（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Vectorization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）和更积极的内联。可能显著增加二进制文件体积。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29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-Os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大小优化</a:t>
                      </a:r>
                      <a:endParaRPr lang="zh-CN" altLang="en-US" sz="16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专门针对文件体积优化。它会关闭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-O2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中那些会增加代码大小的优化，适合嵌入式设备。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186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-Ofast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极限速度</a:t>
                      </a:r>
                      <a:endParaRPr lang="zh-CN" altLang="en-US" sz="16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开启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-O3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无视数学标准（如 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IEEE 754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。虽然极快，但可能导致浮点运算精度丢失。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34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-Og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调试优化</a:t>
                      </a:r>
                      <a:endParaRPr lang="zh-CN" altLang="en-US" sz="16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优化性能的同时，保证调试器（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GDB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）能准确追踪源码。推荐在开发阶段使用。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88554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9D4545B-3027-448B-BFF0-09E196A5F9BB}"/>
              </a:ext>
            </a:extLst>
          </p:cNvPr>
          <p:cNvSpPr txBox="1"/>
          <p:nvPr/>
        </p:nvSpPr>
        <p:spPr>
          <a:xfrm>
            <a:off x="719626" y="6389003"/>
            <a:ext cx="8024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注意：优化级别越高，并不总是意味着程序越快，需要使用工具进行实际测量</a:t>
            </a:r>
          </a:p>
        </p:txBody>
      </p:sp>
    </p:spTree>
    <p:extLst>
      <p:ext uri="{BB962C8B-B14F-4D97-AF65-F5344CB8AC3E}">
        <p14:creationId xmlns:p14="http://schemas.microsoft.com/office/powerpoint/2010/main" val="15249915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AB59-3123-473C-ACDC-ACD005B6A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gcc</a:t>
            </a:r>
            <a:r>
              <a:rPr lang="en-US" altLang="zh-CN" dirty="0"/>
              <a:t> </a:t>
            </a:r>
            <a:r>
              <a:rPr lang="zh-CN" altLang="en-US" dirty="0"/>
              <a:t>进行性能优化（续）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1D5DD-01D1-428E-AABB-6621CF3CB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70C0"/>
                </a:solidFill>
              </a:rPr>
              <a:t>gcc</a:t>
            </a:r>
            <a:r>
              <a:rPr lang="en-US" altLang="zh-CN" dirty="0"/>
              <a:t> </a:t>
            </a:r>
            <a:r>
              <a:rPr lang="zh-CN" altLang="en-US" dirty="0"/>
              <a:t>性能优化实践</a:t>
            </a:r>
            <a:endParaRPr lang="en-US" altLang="zh-CN" dirty="0"/>
          </a:p>
          <a:p>
            <a:pPr lvl="1"/>
            <a:r>
              <a:rPr lang="zh-CN" altLang="en-US" sz="2000" dirty="0"/>
              <a:t>开发阶段（保留调试信息）：</a:t>
            </a:r>
            <a:endParaRPr lang="en-US" altLang="zh-CN" sz="2000" dirty="0"/>
          </a:p>
          <a:p>
            <a:pPr lvl="2"/>
            <a:r>
              <a:rPr lang="nb-NO" altLang="zh-CN" sz="1800" dirty="0">
                <a:solidFill>
                  <a:srgbClr val="0070C0"/>
                </a:solidFill>
              </a:rPr>
              <a:t>gcc -g -Og main.c -o app</a:t>
            </a:r>
          </a:p>
          <a:p>
            <a:pPr lvl="2"/>
            <a:r>
              <a:rPr lang="en-US" altLang="zh-CN" sz="1800" dirty="0">
                <a:solidFill>
                  <a:srgbClr val="0070C0"/>
                </a:solidFill>
              </a:rPr>
              <a:t>-</a:t>
            </a:r>
            <a:r>
              <a:rPr lang="en-US" altLang="zh-CN" sz="1800" dirty="0" err="1">
                <a:solidFill>
                  <a:srgbClr val="0070C0"/>
                </a:solidFill>
              </a:rPr>
              <a:t>Og</a:t>
            </a:r>
            <a:r>
              <a:rPr lang="zh-CN" altLang="en-US" sz="1800" dirty="0"/>
              <a:t>：在不破坏调试信息的前提下，让程序跑得稍微快一点</a:t>
            </a:r>
            <a:endParaRPr lang="nb-NO" altLang="zh-CN" sz="1800" dirty="0"/>
          </a:p>
          <a:p>
            <a:pPr lvl="1"/>
            <a:r>
              <a:rPr lang="zh-CN" altLang="en-US" sz="2000" dirty="0"/>
              <a:t>发布阶段（极致压榨 </a:t>
            </a:r>
            <a:r>
              <a:rPr lang="en-US" altLang="zh-CN" sz="2000" dirty="0"/>
              <a:t>CPU </a:t>
            </a:r>
            <a:r>
              <a:rPr lang="zh-CN" altLang="en-US" sz="2000" dirty="0"/>
              <a:t>性能）：</a:t>
            </a:r>
            <a:endParaRPr lang="en-US" altLang="zh-CN" sz="2000" dirty="0"/>
          </a:p>
          <a:p>
            <a:pPr lvl="2"/>
            <a:r>
              <a:rPr lang="en-US" altLang="zh-CN" sz="1800" dirty="0" err="1">
                <a:solidFill>
                  <a:srgbClr val="0070C0"/>
                </a:solidFill>
              </a:rPr>
              <a:t>gcc</a:t>
            </a:r>
            <a:r>
              <a:rPr lang="en-US" altLang="zh-CN" sz="1800" dirty="0">
                <a:solidFill>
                  <a:srgbClr val="0070C0"/>
                </a:solidFill>
              </a:rPr>
              <a:t> -O3 -march=native -</a:t>
            </a:r>
            <a:r>
              <a:rPr lang="en-US" altLang="zh-CN" sz="1800" dirty="0" err="1">
                <a:solidFill>
                  <a:srgbClr val="0070C0"/>
                </a:solidFill>
              </a:rPr>
              <a:t>flto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main.c</a:t>
            </a:r>
            <a:r>
              <a:rPr lang="en-US" altLang="zh-CN" sz="1800" dirty="0">
                <a:solidFill>
                  <a:srgbClr val="0070C0"/>
                </a:solidFill>
              </a:rPr>
              <a:t> -o app</a:t>
            </a:r>
          </a:p>
          <a:p>
            <a:pPr lvl="2"/>
            <a:r>
              <a:rPr lang="en-US" altLang="zh-CN" sz="1800" dirty="0">
                <a:solidFill>
                  <a:srgbClr val="0070C0"/>
                </a:solidFill>
              </a:rPr>
              <a:t>-march=native</a:t>
            </a:r>
            <a:r>
              <a:rPr lang="zh-CN" altLang="en-US" sz="1800" dirty="0"/>
              <a:t>：探测当前机器的 </a:t>
            </a:r>
            <a:r>
              <a:rPr lang="en-US" altLang="zh-CN" sz="1800" dirty="0"/>
              <a:t>CPU </a:t>
            </a:r>
            <a:r>
              <a:rPr lang="zh-CN" altLang="en-US" sz="1800" dirty="0"/>
              <a:t>型号，开启支持的所有指令集</a:t>
            </a:r>
            <a:endParaRPr lang="en-US" altLang="zh-CN" sz="1800" dirty="0"/>
          </a:p>
          <a:p>
            <a:pPr lvl="2"/>
            <a:r>
              <a:rPr lang="en-US" altLang="zh-CN" sz="1800" dirty="0">
                <a:solidFill>
                  <a:srgbClr val="0070C0"/>
                </a:solidFill>
              </a:rPr>
              <a:t>-</a:t>
            </a:r>
            <a:r>
              <a:rPr lang="en-US" altLang="zh-CN" sz="1800" dirty="0" err="1">
                <a:solidFill>
                  <a:srgbClr val="0070C0"/>
                </a:solidFill>
              </a:rPr>
              <a:t>flto</a:t>
            </a:r>
            <a:r>
              <a:rPr lang="zh-CN" altLang="en-US" sz="1800" dirty="0"/>
              <a:t>：跨文件全局优化，实现跨文件内联函数，从而大幅提升整体性能</a:t>
            </a:r>
            <a:endParaRPr lang="en-US" altLang="zh-CN" sz="1800" dirty="0"/>
          </a:p>
          <a:p>
            <a:pPr lvl="2"/>
            <a:r>
              <a:rPr lang="zh-CN" altLang="en-US" sz="1800" dirty="0"/>
              <a:t>注意：有时候 </a:t>
            </a:r>
            <a:r>
              <a:rPr lang="en-US" altLang="zh-CN" sz="1800" dirty="0">
                <a:solidFill>
                  <a:srgbClr val="0070C0"/>
                </a:solidFill>
              </a:rPr>
              <a:t>-O3 </a:t>
            </a:r>
            <a:r>
              <a:rPr lang="zh-CN" altLang="en-US" sz="1800" dirty="0"/>
              <a:t>带来的指令缓存失效反而会让程序慢于 </a:t>
            </a:r>
            <a:r>
              <a:rPr lang="en-US" altLang="zh-CN" sz="1800" dirty="0">
                <a:solidFill>
                  <a:srgbClr val="0070C0"/>
                </a:solidFill>
              </a:rPr>
              <a:t>-O2</a:t>
            </a:r>
            <a:r>
              <a:rPr lang="zh-CN" altLang="en-US" sz="1800" dirty="0"/>
              <a:t>；有时候</a:t>
            </a:r>
            <a:r>
              <a:rPr lang="en-US" altLang="zh-CN" sz="1800" dirty="0">
                <a:solidFill>
                  <a:srgbClr val="0070C0"/>
                </a:solidFill>
              </a:rPr>
              <a:t>-O3</a:t>
            </a:r>
            <a:r>
              <a:rPr lang="zh-CN" altLang="en-US" sz="1800" dirty="0"/>
              <a:t>（激进优化）编译程序无法正常运行，需要降级为</a:t>
            </a:r>
            <a:r>
              <a:rPr lang="en-US" altLang="zh-CN" sz="1800" dirty="0">
                <a:solidFill>
                  <a:srgbClr val="0070C0"/>
                </a:solidFill>
              </a:rPr>
              <a:t>-O2</a:t>
            </a:r>
            <a:r>
              <a:rPr lang="zh-CN" altLang="en-US" sz="1800" dirty="0"/>
              <a:t>（标准发布）</a:t>
            </a:r>
            <a:endParaRPr lang="en-US" altLang="zh-CN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6560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1779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5000</TotalTime>
  <Words>12869</Words>
  <Application>Microsoft Macintosh PowerPoint</Application>
  <PresentationFormat>全屏显示(4:3)</PresentationFormat>
  <Paragraphs>1243</Paragraphs>
  <Slides>91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102" baseType="lpstr">
      <vt:lpstr>等线</vt:lpstr>
      <vt:lpstr>楷体</vt:lpstr>
      <vt:lpstr>微软雅黑</vt:lpstr>
      <vt:lpstr>PingFang SC</vt:lpstr>
      <vt:lpstr>Arial</vt:lpstr>
      <vt:lpstr>Calibri</vt:lpstr>
      <vt:lpstr>Courier New</vt:lpstr>
      <vt:lpstr>Times New Roman</vt:lpstr>
      <vt:lpstr>Wingdings</vt:lpstr>
      <vt:lpstr>诗情画意</vt:lpstr>
      <vt:lpstr>1_诗情画意</vt:lpstr>
      <vt:lpstr>高级编程与性能优化</vt:lpstr>
      <vt:lpstr>本章内容概述</vt:lpstr>
      <vt:lpstr>本章内容概述</vt:lpstr>
      <vt:lpstr>位运算的概念</vt:lpstr>
      <vt:lpstr>位运算符</vt:lpstr>
      <vt:lpstr>按位与 (Bitwise AND) &amp;</vt:lpstr>
      <vt:lpstr>按位或 (Bitwise Inclusive OR) |</vt:lpstr>
      <vt:lpstr>按位异或 (Bitwise Exclusive OR) ^</vt:lpstr>
      <vt:lpstr>按位取反 (Bitwise NOT) ~</vt:lpstr>
      <vt:lpstr>左移 (Left Shift) &lt;&lt;</vt:lpstr>
      <vt:lpstr>右移 (Right Shift) &gt;&gt;</vt:lpstr>
      <vt:lpstr>位运算的规则</vt:lpstr>
      <vt:lpstr>位运算（例一）</vt:lpstr>
      <vt:lpstr>位运算（例二）</vt:lpstr>
      <vt:lpstr>异或运算的特点</vt:lpstr>
      <vt:lpstr>位运算（例三）</vt:lpstr>
      <vt:lpstr>位运算（例四）</vt:lpstr>
      <vt:lpstr>位运算（例五）</vt:lpstr>
      <vt:lpstr>位运算（例六）</vt:lpstr>
      <vt:lpstr>性能优化中的位运算（例）</vt:lpstr>
      <vt:lpstr>性能优化中的位运算（例）</vt:lpstr>
      <vt:lpstr>性能优化中的位运算（例）</vt:lpstr>
      <vt:lpstr>性能优化中的位运算（例）</vt:lpstr>
      <vt:lpstr>性能优化中的位运算（例）</vt:lpstr>
      <vt:lpstr>本章内容概述</vt:lpstr>
      <vt:lpstr>程序的编译过程</vt:lpstr>
      <vt:lpstr>预处理</vt:lpstr>
      <vt:lpstr>不带形参的宏</vt:lpstr>
      <vt:lpstr>带形参的宏</vt:lpstr>
      <vt:lpstr>带形参的宏</vt:lpstr>
      <vt:lpstr>函数与带形参宏的区别</vt:lpstr>
      <vt:lpstr>带形参的宏（例一）</vt:lpstr>
      <vt:lpstr>带形参的宏（例二）</vt:lpstr>
      <vt:lpstr>带形参的宏（例三）</vt:lpstr>
      <vt:lpstr>宏的编程实践（例一）</vt:lpstr>
      <vt:lpstr>宏的编程实践（例二）</vt:lpstr>
      <vt:lpstr>宏的编程实践（例三）</vt:lpstr>
      <vt:lpstr>条件编译</vt:lpstr>
      <vt:lpstr>条件编译</vt:lpstr>
      <vt:lpstr>条件编译</vt:lpstr>
      <vt:lpstr>核心系统预定义宏（ANSI C标准）</vt:lpstr>
      <vt:lpstr>编译器特性与平台宏</vt:lpstr>
      <vt:lpstr>其它系统预定义宏</vt:lpstr>
      <vt:lpstr>系统预定义宏（例）</vt:lpstr>
      <vt:lpstr>调试断言</vt:lpstr>
      <vt:lpstr>调试断言中的宏定义</vt:lpstr>
      <vt:lpstr>本章内容概述</vt:lpstr>
      <vt:lpstr>库的基本概念</vt:lpstr>
      <vt:lpstr>静态库</vt:lpstr>
      <vt:lpstr>静态库的优缺点</vt:lpstr>
      <vt:lpstr>Linux下创建与使用静态库</vt:lpstr>
      <vt:lpstr>Linux下创建与使用静态库（例）</vt:lpstr>
      <vt:lpstr>Linux下创建与使用静态库（例续）</vt:lpstr>
      <vt:lpstr>动态库</vt:lpstr>
      <vt:lpstr>动态库的优缺点</vt:lpstr>
      <vt:lpstr>Linux下创建与使用动态库</vt:lpstr>
      <vt:lpstr>Linux下创建与使用动态库（续）</vt:lpstr>
      <vt:lpstr>Linux下创建与使用动态库（例）</vt:lpstr>
      <vt:lpstr>CMake中编译静态库和动态库</vt:lpstr>
      <vt:lpstr>CMake中编译静态库和动态库（续）</vt:lpstr>
      <vt:lpstr>静态库与动态库小结</vt:lpstr>
      <vt:lpstr>本章内容概述</vt:lpstr>
      <vt:lpstr>编程优化概述</vt:lpstr>
      <vt:lpstr>函数级优化</vt:lpstr>
      <vt:lpstr>内联函数</vt:lpstr>
      <vt:lpstr>尾递归优化 </vt:lpstr>
      <vt:lpstr>参数地址传递</vt:lpstr>
      <vt:lpstr>消除指针别名</vt:lpstr>
      <vt:lpstr>编译器函数属性</vt:lpstr>
      <vt:lpstr>控制指令级优化</vt:lpstr>
      <vt:lpstr>分支排布优化（一）</vt:lpstr>
      <vt:lpstr>分支排布优化（二）</vt:lpstr>
      <vt:lpstr>分支排布优化（三）</vt:lpstr>
      <vt:lpstr>编译器分支暗示</vt:lpstr>
      <vt:lpstr>无分支编程（一）</vt:lpstr>
      <vt:lpstr>无分支编程（二）</vt:lpstr>
      <vt:lpstr>循环展开与融合</vt:lpstr>
      <vt:lpstr>循环外提</vt:lpstr>
      <vt:lpstr>循环交换</vt:lpstr>
      <vt:lpstr>终点判断优化（一）</vt:lpstr>
      <vt:lpstr>终点判断优化（二）</vt:lpstr>
      <vt:lpstr>运算指令级优化</vt:lpstr>
      <vt:lpstr>乘除法转位运算</vt:lpstr>
      <vt:lpstr>除法转乘法</vt:lpstr>
      <vt:lpstr>代数恒等式简化</vt:lpstr>
      <vt:lpstr>程序性能分析工具</vt:lpstr>
      <vt:lpstr>使用 gprof 进行性能分析</vt:lpstr>
      <vt:lpstr>使用 perf 进行性能分析</vt:lpstr>
      <vt:lpstr>使用 gcc 进行性能优化</vt:lpstr>
      <vt:lpstr>使用 gcc 进行性能优化（续）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指针的高级应用</dc:title>
  <dc:creator>Wu Feng</dc:creator>
  <cp:lastModifiedBy>skadi Yu</cp:lastModifiedBy>
  <cp:revision>163</cp:revision>
  <dcterms:created xsi:type="dcterms:W3CDTF">2026-03-02T08:32:09Z</dcterms:created>
  <dcterms:modified xsi:type="dcterms:W3CDTF">2026-07-22T06:21:08Z</dcterms:modified>
</cp:coreProperties>
</file>